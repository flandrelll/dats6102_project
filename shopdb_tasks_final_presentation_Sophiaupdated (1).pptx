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296" y="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0741D-1294-493F-ACE5-A18CA882D2F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5DD23-63A9-48EF-B727-3937F2419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5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retrieves customers whose email addresses end with @gmail.com or @yahoo.com.</a:t>
            </a:r>
            <a:br>
              <a:rPr lang="en-US" dirty="0"/>
            </a:br>
            <a:r>
              <a:rPr lang="en-US" dirty="0"/>
              <a:t>A regular expression is used to match these domains at the end of the email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DD23-63A9-48EF-B727-3937F2419B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82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DW Housing Final Report: MongoDB </a:t>
            </a:r>
            <a:r>
              <a:rPr dirty="0" err="1"/>
              <a:t>ShopDB</a:t>
            </a:r>
            <a:r>
              <a:rPr dirty="0"/>
              <a:t>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Data Warehouse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23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ShopDB Overview &amp;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b="1"/>
              <a:t>MongoDB </a:t>
            </a:r>
            <a:r>
              <a:rPr b="1">
                <a:latin typeface="Courier"/>
              </a:rPr>
              <a:t>shopdb</a:t>
            </a:r>
            <a:r>
              <a:rPr b="1"/>
              <a:t> Setup (Python Script)</a:t>
            </a:r>
          </a:p>
          <a:p>
            <a:pPr lvl="0"/>
            <a:r>
              <a:rPr b="1"/>
              <a:t>1K customers / 500 products / 2K orders</a:t>
            </a:r>
            <a:r>
              <a:t> with Faker</a:t>
            </a:r>
          </a:p>
          <a:p>
            <a:pPr lvl="0"/>
            <a:r>
              <a:rPr b="1"/>
              <a:t>2% bad records</a:t>
            </a:r>
            <a:r>
              <a:t> (missing email/category)</a:t>
            </a:r>
          </a:p>
          <a:p>
            <a:pPr lvl="0"/>
            <a:r>
              <a:t>Bulk </a:t>
            </a:r>
            <a:r>
              <a:rPr>
                <a:latin typeface="Courier"/>
              </a:rPr>
              <a:t>insert_many()</a:t>
            </a:r>
            <a:r>
              <a:t>, then clean updates/deletes [web:2][web:5][web:6]</a:t>
            </a:r>
          </a:p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from</a:t>
            </a:r>
            <a:r>
              <a:rPr>
                <a:solidFill>
                  <a:srgbClr val="003B4F"/>
                </a:solidFill>
                <a:latin typeface="Courier"/>
              </a:rPr>
              <a:t> pymongo </a:t>
            </a: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MongoClient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db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client[</a:t>
            </a:r>
            <a:r>
              <a:rPr>
                <a:solidFill>
                  <a:srgbClr val="20794D"/>
                </a:solidFill>
                <a:latin typeface="Courier"/>
              </a:rPr>
              <a:t>'shopdb'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db.customers.insert_many(customers)</a:t>
            </a:r>
          </a:p>
          <a:p>
            <a:pPr marL="0" lvl="0" indent="0">
              <a:buNone/>
            </a:pPr>
            <a:r>
              <a:t>MongoDB Logo</a:t>
            </a:r>
          </a:p>
          <a:p>
            <a:pPr marL="0" lvl="0" indent="0">
              <a:buNone/>
            </a:pPr>
            <a:r>
              <a:t>MongoDB Logo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Task 1: Customer Age Increment</a:t>
            </a:r>
          </a:p>
          <a:p>
            <a:pPr marL="0" lvl="0" indent="0">
              <a:buNone/>
            </a:pPr>
            <a:r>
              <a:rPr b="1"/>
              <a:t>Goal</a:t>
            </a:r>
            <a:r>
              <a:t>: +1 to all </a:t>
            </a:r>
            <a:r>
              <a:rPr>
                <a:latin typeface="Courier"/>
              </a:rPr>
              <a:t>age</a:t>
            </a:r>
            <a:r>
              <a:t> fields; reset via </a:t>
            </a:r>
            <a:r>
              <a:rPr>
                <a:latin typeface="Courier"/>
              </a:rPr>
              <a:t>original_age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customers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updateMany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$inc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age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}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b="1"/>
              <a:t>Reset</a:t>
            </a:r>
            <a:r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customers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updateMany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$set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age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"$original_age"</a:t>
            </a:r>
            <a:r>
              <a:rPr>
                <a:solidFill>
                  <a:srgbClr val="003B4F"/>
                </a:solidFill>
                <a:latin typeface="Courier"/>
              </a:rPr>
              <a:t> }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t>Scales efficiently [web:11]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Task 2: Product Stock Reduction</a:t>
            </a:r>
          </a:p>
          <a:p>
            <a:pPr marL="0" lvl="0" indent="0">
              <a:buNone/>
            </a:pPr>
            <a:r>
              <a:rPr b="1"/>
              <a:t>Goal</a:t>
            </a:r>
            <a:r>
              <a:t>: Simulate purchase (stock &gt; 0 → -1)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// Find eligible product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products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findOne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stock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$gt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 } 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_id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name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stock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// Reduce stock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products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updateOne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_id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ObjectId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"..."</a:t>
            </a:r>
            <a:r>
              <a:rPr>
                <a:solidFill>
                  <a:srgbClr val="003B4F"/>
                </a:solidFill>
                <a:latin typeface="Courier"/>
              </a:rPr>
              <a:t>) 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$inc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stock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}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b="1"/>
              <a:t>Reset</a:t>
            </a:r>
            <a:r>
              <a:t>: </a:t>
            </a:r>
            <a:r>
              <a:rPr>
                <a:latin typeface="Courier"/>
              </a:rPr>
              <a:t>$set: { stock: 50 }</a:t>
            </a:r>
            <a:r>
              <a:t> [web:7]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Task 3: Premium Customer Emails</a:t>
            </a:r>
          </a:p>
          <a:p>
            <a:pPr marL="0" lvl="0" indent="0">
              <a:buNone/>
            </a:pPr>
            <a:r>
              <a:rPr b="1"/>
              <a:t>Goal</a:t>
            </a:r>
            <a:r>
              <a:t>: Emails only (</a:t>
            </a:r>
            <a:r>
              <a:rPr>
                <a:latin typeface="Courier"/>
              </a:rPr>
              <a:t>is_premium: true</a:t>
            </a:r>
            <a:r>
              <a:t>), no </a:t>
            </a:r>
            <a:r>
              <a:rPr>
                <a:latin typeface="Courier"/>
              </a:rPr>
              <a:t>_id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customers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find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is_premium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_id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email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Expected: ~10% premium customers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(tibble)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email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"vip1@shop.com"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"vip2@shop.com"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1
  email        
  &lt;chr&gt;        
1 vip1@shop.com
2 vip2@shop.com</a:t>
            </a:r>
          </a:p>
          <a:p>
            <a:pPr marL="0" lvl="0" indent="0">
              <a:buNone/>
            </a:pPr>
            <a:r>
              <a:t>Lightweight projection [web:15]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Task 4: Recent Refunded Orders</a:t>
            </a:r>
          </a:p>
          <a:p>
            <a:pPr marL="0" lvl="0" indent="0">
              <a:buNone/>
            </a:pPr>
            <a:r>
              <a:rPr b="1"/>
              <a:t>Goal</a:t>
            </a:r>
            <a:r>
              <a:t>: </a:t>
            </a:r>
            <a:r>
              <a:rPr>
                <a:latin typeface="Courier"/>
              </a:rPr>
              <a:t>refunded</a:t>
            </a:r>
            <a:r>
              <a:t> in fixed 30-day window (2025-04-02 to 05-01)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orders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find</a:t>
            </a:r>
            <a:r>
              <a:rPr>
                <a:solidFill>
                  <a:srgbClr val="003B4F"/>
                </a:solidFill>
                <a:latin typeface="Courier"/>
              </a:rPr>
              <a:t>({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order_date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$gte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"2025-04-02"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$lte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"2025-05-01"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payment_status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"refunded"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})</a:t>
            </a:r>
          </a:p>
          <a:p>
            <a:pPr marL="0" lvl="0" indent="0">
              <a:buNone/>
            </a:pPr>
            <a:r>
              <a:t>String dates work perfectly [web:14]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Task 5: Payment Status Analytics</a:t>
            </a:r>
          </a:p>
          <a:p>
            <a:pPr marL="0" lvl="0" indent="0">
              <a:buNone/>
            </a:pPr>
            <a:r>
              <a:rPr b="1"/>
              <a:t>Goal</a:t>
            </a:r>
            <a:r>
              <a:t>: Count by status via aggregation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orders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aggregate</a:t>
            </a:r>
            <a:r>
              <a:rPr>
                <a:solidFill>
                  <a:srgbClr val="003B4F"/>
                </a:solidFill>
                <a:latin typeface="Courier"/>
              </a:rPr>
              <a:t>([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$match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payment_status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$in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[</a:t>
            </a:r>
            <a:r>
              <a:rPr>
                <a:solidFill>
                  <a:srgbClr val="20794D"/>
                </a:solidFill>
                <a:latin typeface="Courier"/>
              </a:rPr>
              <a:t>"paid"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"pending"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"refunded"</a:t>
            </a:r>
            <a:r>
              <a:rPr>
                <a:solidFill>
                  <a:srgbClr val="003B4F"/>
                </a:solidFill>
                <a:latin typeface="Courier"/>
              </a:rPr>
              <a:t>]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$group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_id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"$payment_status"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count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$sum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}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])</a:t>
            </a:r>
          </a:p>
          <a:p>
            <a:pPr marL="0" lvl="0" indent="0">
              <a:buNone/>
            </a:pPr>
            <a:r>
              <a:rPr>
                <a:latin typeface="Courier"/>
              </a:rPr>
              <a:t>{r|echo=FALSE} # Results table tribble(   ~Status,   ~Count,   "paid",    1600,   "pending", 250,   "refunded",150 ) |&gt;    gt() |&gt;    tab_header("Task 5 Output")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Complete DW Pipeline</a:t>
            </a:r>
          </a:p>
          <a:p>
            <a:pPr lvl="0"/>
            <a:r>
              <a:t>✅ </a:t>
            </a:r>
            <a:r>
              <a:rPr b="1"/>
              <a:t>Generate/Clean</a:t>
            </a:r>
            <a:r>
              <a:t> shopdb (Python + Faker)</a:t>
            </a:r>
          </a:p>
          <a:p>
            <a:pPr lvl="0"/>
            <a:r>
              <a:t>✅ </a:t>
            </a:r>
            <a:r>
              <a:rPr b="1"/>
              <a:t>Tasks 1-5</a:t>
            </a:r>
            <a:r>
              <a:t> with resets (benchmarking)</a:t>
            </a:r>
          </a:p>
          <a:p>
            <a:pPr lvl="0"/>
            <a:r>
              <a:t>✅ </a:t>
            </a:r>
            <a:r>
              <a:rPr b="1"/>
              <a:t>&lt;1s/query</a:t>
            </a:r>
            <a:r>
              <a:t> on 2.5K docs</a:t>
            </a:r>
          </a:p>
          <a:p>
            <a:pPr lvl="0"/>
            <a:r>
              <a:t>🔄 </a:t>
            </a:r>
            <a:r>
              <a:rPr b="1"/>
              <a:t>Load to Warehouse</a:t>
            </a:r>
            <a:r>
              <a:t> (Snowflake/BigQuery)</a:t>
            </a:r>
          </a:p>
          <a:p>
            <a:pPr lvl="0"/>
            <a:r>
              <a:t>📊 </a:t>
            </a:r>
            <a:r>
              <a:rPr b="1"/>
              <a:t>Housing Analytics Ready</a:t>
            </a:r>
            <a:r>
              <a:t> [web:4][web:20]</a:t>
            </a:r>
          </a:p>
          <a:p>
            <a:pPr marL="0" lvl="0" indent="0">
              <a:buNone/>
            </a:pPr>
            <a:r>
              <a:rPr b="1"/>
              <a:t>Q&amp;A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0F6C-D919-F947-C942-7B37EB90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305"/>
            <a:ext cx="8229600" cy="8572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Task 6:</a:t>
            </a:r>
            <a:r>
              <a:rPr lang="zh-CN" altLang="en-US" b="1" dirty="0"/>
              <a:t> </a:t>
            </a:r>
            <a:r>
              <a:rPr lang="en-US" b="1" dirty="0"/>
              <a:t>Promote high-activity customers to premium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7C9D1-A0E5-66F1-A56B-02BF591B8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2243"/>
            <a:ext cx="8229600" cy="33944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Compute total orders and total spending per customer </a:t>
            </a:r>
          </a:p>
          <a:p>
            <a:r>
              <a:rPr lang="en-US" dirty="0"/>
              <a:t>Mark as premium if: orders &gt; 5 OR spending &gt; 1000</a:t>
            </a:r>
          </a:p>
          <a:p>
            <a:r>
              <a:rPr lang="en-US" dirty="0"/>
              <a:t>Code:</a:t>
            </a:r>
          </a:p>
          <a:p>
            <a:pPr marL="342900" lvl="1" indent="0">
              <a:buNone/>
            </a:pPr>
            <a:r>
              <a:rPr lang="en-US" dirty="0"/>
              <a:t>const </a:t>
            </a:r>
            <a:r>
              <a:rPr lang="en-US" dirty="0" err="1"/>
              <a:t>prem_id</a:t>
            </a:r>
            <a:r>
              <a:rPr lang="en-US" dirty="0"/>
              <a:t> = </a:t>
            </a:r>
            <a:r>
              <a:rPr lang="en-US" dirty="0" err="1"/>
              <a:t>db.orders.aggregate</a:t>
            </a:r>
            <a:r>
              <a:rPr lang="en-US" dirty="0"/>
              <a:t>([{$group:</a:t>
            </a:r>
          </a:p>
          <a:p>
            <a:pPr marL="342900" lvl="1" indent="0">
              <a:buNone/>
            </a:pPr>
            <a:r>
              <a:rPr lang="en-US" dirty="0"/>
              <a:t>{_id:"$customer_id",</a:t>
            </a:r>
            <a:r>
              <a:rPr lang="en-US" dirty="0" err="1"/>
              <a:t>total_orders</a:t>
            </a:r>
            <a:r>
              <a:rPr lang="en-US" dirty="0"/>
              <a:t>:{$sum:1},</a:t>
            </a:r>
            <a:r>
              <a:rPr lang="en-US" dirty="0" err="1"/>
              <a:t>total_spending</a:t>
            </a:r>
            <a:r>
              <a:rPr lang="en-US" dirty="0"/>
              <a:t>:{$sum:"$</a:t>
            </a:r>
            <a:r>
              <a:rPr lang="en-US" dirty="0" err="1"/>
              <a:t>total_amount</a:t>
            </a:r>
            <a:r>
              <a:rPr lang="en-US" dirty="0"/>
              <a:t>"}}},{$match:{$or:[{</a:t>
            </a:r>
            <a:r>
              <a:rPr lang="en-US" dirty="0" err="1"/>
              <a:t>total_orders</a:t>
            </a:r>
            <a:r>
              <a:rPr lang="en-US" dirty="0"/>
              <a:t>:{$gt:5}},{</a:t>
            </a:r>
            <a:r>
              <a:rPr lang="en-US" dirty="0" err="1"/>
              <a:t>total_spending</a:t>
            </a:r>
            <a:r>
              <a:rPr lang="en-US" dirty="0"/>
              <a:t>:{$gt:1000}}]}}]).</a:t>
            </a:r>
            <a:r>
              <a:rPr lang="en-US" dirty="0" err="1"/>
              <a:t>toArray</a:t>
            </a:r>
            <a:r>
              <a:rPr lang="en-US" dirty="0"/>
              <a:t>().map(d=&gt;</a:t>
            </a:r>
            <a:r>
              <a:rPr lang="en-US" dirty="0" err="1"/>
              <a:t>d._id</a:t>
            </a:r>
            <a:r>
              <a:rPr lang="en-US" dirty="0"/>
              <a:t>);</a:t>
            </a:r>
          </a:p>
          <a:p>
            <a:pPr marL="342900" lvl="1" indent="0">
              <a:buNone/>
            </a:pPr>
            <a:r>
              <a:rPr lang="en-US" dirty="0" err="1"/>
              <a:t>db.customers.updateMany</a:t>
            </a:r>
            <a:r>
              <a:rPr lang="en-US" dirty="0"/>
              <a:t>({_id:{$</a:t>
            </a:r>
            <a:r>
              <a:rPr lang="en-US" dirty="0" err="1"/>
              <a:t>in:prem_id</a:t>
            </a:r>
            <a:r>
              <a:rPr lang="en-US" dirty="0"/>
              <a:t>}},</a:t>
            </a:r>
          </a:p>
          <a:p>
            <a:pPr marL="342900" lvl="1" indent="0">
              <a:buNone/>
            </a:pPr>
            <a:r>
              <a:rPr lang="en-US" dirty="0"/>
              <a:t>{$set:{</a:t>
            </a:r>
            <a:r>
              <a:rPr lang="en-US" dirty="0" err="1"/>
              <a:t>is_premium:tru</a:t>
            </a:r>
            <a:r>
              <a:rPr lang="en-US" dirty="0"/>
              <a:t>}}});</a:t>
            </a:r>
          </a:p>
        </p:txBody>
      </p:sp>
    </p:spTree>
    <p:extLst>
      <p:ext uri="{BB962C8B-B14F-4D97-AF65-F5344CB8AC3E}">
        <p14:creationId xmlns:p14="http://schemas.microsoft.com/office/powerpoint/2010/main" val="1635408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916F-ACB1-F178-970E-E6FAB5EE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/>
              <a:t>Task 6:</a:t>
            </a:r>
            <a:r>
              <a:rPr lang="zh-CN" altLang="en-US" b="1" dirty="0"/>
              <a:t> </a:t>
            </a:r>
            <a:r>
              <a:rPr lang="en-US" b="1" dirty="0"/>
              <a:t>Promote high-activity customers to premium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770EF-2572-99FF-0C2F-0962FB91A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Step 1: $group orders → compute metrics </a:t>
            </a:r>
          </a:p>
          <a:p>
            <a:pPr lvl="1"/>
            <a:r>
              <a:rPr lang="en-US" dirty="0"/>
              <a:t>Step 2: $match → filter high-value customers </a:t>
            </a:r>
          </a:p>
          <a:p>
            <a:pPr lvl="1"/>
            <a:r>
              <a:rPr lang="en-US" dirty="0"/>
              <a:t>Step 3: Extract IDs </a:t>
            </a:r>
          </a:p>
          <a:p>
            <a:pPr lvl="1"/>
            <a:r>
              <a:rPr lang="en-US" dirty="0"/>
              <a:t>Step 4: </a:t>
            </a:r>
            <a:r>
              <a:rPr lang="en-US" dirty="0" err="1"/>
              <a:t>updateMany</a:t>
            </a:r>
            <a:r>
              <a:rPr lang="en-US" dirty="0"/>
              <a:t> → update customers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905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D97E-BD31-C30D-F023-1D26913F8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/>
              <a:t>Task 7: Products costing more than 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159B-5425-8499-B3EA-B96158CB7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Code: </a:t>
            </a:r>
          </a:p>
          <a:p>
            <a:pPr marL="342900" lvl="1" indent="0">
              <a:buNone/>
            </a:pPr>
            <a:r>
              <a:rPr lang="en-US" dirty="0" err="1"/>
              <a:t>db.products.find</a:t>
            </a:r>
            <a:r>
              <a:rPr lang="en-US" dirty="0"/>
              <a:t>({price:{$gt:200}},</a:t>
            </a:r>
            <a:br>
              <a:rPr lang="en-US" dirty="0"/>
            </a:br>
            <a:r>
              <a:rPr lang="en-US" dirty="0"/>
              <a:t>{name:1, category:1, price:1, _id:0})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Simple $find query</a:t>
            </a:r>
          </a:p>
          <a:p>
            <a:pPr lvl="1"/>
            <a:r>
              <a:rPr lang="en-US" dirty="0"/>
              <a:t>Filter by condition</a:t>
            </a:r>
          </a:p>
          <a:p>
            <a:pPr lvl="1"/>
            <a:r>
              <a:rPr lang="en-US" dirty="0"/>
              <a:t>Projection: name, category, price, hide _id</a:t>
            </a:r>
          </a:p>
        </p:txBody>
      </p:sp>
    </p:spTree>
    <p:extLst>
      <p:ext uri="{BB962C8B-B14F-4D97-AF65-F5344CB8AC3E}">
        <p14:creationId xmlns:p14="http://schemas.microsoft.com/office/powerpoint/2010/main" val="1322662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EC9E2-E522-8A8E-80D2-2CB1A5073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/>
              <a:t>Task 8: Orders including a specific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AEF1-4484-4285-A027-2584748EF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Code: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db.orders.aggregate</a:t>
            </a:r>
            <a:r>
              <a:rPr lang="en-US" dirty="0"/>
              <a:t>([{$match: {"</a:t>
            </a:r>
            <a:r>
              <a:rPr lang="en-US" dirty="0" err="1"/>
              <a:t>items.product_id</a:t>
            </a:r>
            <a:r>
              <a:rPr lang="en-US" dirty="0"/>
              <a:t>": 1}},</a:t>
            </a:r>
          </a:p>
          <a:p>
            <a:pPr marL="0" indent="0">
              <a:buNone/>
            </a:pPr>
            <a:r>
              <a:rPr lang="en-US" dirty="0"/>
              <a:t>{$project: {_id: 1,customer_id: 1,items: {$filter:{input: "$items“,</a:t>
            </a:r>
          </a:p>
          <a:p>
            <a:pPr marL="0" indent="0">
              <a:buNone/>
            </a:pPr>
            <a:r>
              <a:rPr lang="en-US" dirty="0"/>
              <a:t>as: "item",</a:t>
            </a:r>
            <a:r>
              <a:rPr lang="en-US" dirty="0" err="1"/>
              <a:t>cond</a:t>
            </a:r>
            <a:r>
              <a:rPr lang="en-US" dirty="0"/>
              <a:t>: {$eq: ["$$</a:t>
            </a:r>
            <a:r>
              <a:rPr lang="en-US" dirty="0" err="1"/>
              <a:t>item.product_id</a:t>
            </a:r>
            <a:r>
              <a:rPr lang="en-US" dirty="0"/>
              <a:t>", 1]}}}}}])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$match to find relevant orders</a:t>
            </a:r>
          </a:p>
          <a:p>
            <a:pPr lvl="1"/>
            <a:r>
              <a:rPr lang="en-US" dirty="0"/>
              <a:t>$filter to extract matching items in array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30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889D-27D6-80A0-3DA2-1172E88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/>
              <a:t>Task 9: Delete customers never placed an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9C2E-E6DA-6BE4-0378-3560F7DA4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Code:</a:t>
            </a:r>
          </a:p>
          <a:p>
            <a:pPr marL="0" indent="0">
              <a:buNone/>
            </a:pPr>
            <a:r>
              <a:rPr lang="en-US" dirty="0"/>
              <a:t>const ids = </a:t>
            </a:r>
            <a:r>
              <a:rPr lang="en-US" dirty="0" err="1"/>
              <a:t>db.orders.distinct</a:t>
            </a:r>
            <a:r>
              <a:rPr lang="en-US" dirty="0"/>
              <a:t>("</a:t>
            </a:r>
            <a:r>
              <a:rPr lang="en-US" dirty="0" err="1"/>
              <a:t>customer_id</a:t>
            </a:r>
            <a:r>
              <a:rPr lang="en-US" dirty="0"/>
              <a:t>");</a:t>
            </a:r>
            <a:br>
              <a:rPr lang="en-US" dirty="0"/>
            </a:br>
            <a:r>
              <a:rPr lang="en-US" dirty="0" err="1"/>
              <a:t>db.customers.deleteMany</a:t>
            </a:r>
            <a:r>
              <a:rPr lang="en-US" dirty="0"/>
              <a:t>({_id: {$</a:t>
            </a:r>
            <a:r>
              <a:rPr lang="en-US" dirty="0" err="1"/>
              <a:t>nin</a:t>
            </a:r>
            <a:r>
              <a:rPr lang="en-US" dirty="0"/>
              <a:t>: ids}})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Step 1: distinct → find active customers </a:t>
            </a:r>
          </a:p>
          <a:p>
            <a:pPr lvl="1"/>
            <a:r>
              <a:rPr lang="en-US" dirty="0"/>
              <a:t>Step 2: delete 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338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D68F-42DE-F873-902F-8132359E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/>
              <a:t>Task 10: Categories preferred by customers &lt;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17E96-4EF1-F566-ED57-2C5BF37E1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Code:</a:t>
            </a:r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youngids</a:t>
            </a:r>
            <a:r>
              <a:rPr lang="en-US" dirty="0"/>
              <a:t>=</a:t>
            </a:r>
            <a:r>
              <a:rPr lang="en-US" dirty="0" err="1"/>
              <a:t>db.customers.find</a:t>
            </a:r>
            <a:r>
              <a:rPr lang="en-US" dirty="0"/>
              <a:t>({age:{$lt:25}})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toArray</a:t>
            </a:r>
            <a:r>
              <a:rPr lang="en-US" dirty="0"/>
              <a:t>().map(d=&gt;</a:t>
            </a:r>
            <a:r>
              <a:rPr lang="en-US" dirty="0" err="1"/>
              <a:t>d._id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db.orders.aggregate</a:t>
            </a:r>
            <a:r>
              <a:rPr lang="en-US" dirty="0"/>
              <a:t>([{$match:{</a:t>
            </a:r>
            <a:r>
              <a:rPr lang="en-US" dirty="0" err="1"/>
              <a:t>customer_id</a:t>
            </a:r>
            <a:r>
              <a:rPr lang="en-US" dirty="0"/>
              <a:t>:{$</a:t>
            </a:r>
            <a:r>
              <a:rPr lang="en-US" dirty="0" err="1"/>
              <a:t>in:youngids</a:t>
            </a:r>
            <a:r>
              <a:rPr lang="en-US" dirty="0"/>
              <a:t>}}},</a:t>
            </a:r>
          </a:p>
          <a:p>
            <a:pPr marL="0" indent="0">
              <a:buNone/>
            </a:pPr>
            <a:r>
              <a:rPr lang="en-US" dirty="0"/>
              <a:t>{$unwind:"$items"},{$group:{_id:"$</a:t>
            </a:r>
            <a:r>
              <a:rPr lang="en-US" dirty="0" err="1"/>
              <a:t>items.category</a:t>
            </a:r>
            <a:r>
              <a:rPr lang="en-US" dirty="0"/>
              <a:t>"}}])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Find young customers</a:t>
            </a:r>
          </a:p>
          <a:p>
            <a:pPr lvl="1"/>
            <a:r>
              <a:rPr lang="en-US" dirty="0"/>
              <a:t>Filter their orders</a:t>
            </a:r>
          </a:p>
          <a:p>
            <a:pPr lvl="1"/>
            <a:r>
              <a:rPr lang="en-US" dirty="0"/>
              <a:t>$unwind items → expand data</a:t>
            </a:r>
          </a:p>
          <a:p>
            <a:pPr lvl="1"/>
            <a:r>
              <a:rPr lang="en-US" dirty="0"/>
              <a:t>$group categories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12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42EE-D6E5-3619-3EDE-FB85672C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CN" b="1" dirty="0"/>
              <a:t>Task 11:</a:t>
            </a:r>
            <a:r>
              <a:rPr lang="en-US" b="1" dirty="0"/>
              <a:t>Customers with emails from Yahoo/Gmail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F10A7-3F25-7AC1-18CD-9693F18A3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Code: </a:t>
            </a:r>
          </a:p>
          <a:p>
            <a:pPr marL="0" indent="0">
              <a:buNone/>
            </a:pPr>
            <a:r>
              <a:rPr lang="en-US" dirty="0" err="1"/>
              <a:t>db.customers.find</a:t>
            </a:r>
            <a:r>
              <a:rPr lang="en-US" dirty="0"/>
              <a:t>({$or:[{email:{$regex:"@</a:t>
            </a:r>
            <a:r>
              <a:rPr lang="en-US" dirty="0" err="1"/>
              <a:t>gmail</a:t>
            </a:r>
            <a:r>
              <a:rPr lang="en-US" dirty="0"/>
              <a:t>\\.com$"}},</a:t>
            </a:r>
          </a:p>
          <a:p>
            <a:pPr marL="0" indent="0">
              <a:buNone/>
            </a:pPr>
            <a:r>
              <a:rPr lang="en-US" dirty="0"/>
              <a:t>{email:{$regex: "@yahoo\\.com$"}}]})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Use Regex to match email domain</a:t>
            </a:r>
          </a:p>
          <a:p>
            <a:pPr lvl="1"/>
            <a:r>
              <a:rPr lang="en-US" dirty="0"/>
              <a:t>Pattern matching instead of exact match</a:t>
            </a:r>
          </a:p>
        </p:txBody>
      </p:sp>
    </p:spTree>
    <p:extLst>
      <p:ext uri="{BB962C8B-B14F-4D97-AF65-F5344CB8AC3E}">
        <p14:creationId xmlns:p14="http://schemas.microsoft.com/office/powerpoint/2010/main" val="1073356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31C50-8CBB-21B0-A501-D24722D4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Measure the Execution Time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83EBE2-CD07-89AF-3979-2F4023218F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709077"/>
              </p:ext>
            </p:extLst>
          </p:nvPr>
        </p:nvGraphicFramePr>
        <p:xfrm>
          <a:off x="457200" y="1200150"/>
          <a:ext cx="8229600" cy="272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1116">
                  <a:extLst>
                    <a:ext uri="{9D8B030D-6E8A-4147-A177-3AD203B41FA5}">
                      <a16:colId xmlns:a16="http://schemas.microsoft.com/office/drawing/2014/main" val="1710616256"/>
                    </a:ext>
                  </a:extLst>
                </a:gridCol>
                <a:gridCol w="2085473">
                  <a:extLst>
                    <a:ext uri="{9D8B030D-6E8A-4147-A177-3AD203B41FA5}">
                      <a16:colId xmlns:a16="http://schemas.microsoft.com/office/drawing/2014/main" val="453631013"/>
                    </a:ext>
                  </a:extLst>
                </a:gridCol>
                <a:gridCol w="2163011">
                  <a:extLst>
                    <a:ext uri="{9D8B030D-6E8A-4147-A177-3AD203B41FA5}">
                      <a16:colId xmlns:a16="http://schemas.microsoft.com/office/drawing/2014/main" val="3361658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Execution Time </a:t>
                      </a:r>
                    </a:p>
                    <a:p>
                      <a:r>
                        <a:rPr lang="en-US" dirty="0"/>
                        <a:t>(10 Times Avg. in 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8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1: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customers’ age by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Bulk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45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2: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a product’s stock after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061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3: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 emails of premium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36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4: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Refunded orders in the last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Conditional 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480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5: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 orders by payment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Aggregation ($group)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5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6: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Promote high-activity customers to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Aggregation +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624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66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7B60-49FE-9BFC-E7A2-E386E5FE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Measure the Execution Time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C2CA9C-39C3-353F-35C8-850F278EC8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938954"/>
              </p:ext>
            </p:extLst>
          </p:nvPr>
        </p:nvGraphicFramePr>
        <p:xfrm>
          <a:off x="457200" y="1200150"/>
          <a:ext cx="8229600" cy="235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9242">
                  <a:extLst>
                    <a:ext uri="{9D8B030D-6E8A-4147-A177-3AD203B41FA5}">
                      <a16:colId xmlns:a16="http://schemas.microsoft.com/office/drawing/2014/main" val="71103570"/>
                    </a:ext>
                  </a:extLst>
                </a:gridCol>
                <a:gridCol w="1989221">
                  <a:extLst>
                    <a:ext uri="{9D8B030D-6E8A-4147-A177-3AD203B41FA5}">
                      <a16:colId xmlns:a16="http://schemas.microsoft.com/office/drawing/2014/main" val="1187963737"/>
                    </a:ext>
                  </a:extLst>
                </a:gridCol>
                <a:gridCol w="2211137">
                  <a:extLst>
                    <a:ext uri="{9D8B030D-6E8A-4147-A177-3AD203B41FA5}">
                      <a16:colId xmlns:a16="http://schemas.microsoft.com/office/drawing/2014/main" val="3244213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Execution Time</a:t>
                      </a:r>
                    </a:p>
                    <a:p>
                      <a:r>
                        <a:rPr lang="en-US" dirty="0"/>
                        <a:t>(10 times avg. in 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12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7: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Products costing more than $200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55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8: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 including a specific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Aggregation + Array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120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9:</a:t>
                      </a:r>
                      <a:r>
                        <a:rPr lang="zh-CN" altLang="en-US" dirty="0"/>
                        <a:t>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customers who never placed an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Distinct + 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1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10: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Categories preferred by customers under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Unwind +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08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11: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 with emails from Yahoo or Gmail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Regex 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130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908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C7B3-48EA-0C37-B836-FB05B31E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Execution Time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D174-D8C1-5B45-CFCA-31C9E1E3D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 6 (Aggregation + Update)</a:t>
            </a:r>
          </a:p>
          <a:p>
            <a:r>
              <a:rPr lang="en-US" dirty="0"/>
              <a:t>Task 1 (Bulk update)</a:t>
            </a:r>
          </a:p>
          <a:p>
            <a:r>
              <a:rPr lang="en-US" dirty="0"/>
              <a:t>Task 9 (Delete + Distinct)</a:t>
            </a:r>
          </a:p>
          <a:p>
            <a:r>
              <a:rPr lang="en-US" dirty="0"/>
              <a:t>Task 11 (Regex)</a:t>
            </a:r>
          </a:p>
          <a:p>
            <a:r>
              <a:rPr lang="en-US" dirty="0"/>
              <a:t>Task 8 (Array filter)</a:t>
            </a:r>
          </a:p>
          <a:p>
            <a:r>
              <a:rPr lang="en-US" dirty="0"/>
              <a:t>Task 3 / 4 / 5 / 7 (medium)</a:t>
            </a:r>
          </a:p>
          <a:p>
            <a:r>
              <a:rPr lang="en-US" dirty="0"/>
              <a:t>Task 2 (fastest)</a:t>
            </a:r>
          </a:p>
        </p:txBody>
      </p:sp>
    </p:spTree>
    <p:extLst>
      <p:ext uri="{BB962C8B-B14F-4D97-AF65-F5344CB8AC3E}">
        <p14:creationId xmlns:p14="http://schemas.microsoft.com/office/powerpoint/2010/main" val="2064092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3D93-0711-D1DC-2AC3-4AFAC6B2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MongoDB Performance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CF8D8-BA9D-5F2F-AC61-1C0825430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Aggregation ($group) is expensive</a:t>
            </a:r>
          </a:p>
          <a:p>
            <a:r>
              <a:rPr lang="en-US" dirty="0"/>
              <a:t>$unwind increases data size → slows down query</a:t>
            </a:r>
          </a:p>
          <a:p>
            <a:r>
              <a:rPr lang="en-US" dirty="0"/>
              <a:t>Bulk operations (</a:t>
            </a:r>
            <a:r>
              <a:rPr lang="en-US" dirty="0" err="1"/>
              <a:t>updateMany</a:t>
            </a:r>
            <a:r>
              <a:rPr lang="en-US" dirty="0"/>
              <a:t>, </a:t>
            </a:r>
            <a:r>
              <a:rPr lang="en-US" dirty="0" err="1"/>
              <a:t>deleteMany</a:t>
            </a:r>
            <a:r>
              <a:rPr lang="en-US" dirty="0"/>
              <a:t>) are costly</a:t>
            </a:r>
          </a:p>
          <a:p>
            <a:r>
              <a:rPr lang="en-US" dirty="0"/>
              <a:t>Regex queries are slower than exact matches</a:t>
            </a:r>
          </a:p>
          <a:p>
            <a:r>
              <a:rPr lang="en-US" dirty="0"/>
              <a:t>Simple find + projection is fastest</a:t>
            </a:r>
          </a:p>
        </p:txBody>
      </p:sp>
    </p:spTree>
    <p:extLst>
      <p:ext uri="{BB962C8B-B14F-4D97-AF65-F5344CB8AC3E}">
        <p14:creationId xmlns:p14="http://schemas.microsoft.com/office/powerpoint/2010/main" val="1541337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1457</Words>
  <Application>Microsoft Office PowerPoint</Application>
  <PresentationFormat>On-screen Show (16:9)</PresentationFormat>
  <Paragraphs>154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Courier</vt:lpstr>
      <vt:lpstr>Aptos</vt:lpstr>
      <vt:lpstr>Arial</vt:lpstr>
      <vt:lpstr>Calibri</vt:lpstr>
      <vt:lpstr>Office Theme</vt:lpstr>
      <vt:lpstr>DW Housing Final Report: MongoDB ShopDB Tasks</vt:lpstr>
      <vt:lpstr>ShopDB Overview &amp; Generation</vt:lpstr>
      <vt:lpstr>Task 6: Promote high-activity customers to premium</vt:lpstr>
      <vt:lpstr>Task 6: Promote high-activity customers to premium</vt:lpstr>
      <vt:lpstr>Task 7: Products costing more than $200</vt:lpstr>
      <vt:lpstr>Task 8: Orders including a specific product</vt:lpstr>
      <vt:lpstr>Task 9: Delete customers never placed an order</vt:lpstr>
      <vt:lpstr>Task 10: Categories preferred by customers &lt; 25</vt:lpstr>
      <vt:lpstr>Task 11:Customers with emails from Yahoo/Gmail</vt:lpstr>
      <vt:lpstr>Measure the Execution Time</vt:lpstr>
      <vt:lpstr>Measure the Execution Time</vt:lpstr>
      <vt:lpstr>Execution Time Ranking</vt:lpstr>
      <vt:lpstr>MongoDB Performance 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 Housing Final Report: MongoDB ShopDB Tasks 1-5</dc:title>
  <dc:creator>Data Warehouse Team</dc:creator>
  <cp:keywords/>
  <cp:lastModifiedBy>Du, Sophia</cp:lastModifiedBy>
  <cp:revision>3</cp:revision>
  <dcterms:created xsi:type="dcterms:W3CDTF">2026-04-24T16:05:54Z</dcterms:created>
  <dcterms:modified xsi:type="dcterms:W3CDTF">2026-04-28T20:00:18Z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23 April 2026</vt:lpwstr>
  </property>
  <property fmtid="{D5CDD505-2E9C-101B-9397-08002B2CF9AE}" pid="6" name="date-format">
    <vt:lpwstr>D MMMM 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logo">
    <vt:lpwstr>https://www.mongodb.com/favicon.ico</vt:lpwstr>
  </property>
  <property fmtid="{D5CDD505-2E9C-101B-9397-08002B2CF9AE}" pid="13" name="toc-title">
    <vt:lpwstr>Table of contents</vt:lpwstr>
  </property>
</Properties>
</file>