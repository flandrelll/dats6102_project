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autoAdjust="0"/>
    <p:restoredTop sz="94714" autoAdjust="0"/>
  </p:normalViewPr>
  <p:slideViewPr>
    <p:cSldViewPr snapToGrid="0" snapToObjects="1">
      <p:cViewPr varScale="1">
        <p:scale>
          <a:sx n="122" d="100"/>
          <a:sy n="122" d="100"/>
        </p:scale>
        <p:origin x="75" y="36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ACF11D-C79C-4A1E-A6BC-68FDAC43D160}"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550401AB-D4D0-48FD-90C1-FC9F0838D089}">
      <dgm:prSet/>
      <dgm:spPr/>
      <dgm:t>
        <a:bodyPr/>
        <a:lstStyle/>
        <a:p>
          <a:r>
            <a:rPr lang="en-US"/>
            <a:t>Project Overview</a:t>
          </a:r>
        </a:p>
      </dgm:t>
    </dgm:pt>
    <dgm:pt modelId="{C9570BDF-BF68-43C8-A9FD-345A91434E8E}" type="parTrans" cxnId="{8C68F923-88C4-418C-8D67-2ACF6AA8F855}">
      <dgm:prSet/>
      <dgm:spPr/>
      <dgm:t>
        <a:bodyPr/>
        <a:lstStyle/>
        <a:p>
          <a:endParaRPr lang="en-US"/>
        </a:p>
      </dgm:t>
    </dgm:pt>
    <dgm:pt modelId="{6AF3B7A4-CBB5-4418-8667-EB81335D534E}" type="sibTrans" cxnId="{8C68F923-88C4-418C-8D67-2ACF6AA8F855}">
      <dgm:prSet/>
      <dgm:spPr/>
      <dgm:t>
        <a:bodyPr/>
        <a:lstStyle/>
        <a:p>
          <a:endParaRPr lang="en-US"/>
        </a:p>
      </dgm:t>
    </dgm:pt>
    <dgm:pt modelId="{C5376352-24AE-47AC-A829-A01897B8F556}">
      <dgm:prSet/>
      <dgm:spPr/>
      <dgm:t>
        <a:bodyPr/>
        <a:lstStyle/>
        <a:p>
          <a:r>
            <a:rPr lang="en-US" dirty="0"/>
            <a:t>Database Structure</a:t>
          </a:r>
        </a:p>
      </dgm:t>
    </dgm:pt>
    <dgm:pt modelId="{0F9FB619-3597-4AF5-A91D-C4867F3380A9}" type="parTrans" cxnId="{CB271ED5-6103-4902-AA83-687A1B1F117B}">
      <dgm:prSet/>
      <dgm:spPr/>
      <dgm:t>
        <a:bodyPr/>
        <a:lstStyle/>
        <a:p>
          <a:endParaRPr lang="en-US"/>
        </a:p>
      </dgm:t>
    </dgm:pt>
    <dgm:pt modelId="{6F3AFD73-61CC-43CB-9C33-AB7BAD8FD17D}" type="sibTrans" cxnId="{CB271ED5-6103-4902-AA83-687A1B1F117B}">
      <dgm:prSet/>
      <dgm:spPr/>
      <dgm:t>
        <a:bodyPr/>
        <a:lstStyle/>
        <a:p>
          <a:endParaRPr lang="en-US"/>
        </a:p>
      </dgm:t>
    </dgm:pt>
    <dgm:pt modelId="{8983C453-299F-411C-9CA9-7ABCA6804854}">
      <dgm:prSet/>
      <dgm:spPr/>
      <dgm:t>
        <a:bodyPr/>
        <a:lstStyle/>
        <a:p>
          <a:r>
            <a:rPr lang="en-US"/>
            <a:t>Prep Tasks</a:t>
          </a:r>
        </a:p>
      </dgm:t>
    </dgm:pt>
    <dgm:pt modelId="{7924C90D-8372-45BE-9188-7907DBCAABFB}" type="parTrans" cxnId="{98B5B315-7FCF-42FC-A223-0443DC9300CC}">
      <dgm:prSet/>
      <dgm:spPr/>
      <dgm:t>
        <a:bodyPr/>
        <a:lstStyle/>
        <a:p>
          <a:endParaRPr lang="en-US"/>
        </a:p>
      </dgm:t>
    </dgm:pt>
    <dgm:pt modelId="{7DAB5016-5D3A-4055-BA02-1A7554AA48EF}" type="sibTrans" cxnId="{98B5B315-7FCF-42FC-A223-0443DC9300CC}">
      <dgm:prSet/>
      <dgm:spPr/>
      <dgm:t>
        <a:bodyPr/>
        <a:lstStyle/>
        <a:p>
          <a:endParaRPr lang="en-US"/>
        </a:p>
      </dgm:t>
    </dgm:pt>
    <dgm:pt modelId="{500E33AE-4701-4652-B8B5-CDA4D86ED2B8}">
      <dgm:prSet/>
      <dgm:spPr/>
      <dgm:t>
        <a:bodyPr/>
        <a:lstStyle/>
        <a:p>
          <a:r>
            <a:rPr lang="en-US" dirty="0"/>
            <a:t>Task 1: Increase All Customers’ Age by 1</a:t>
          </a:r>
        </a:p>
      </dgm:t>
    </dgm:pt>
    <dgm:pt modelId="{4B491BDD-820E-40F5-81A6-6D7DCC3F0F36}" type="parTrans" cxnId="{2370DEF7-4619-43E1-82B7-2C18DE910EE9}">
      <dgm:prSet/>
      <dgm:spPr/>
      <dgm:t>
        <a:bodyPr/>
        <a:lstStyle/>
        <a:p>
          <a:endParaRPr lang="en-US"/>
        </a:p>
      </dgm:t>
    </dgm:pt>
    <dgm:pt modelId="{794C508E-0F5D-4E62-8DA1-02929D245197}" type="sibTrans" cxnId="{2370DEF7-4619-43E1-82B7-2C18DE910EE9}">
      <dgm:prSet/>
      <dgm:spPr/>
      <dgm:t>
        <a:bodyPr/>
        <a:lstStyle/>
        <a:p>
          <a:endParaRPr lang="en-US"/>
        </a:p>
      </dgm:t>
    </dgm:pt>
    <dgm:pt modelId="{31E0ED02-E6D3-4D75-8218-5E65848DB773}">
      <dgm:prSet/>
      <dgm:spPr/>
      <dgm:t>
        <a:bodyPr/>
        <a:lstStyle/>
        <a:p>
          <a:r>
            <a:rPr lang="en-US" dirty="0"/>
            <a:t>Task 2: Reduce a Product’s Stock After Purchase</a:t>
          </a:r>
        </a:p>
      </dgm:t>
    </dgm:pt>
    <dgm:pt modelId="{FA1D29A8-FEF4-4110-9114-F58E432EC447}" type="parTrans" cxnId="{1C11C49B-2CCF-426A-AAA8-6AE98D4A7048}">
      <dgm:prSet/>
      <dgm:spPr/>
      <dgm:t>
        <a:bodyPr/>
        <a:lstStyle/>
        <a:p>
          <a:endParaRPr lang="en-US"/>
        </a:p>
      </dgm:t>
    </dgm:pt>
    <dgm:pt modelId="{96DD7D51-BDE1-47F9-A49A-C852EDB023C0}" type="sibTrans" cxnId="{1C11C49B-2CCF-426A-AAA8-6AE98D4A7048}">
      <dgm:prSet/>
      <dgm:spPr/>
      <dgm:t>
        <a:bodyPr/>
        <a:lstStyle/>
        <a:p>
          <a:endParaRPr lang="en-US"/>
        </a:p>
      </dgm:t>
    </dgm:pt>
    <dgm:pt modelId="{18F5DEA1-2C35-41EC-880B-AC8A1776981F}">
      <dgm:prSet/>
      <dgm:spPr/>
      <dgm:t>
        <a:bodyPr/>
        <a:lstStyle/>
        <a:p>
          <a:r>
            <a:rPr lang="en-US" dirty="0"/>
            <a:t>Task 3: Premium Customer Emails</a:t>
          </a:r>
        </a:p>
      </dgm:t>
    </dgm:pt>
    <dgm:pt modelId="{CF0518FE-119E-4EC5-8394-4B77ED05A826}" type="parTrans" cxnId="{76DB5130-C4CC-4F47-9AAB-59F1136459D5}">
      <dgm:prSet/>
      <dgm:spPr/>
      <dgm:t>
        <a:bodyPr/>
        <a:lstStyle/>
        <a:p>
          <a:endParaRPr lang="en-US"/>
        </a:p>
      </dgm:t>
    </dgm:pt>
    <dgm:pt modelId="{2B219B7B-03DF-4148-831F-65283862BB5E}" type="sibTrans" cxnId="{76DB5130-C4CC-4F47-9AAB-59F1136459D5}">
      <dgm:prSet/>
      <dgm:spPr/>
      <dgm:t>
        <a:bodyPr/>
        <a:lstStyle/>
        <a:p>
          <a:endParaRPr lang="en-US"/>
        </a:p>
      </dgm:t>
    </dgm:pt>
    <dgm:pt modelId="{ECF83509-C957-4C31-97F8-537A2DD186A8}">
      <dgm:prSet/>
      <dgm:spPr/>
      <dgm:t>
        <a:bodyPr/>
        <a:lstStyle/>
        <a:p>
          <a:r>
            <a:rPr lang="en-US" dirty="0"/>
            <a:t>Task 4: Refunded Orders in Last 30 Days</a:t>
          </a:r>
        </a:p>
      </dgm:t>
    </dgm:pt>
    <dgm:pt modelId="{15762A5A-4D91-481C-9835-45ACEBD8F422}" type="parTrans" cxnId="{08403FA1-9180-4BBA-8474-A7AEE39143BE}">
      <dgm:prSet/>
      <dgm:spPr/>
      <dgm:t>
        <a:bodyPr/>
        <a:lstStyle/>
        <a:p>
          <a:endParaRPr lang="en-US"/>
        </a:p>
      </dgm:t>
    </dgm:pt>
    <dgm:pt modelId="{41EB2FDF-F31E-4F4E-9F10-8E0FCD6E78F7}" type="sibTrans" cxnId="{08403FA1-9180-4BBA-8474-A7AEE39143BE}">
      <dgm:prSet/>
      <dgm:spPr/>
      <dgm:t>
        <a:bodyPr/>
        <a:lstStyle/>
        <a:p>
          <a:endParaRPr lang="en-US"/>
        </a:p>
      </dgm:t>
    </dgm:pt>
    <dgm:pt modelId="{6A4C8A5D-9EBD-4EDD-B72D-0B8C2E7B9CFD}">
      <dgm:prSet/>
      <dgm:spPr/>
      <dgm:t>
        <a:bodyPr/>
        <a:lstStyle/>
        <a:p>
          <a:r>
            <a:rPr lang="en-US" dirty="0"/>
            <a:t>Task 5: Count Orders by Payment Status</a:t>
          </a:r>
        </a:p>
      </dgm:t>
    </dgm:pt>
    <dgm:pt modelId="{204F162D-9F39-4AFF-A10F-E93013FE916F}" type="parTrans" cxnId="{71C48F80-796C-422B-A0DE-16AA56545BFB}">
      <dgm:prSet/>
      <dgm:spPr/>
      <dgm:t>
        <a:bodyPr/>
        <a:lstStyle/>
        <a:p>
          <a:endParaRPr lang="en-US"/>
        </a:p>
      </dgm:t>
    </dgm:pt>
    <dgm:pt modelId="{F7988275-A897-4816-8C73-A2B874DBA7FC}" type="sibTrans" cxnId="{71C48F80-796C-422B-A0DE-16AA56545BFB}">
      <dgm:prSet/>
      <dgm:spPr/>
      <dgm:t>
        <a:bodyPr/>
        <a:lstStyle/>
        <a:p>
          <a:endParaRPr lang="en-US"/>
        </a:p>
      </dgm:t>
    </dgm:pt>
    <dgm:pt modelId="{C2ABF2DC-6244-4FDA-A7F8-EC548A8B80B5}">
      <dgm:prSet/>
      <dgm:spPr/>
      <dgm:t>
        <a:bodyPr/>
        <a:lstStyle/>
        <a:p>
          <a:r>
            <a:rPr lang="en-US" dirty="0">
              <a:solidFill>
                <a:schemeClr val="tx1">
                  <a:lumMod val="95000"/>
                </a:schemeClr>
              </a:solidFill>
            </a:rPr>
            <a:t>Task 6: </a:t>
          </a:r>
          <a:r>
            <a:rPr lang="en-US" b="1" i="0" dirty="0">
              <a:solidFill>
                <a:schemeClr val="tx1">
                  <a:lumMod val="95000"/>
                </a:schemeClr>
              </a:solidFill>
              <a:effectLst/>
              <a:latin typeface="+mn-lt"/>
              <a:ea typeface="+mn-ea"/>
              <a:cs typeface="+mn-cs"/>
            </a:rPr>
            <a:t>Promote high-activity customers to premium</a:t>
          </a:r>
        </a:p>
      </dgm:t>
    </dgm:pt>
    <dgm:pt modelId="{3A5A61AE-E7CC-4C91-B3DD-435BFBF59372}" type="parTrans" cxnId="{7CA3C073-7C85-4473-A644-523197CFCC5B}">
      <dgm:prSet/>
      <dgm:spPr/>
      <dgm:t>
        <a:bodyPr/>
        <a:lstStyle/>
        <a:p>
          <a:endParaRPr lang="en-US"/>
        </a:p>
      </dgm:t>
    </dgm:pt>
    <dgm:pt modelId="{0C6640C9-8325-4474-853F-350E42FB84B7}" type="sibTrans" cxnId="{7CA3C073-7C85-4473-A644-523197CFCC5B}">
      <dgm:prSet/>
      <dgm:spPr/>
      <dgm:t>
        <a:bodyPr/>
        <a:lstStyle/>
        <a:p>
          <a:endParaRPr lang="en-US"/>
        </a:p>
      </dgm:t>
    </dgm:pt>
    <dgm:pt modelId="{11EB0207-0307-413D-91A8-A42162B07470}">
      <dgm:prSet/>
      <dgm:spPr/>
      <dgm:t>
        <a:bodyPr/>
        <a:lstStyle/>
        <a:p>
          <a:r>
            <a:rPr lang="en-US" b="1">
              <a:solidFill>
                <a:srgbClr val="FFFFFF"/>
              </a:solidFill>
            </a:rPr>
            <a:t>Task 7: Products costing more than $200</a:t>
          </a:r>
          <a:endParaRPr lang="en-US"/>
        </a:p>
      </dgm:t>
    </dgm:pt>
    <dgm:pt modelId="{BF283C48-5A55-4EF1-9394-62C7469AAAF7}" type="parTrans" cxnId="{4AFA6EB9-ACA5-4C70-B6D4-E99F68352B29}">
      <dgm:prSet/>
      <dgm:spPr/>
      <dgm:t>
        <a:bodyPr/>
        <a:lstStyle/>
        <a:p>
          <a:endParaRPr lang="en-US"/>
        </a:p>
      </dgm:t>
    </dgm:pt>
    <dgm:pt modelId="{9F905ED2-C75B-4483-8438-D408DDF916A0}" type="sibTrans" cxnId="{4AFA6EB9-ACA5-4C70-B6D4-E99F68352B29}">
      <dgm:prSet/>
      <dgm:spPr/>
      <dgm:t>
        <a:bodyPr/>
        <a:lstStyle/>
        <a:p>
          <a:endParaRPr lang="en-US"/>
        </a:p>
      </dgm:t>
    </dgm:pt>
    <dgm:pt modelId="{BF323E95-1F83-4274-8C44-A71DEECC580F}">
      <dgm:prSet/>
      <dgm:spPr/>
      <dgm:t>
        <a:bodyPr/>
        <a:lstStyle/>
        <a:p>
          <a:r>
            <a:rPr lang="en-US" b="1" dirty="0">
              <a:solidFill>
                <a:srgbClr val="FFFFFF"/>
              </a:solidFill>
            </a:rPr>
            <a:t>Task 8: Orders including a specific product</a:t>
          </a:r>
          <a:endParaRPr lang="en-US" dirty="0"/>
        </a:p>
      </dgm:t>
    </dgm:pt>
    <dgm:pt modelId="{C3961AC7-5830-4624-B687-AC5A43284558}" type="parTrans" cxnId="{2CF9528E-B040-4391-A704-706E335FBDC9}">
      <dgm:prSet/>
      <dgm:spPr/>
      <dgm:t>
        <a:bodyPr/>
        <a:lstStyle/>
        <a:p>
          <a:endParaRPr lang="en-US"/>
        </a:p>
      </dgm:t>
    </dgm:pt>
    <dgm:pt modelId="{CA1790D0-4974-4CD6-BD20-AF68DC6771BA}" type="sibTrans" cxnId="{2CF9528E-B040-4391-A704-706E335FBDC9}">
      <dgm:prSet/>
      <dgm:spPr/>
      <dgm:t>
        <a:bodyPr/>
        <a:lstStyle/>
        <a:p>
          <a:endParaRPr lang="en-US"/>
        </a:p>
      </dgm:t>
    </dgm:pt>
    <dgm:pt modelId="{4C97E54A-0422-4D7F-90D6-368DB2187008}">
      <dgm:prSet/>
      <dgm:spPr/>
      <dgm:t>
        <a:bodyPr/>
        <a:lstStyle/>
        <a:p>
          <a:r>
            <a:rPr lang="en-US" b="1">
              <a:solidFill>
                <a:srgbClr val="FFFFFF"/>
              </a:solidFill>
            </a:rPr>
            <a:t>Task 9: Delete customers never placed an order</a:t>
          </a:r>
          <a:endParaRPr lang="en-US"/>
        </a:p>
      </dgm:t>
    </dgm:pt>
    <dgm:pt modelId="{3B97FC4B-6653-4801-9423-46F60A85C6C7}" type="parTrans" cxnId="{DC8B097E-D1FB-44C6-BF15-504C56FC4115}">
      <dgm:prSet/>
      <dgm:spPr/>
      <dgm:t>
        <a:bodyPr/>
        <a:lstStyle/>
        <a:p>
          <a:endParaRPr lang="en-US"/>
        </a:p>
      </dgm:t>
    </dgm:pt>
    <dgm:pt modelId="{939BDB83-C50F-4B61-B9EA-411F455D5CCD}" type="sibTrans" cxnId="{DC8B097E-D1FB-44C6-BF15-504C56FC4115}">
      <dgm:prSet/>
      <dgm:spPr/>
      <dgm:t>
        <a:bodyPr/>
        <a:lstStyle/>
        <a:p>
          <a:endParaRPr lang="en-US"/>
        </a:p>
      </dgm:t>
    </dgm:pt>
    <dgm:pt modelId="{9B8661C8-F103-4F5A-A683-11999DEB9001}">
      <dgm:prSet/>
      <dgm:spPr/>
      <dgm:t>
        <a:bodyPr/>
        <a:lstStyle/>
        <a:p>
          <a:r>
            <a:rPr lang="en-US" b="1">
              <a:solidFill>
                <a:srgbClr val="FFFFFF"/>
              </a:solidFill>
            </a:rPr>
            <a:t>Task 10: Categories preferred by customers under 25</a:t>
          </a:r>
          <a:endParaRPr lang="en-US"/>
        </a:p>
      </dgm:t>
    </dgm:pt>
    <dgm:pt modelId="{2901BB36-E979-4D54-9919-CA98263519B0}" type="parTrans" cxnId="{F6AB5545-2F1F-4C26-BB54-87A284170203}">
      <dgm:prSet/>
      <dgm:spPr/>
      <dgm:t>
        <a:bodyPr/>
        <a:lstStyle/>
        <a:p>
          <a:endParaRPr lang="en-US"/>
        </a:p>
      </dgm:t>
    </dgm:pt>
    <dgm:pt modelId="{C5DF1233-1DEC-48E8-B7BF-BB2D923627E9}" type="sibTrans" cxnId="{F6AB5545-2F1F-4C26-BB54-87A284170203}">
      <dgm:prSet/>
      <dgm:spPr/>
      <dgm:t>
        <a:bodyPr/>
        <a:lstStyle/>
        <a:p>
          <a:endParaRPr lang="en-US"/>
        </a:p>
      </dgm:t>
    </dgm:pt>
    <dgm:pt modelId="{14BECA33-1832-4C64-883D-1309AC1571F9}">
      <dgm:prSet/>
      <dgm:spPr/>
      <dgm:t>
        <a:bodyPr/>
        <a:lstStyle/>
        <a:p>
          <a:r>
            <a:rPr lang="en-US" altLang="zh-CN" b="1">
              <a:solidFill>
                <a:srgbClr val="FFFFFF"/>
              </a:solidFill>
            </a:rPr>
            <a:t>Task 11:</a:t>
          </a:r>
          <a:r>
            <a:rPr lang="en-US" b="1">
              <a:solidFill>
                <a:srgbClr val="FFFFFF"/>
              </a:solidFill>
            </a:rPr>
            <a:t>Customers with emails from Yahoo/Gmail</a:t>
          </a:r>
          <a:endParaRPr lang="en-US"/>
        </a:p>
      </dgm:t>
    </dgm:pt>
    <dgm:pt modelId="{90321939-388E-40B5-B44F-F9875C8DE668}" type="parTrans" cxnId="{96385D1E-856E-4AFD-803E-C2F8E0358950}">
      <dgm:prSet/>
      <dgm:spPr/>
      <dgm:t>
        <a:bodyPr/>
        <a:lstStyle/>
        <a:p>
          <a:endParaRPr lang="en-US"/>
        </a:p>
      </dgm:t>
    </dgm:pt>
    <dgm:pt modelId="{6F017534-0D9B-42A8-A062-0AEFDF4E9DEF}" type="sibTrans" cxnId="{96385D1E-856E-4AFD-803E-C2F8E0358950}">
      <dgm:prSet/>
      <dgm:spPr/>
      <dgm:t>
        <a:bodyPr/>
        <a:lstStyle/>
        <a:p>
          <a:endParaRPr lang="en-US"/>
        </a:p>
      </dgm:t>
    </dgm:pt>
    <dgm:pt modelId="{CE378A8E-7F74-4588-9A84-DA8E8F5FAD47}">
      <dgm:prSet/>
      <dgm:spPr/>
      <dgm:t>
        <a:bodyPr/>
        <a:lstStyle/>
        <a:p>
          <a:r>
            <a:rPr lang="en-US" b="1" dirty="0"/>
            <a:t>Execution Time and Ranking</a:t>
          </a:r>
          <a:endParaRPr lang="en-US" dirty="0"/>
        </a:p>
      </dgm:t>
    </dgm:pt>
    <dgm:pt modelId="{3CC5E356-4C62-4D50-8098-13B4E3B4697B}" type="parTrans" cxnId="{77B4A6BA-2FE5-45CB-A9ED-3A62B8D88539}">
      <dgm:prSet/>
      <dgm:spPr/>
      <dgm:t>
        <a:bodyPr/>
        <a:lstStyle/>
        <a:p>
          <a:endParaRPr lang="en-US"/>
        </a:p>
      </dgm:t>
    </dgm:pt>
    <dgm:pt modelId="{A5321C8C-D7E1-40C2-B84C-F3BBE627CD92}" type="sibTrans" cxnId="{77B4A6BA-2FE5-45CB-A9ED-3A62B8D88539}">
      <dgm:prSet/>
      <dgm:spPr/>
      <dgm:t>
        <a:bodyPr/>
        <a:lstStyle/>
        <a:p>
          <a:endParaRPr lang="en-US"/>
        </a:p>
      </dgm:t>
    </dgm:pt>
    <dgm:pt modelId="{2827E7FC-3DA8-45A3-A9DF-61AD1F49EF6E}">
      <dgm:prSet/>
      <dgm:spPr/>
      <dgm:t>
        <a:bodyPr/>
        <a:lstStyle/>
        <a:p>
          <a:r>
            <a:rPr lang="en-US" b="1"/>
            <a:t>MongoDB Performance Summary</a:t>
          </a:r>
          <a:endParaRPr lang="en-US"/>
        </a:p>
      </dgm:t>
    </dgm:pt>
    <dgm:pt modelId="{E5351783-3684-4B3F-B09B-85618E240DE5}" type="parTrans" cxnId="{4625993F-F16D-4B16-AC49-CC91DACE0158}">
      <dgm:prSet/>
      <dgm:spPr/>
      <dgm:t>
        <a:bodyPr/>
        <a:lstStyle/>
        <a:p>
          <a:endParaRPr lang="en-US"/>
        </a:p>
      </dgm:t>
    </dgm:pt>
    <dgm:pt modelId="{354BE997-99EA-4B96-91A3-248A899E9F9B}" type="sibTrans" cxnId="{4625993F-F16D-4B16-AC49-CC91DACE0158}">
      <dgm:prSet/>
      <dgm:spPr/>
      <dgm:t>
        <a:bodyPr/>
        <a:lstStyle/>
        <a:p>
          <a:endParaRPr lang="en-US"/>
        </a:p>
      </dgm:t>
    </dgm:pt>
    <dgm:pt modelId="{F949890A-2675-4760-AA91-21FAAC198309}" type="pres">
      <dgm:prSet presAssocID="{4EACF11D-C79C-4A1E-A6BC-68FDAC43D160}" presName="linear" presStyleCnt="0">
        <dgm:presLayoutVars>
          <dgm:animLvl val="lvl"/>
          <dgm:resizeHandles val="exact"/>
        </dgm:presLayoutVars>
      </dgm:prSet>
      <dgm:spPr/>
    </dgm:pt>
    <dgm:pt modelId="{E13786DF-C529-4DFB-9E5C-AF19967AD842}" type="pres">
      <dgm:prSet presAssocID="{550401AB-D4D0-48FD-90C1-FC9F0838D089}" presName="parentText" presStyleLbl="node1" presStyleIdx="0" presStyleCnt="16">
        <dgm:presLayoutVars>
          <dgm:chMax val="0"/>
          <dgm:bulletEnabled val="1"/>
        </dgm:presLayoutVars>
      </dgm:prSet>
      <dgm:spPr/>
    </dgm:pt>
    <dgm:pt modelId="{34FFB750-18C2-4B0A-AA00-C4E671250352}" type="pres">
      <dgm:prSet presAssocID="{6AF3B7A4-CBB5-4418-8667-EB81335D534E}" presName="spacer" presStyleCnt="0"/>
      <dgm:spPr/>
    </dgm:pt>
    <dgm:pt modelId="{FE8432FC-CAA3-4106-845A-65741B01A7FA}" type="pres">
      <dgm:prSet presAssocID="{C5376352-24AE-47AC-A829-A01897B8F556}" presName="parentText" presStyleLbl="node1" presStyleIdx="1" presStyleCnt="16">
        <dgm:presLayoutVars>
          <dgm:chMax val="0"/>
          <dgm:bulletEnabled val="1"/>
        </dgm:presLayoutVars>
      </dgm:prSet>
      <dgm:spPr/>
    </dgm:pt>
    <dgm:pt modelId="{7961907C-9BB1-4FF9-BB6E-676D80C6F358}" type="pres">
      <dgm:prSet presAssocID="{6F3AFD73-61CC-43CB-9C33-AB7BAD8FD17D}" presName="spacer" presStyleCnt="0"/>
      <dgm:spPr/>
    </dgm:pt>
    <dgm:pt modelId="{25746BB5-3155-4B0D-82EF-FAD1152278A7}" type="pres">
      <dgm:prSet presAssocID="{8983C453-299F-411C-9CA9-7ABCA6804854}" presName="parentText" presStyleLbl="node1" presStyleIdx="2" presStyleCnt="16">
        <dgm:presLayoutVars>
          <dgm:chMax val="0"/>
          <dgm:bulletEnabled val="1"/>
        </dgm:presLayoutVars>
      </dgm:prSet>
      <dgm:spPr/>
    </dgm:pt>
    <dgm:pt modelId="{47D0ADA1-4174-4ADB-B0E8-9AF1A8E6C4DE}" type="pres">
      <dgm:prSet presAssocID="{7DAB5016-5D3A-4055-BA02-1A7554AA48EF}" presName="spacer" presStyleCnt="0"/>
      <dgm:spPr/>
    </dgm:pt>
    <dgm:pt modelId="{0D8A274A-CB40-4506-BFFA-27F3DB6AFF27}" type="pres">
      <dgm:prSet presAssocID="{500E33AE-4701-4652-B8B5-CDA4D86ED2B8}" presName="parentText" presStyleLbl="node1" presStyleIdx="3" presStyleCnt="16">
        <dgm:presLayoutVars>
          <dgm:chMax val="0"/>
          <dgm:bulletEnabled val="1"/>
        </dgm:presLayoutVars>
      </dgm:prSet>
      <dgm:spPr/>
    </dgm:pt>
    <dgm:pt modelId="{40DF7D82-FA90-43D4-BFDF-1706475C4444}" type="pres">
      <dgm:prSet presAssocID="{794C508E-0F5D-4E62-8DA1-02929D245197}" presName="spacer" presStyleCnt="0"/>
      <dgm:spPr/>
    </dgm:pt>
    <dgm:pt modelId="{BC1733C1-26B9-4991-9BC9-2B39D3CF32B6}" type="pres">
      <dgm:prSet presAssocID="{31E0ED02-E6D3-4D75-8218-5E65848DB773}" presName="parentText" presStyleLbl="node1" presStyleIdx="4" presStyleCnt="16">
        <dgm:presLayoutVars>
          <dgm:chMax val="0"/>
          <dgm:bulletEnabled val="1"/>
        </dgm:presLayoutVars>
      </dgm:prSet>
      <dgm:spPr/>
    </dgm:pt>
    <dgm:pt modelId="{1484EA9C-EC60-4923-8C8F-D3F871169F8E}" type="pres">
      <dgm:prSet presAssocID="{96DD7D51-BDE1-47F9-A49A-C852EDB023C0}" presName="spacer" presStyleCnt="0"/>
      <dgm:spPr/>
    </dgm:pt>
    <dgm:pt modelId="{D4ACC9A5-721E-4880-9D45-C143D260BFB7}" type="pres">
      <dgm:prSet presAssocID="{18F5DEA1-2C35-41EC-880B-AC8A1776981F}" presName="parentText" presStyleLbl="node1" presStyleIdx="5" presStyleCnt="16">
        <dgm:presLayoutVars>
          <dgm:chMax val="0"/>
          <dgm:bulletEnabled val="1"/>
        </dgm:presLayoutVars>
      </dgm:prSet>
      <dgm:spPr/>
    </dgm:pt>
    <dgm:pt modelId="{93EBA700-6017-4D00-93BE-F4263EB25579}" type="pres">
      <dgm:prSet presAssocID="{2B219B7B-03DF-4148-831F-65283862BB5E}" presName="spacer" presStyleCnt="0"/>
      <dgm:spPr/>
    </dgm:pt>
    <dgm:pt modelId="{9A025C7C-C896-4D3D-9E42-ADC000DEAD6E}" type="pres">
      <dgm:prSet presAssocID="{ECF83509-C957-4C31-97F8-537A2DD186A8}" presName="parentText" presStyleLbl="node1" presStyleIdx="6" presStyleCnt="16">
        <dgm:presLayoutVars>
          <dgm:chMax val="0"/>
          <dgm:bulletEnabled val="1"/>
        </dgm:presLayoutVars>
      </dgm:prSet>
      <dgm:spPr/>
    </dgm:pt>
    <dgm:pt modelId="{7CCC4CD3-A6F6-47A2-8840-1F151995E767}" type="pres">
      <dgm:prSet presAssocID="{41EB2FDF-F31E-4F4E-9F10-8E0FCD6E78F7}" presName="spacer" presStyleCnt="0"/>
      <dgm:spPr/>
    </dgm:pt>
    <dgm:pt modelId="{0F88C10D-8E1C-4175-830D-AE2A9F43B91C}" type="pres">
      <dgm:prSet presAssocID="{6A4C8A5D-9EBD-4EDD-B72D-0B8C2E7B9CFD}" presName="parentText" presStyleLbl="node1" presStyleIdx="7" presStyleCnt="16">
        <dgm:presLayoutVars>
          <dgm:chMax val="0"/>
          <dgm:bulletEnabled val="1"/>
        </dgm:presLayoutVars>
      </dgm:prSet>
      <dgm:spPr/>
    </dgm:pt>
    <dgm:pt modelId="{63F72E99-0049-4274-9F9B-4221D4332B8F}" type="pres">
      <dgm:prSet presAssocID="{F7988275-A897-4816-8C73-A2B874DBA7FC}" presName="spacer" presStyleCnt="0"/>
      <dgm:spPr/>
    </dgm:pt>
    <dgm:pt modelId="{B928ED66-C329-420F-B129-0343AB4167D0}" type="pres">
      <dgm:prSet presAssocID="{C2ABF2DC-6244-4FDA-A7F8-EC548A8B80B5}" presName="parentText" presStyleLbl="node1" presStyleIdx="8" presStyleCnt="16">
        <dgm:presLayoutVars>
          <dgm:chMax val="0"/>
          <dgm:bulletEnabled val="1"/>
        </dgm:presLayoutVars>
      </dgm:prSet>
      <dgm:spPr/>
    </dgm:pt>
    <dgm:pt modelId="{F33CA31F-E02C-436D-890E-85DB1D48645C}" type="pres">
      <dgm:prSet presAssocID="{0C6640C9-8325-4474-853F-350E42FB84B7}" presName="spacer" presStyleCnt="0"/>
      <dgm:spPr/>
    </dgm:pt>
    <dgm:pt modelId="{B14B5C91-16CA-474D-BE89-262E7AD26B1B}" type="pres">
      <dgm:prSet presAssocID="{11EB0207-0307-413D-91A8-A42162B07470}" presName="parentText" presStyleLbl="node1" presStyleIdx="9" presStyleCnt="16">
        <dgm:presLayoutVars>
          <dgm:chMax val="0"/>
          <dgm:bulletEnabled val="1"/>
        </dgm:presLayoutVars>
      </dgm:prSet>
      <dgm:spPr/>
    </dgm:pt>
    <dgm:pt modelId="{B91197CC-5B8E-40EE-A55F-FA2904357E63}" type="pres">
      <dgm:prSet presAssocID="{9F905ED2-C75B-4483-8438-D408DDF916A0}" presName="spacer" presStyleCnt="0"/>
      <dgm:spPr/>
    </dgm:pt>
    <dgm:pt modelId="{D81EDBB2-7029-4D91-8933-F0DEFD6F1ECF}" type="pres">
      <dgm:prSet presAssocID="{BF323E95-1F83-4274-8C44-A71DEECC580F}" presName="parentText" presStyleLbl="node1" presStyleIdx="10" presStyleCnt="16">
        <dgm:presLayoutVars>
          <dgm:chMax val="0"/>
          <dgm:bulletEnabled val="1"/>
        </dgm:presLayoutVars>
      </dgm:prSet>
      <dgm:spPr/>
    </dgm:pt>
    <dgm:pt modelId="{D9DC4097-E2FB-4FEF-9E13-4666FFC8A34B}" type="pres">
      <dgm:prSet presAssocID="{CA1790D0-4974-4CD6-BD20-AF68DC6771BA}" presName="spacer" presStyleCnt="0"/>
      <dgm:spPr/>
    </dgm:pt>
    <dgm:pt modelId="{42E4AD15-1672-4D73-BAC1-87D01A30167A}" type="pres">
      <dgm:prSet presAssocID="{4C97E54A-0422-4D7F-90D6-368DB2187008}" presName="parentText" presStyleLbl="node1" presStyleIdx="11" presStyleCnt="16">
        <dgm:presLayoutVars>
          <dgm:chMax val="0"/>
          <dgm:bulletEnabled val="1"/>
        </dgm:presLayoutVars>
      </dgm:prSet>
      <dgm:spPr/>
    </dgm:pt>
    <dgm:pt modelId="{955ED9DD-F0BC-4020-923E-A072CB1AD6A0}" type="pres">
      <dgm:prSet presAssocID="{939BDB83-C50F-4B61-B9EA-411F455D5CCD}" presName="spacer" presStyleCnt="0"/>
      <dgm:spPr/>
    </dgm:pt>
    <dgm:pt modelId="{1F051849-A172-4585-B74B-15D1FA70E40E}" type="pres">
      <dgm:prSet presAssocID="{9B8661C8-F103-4F5A-A683-11999DEB9001}" presName="parentText" presStyleLbl="node1" presStyleIdx="12" presStyleCnt="16">
        <dgm:presLayoutVars>
          <dgm:chMax val="0"/>
          <dgm:bulletEnabled val="1"/>
        </dgm:presLayoutVars>
      </dgm:prSet>
      <dgm:spPr/>
    </dgm:pt>
    <dgm:pt modelId="{38F52AF7-7DB2-49D9-9900-F0D74BDC0DBE}" type="pres">
      <dgm:prSet presAssocID="{C5DF1233-1DEC-48E8-B7BF-BB2D923627E9}" presName="spacer" presStyleCnt="0"/>
      <dgm:spPr/>
    </dgm:pt>
    <dgm:pt modelId="{CEA6296E-F575-4580-92E3-46ADAE54908B}" type="pres">
      <dgm:prSet presAssocID="{14BECA33-1832-4C64-883D-1309AC1571F9}" presName="parentText" presStyleLbl="node1" presStyleIdx="13" presStyleCnt="16">
        <dgm:presLayoutVars>
          <dgm:chMax val="0"/>
          <dgm:bulletEnabled val="1"/>
        </dgm:presLayoutVars>
      </dgm:prSet>
      <dgm:spPr/>
    </dgm:pt>
    <dgm:pt modelId="{D4B7FBC4-71FA-4C37-B622-C6B826789B50}" type="pres">
      <dgm:prSet presAssocID="{6F017534-0D9B-42A8-A062-0AEFDF4E9DEF}" presName="spacer" presStyleCnt="0"/>
      <dgm:spPr/>
    </dgm:pt>
    <dgm:pt modelId="{B3F71D6D-D22E-404F-B9E6-CF24E7D85074}" type="pres">
      <dgm:prSet presAssocID="{CE378A8E-7F74-4588-9A84-DA8E8F5FAD47}" presName="parentText" presStyleLbl="node1" presStyleIdx="14" presStyleCnt="16">
        <dgm:presLayoutVars>
          <dgm:chMax val="0"/>
          <dgm:bulletEnabled val="1"/>
        </dgm:presLayoutVars>
      </dgm:prSet>
      <dgm:spPr/>
    </dgm:pt>
    <dgm:pt modelId="{A41BCE03-AB53-43F9-B564-B25285B9F739}" type="pres">
      <dgm:prSet presAssocID="{A5321C8C-D7E1-40C2-B84C-F3BBE627CD92}" presName="spacer" presStyleCnt="0"/>
      <dgm:spPr/>
    </dgm:pt>
    <dgm:pt modelId="{A20EE3E9-0636-4E85-9B22-A75489C7D9CB}" type="pres">
      <dgm:prSet presAssocID="{2827E7FC-3DA8-45A3-A9DF-61AD1F49EF6E}" presName="parentText" presStyleLbl="node1" presStyleIdx="15" presStyleCnt="16">
        <dgm:presLayoutVars>
          <dgm:chMax val="0"/>
          <dgm:bulletEnabled val="1"/>
        </dgm:presLayoutVars>
      </dgm:prSet>
      <dgm:spPr/>
    </dgm:pt>
  </dgm:ptLst>
  <dgm:cxnLst>
    <dgm:cxn modelId="{98B5B315-7FCF-42FC-A223-0443DC9300CC}" srcId="{4EACF11D-C79C-4A1E-A6BC-68FDAC43D160}" destId="{8983C453-299F-411C-9CA9-7ABCA6804854}" srcOrd="2" destOrd="0" parTransId="{7924C90D-8372-45BE-9188-7907DBCAABFB}" sibTransId="{7DAB5016-5D3A-4055-BA02-1A7554AA48EF}"/>
    <dgm:cxn modelId="{AF608E1A-3C7F-4807-869F-FF4FB54A2356}" type="presOf" srcId="{550401AB-D4D0-48FD-90C1-FC9F0838D089}" destId="{E13786DF-C529-4DFB-9E5C-AF19967AD842}" srcOrd="0" destOrd="0" presId="urn:microsoft.com/office/officeart/2005/8/layout/vList2"/>
    <dgm:cxn modelId="{96385D1E-856E-4AFD-803E-C2F8E0358950}" srcId="{4EACF11D-C79C-4A1E-A6BC-68FDAC43D160}" destId="{14BECA33-1832-4C64-883D-1309AC1571F9}" srcOrd="13" destOrd="0" parTransId="{90321939-388E-40B5-B44F-F9875C8DE668}" sibTransId="{6F017534-0D9B-42A8-A062-0AEFDF4E9DEF}"/>
    <dgm:cxn modelId="{8C68F923-88C4-418C-8D67-2ACF6AA8F855}" srcId="{4EACF11D-C79C-4A1E-A6BC-68FDAC43D160}" destId="{550401AB-D4D0-48FD-90C1-FC9F0838D089}" srcOrd="0" destOrd="0" parTransId="{C9570BDF-BF68-43C8-A9FD-345A91434E8E}" sibTransId="{6AF3B7A4-CBB5-4418-8667-EB81335D534E}"/>
    <dgm:cxn modelId="{EF774524-86D3-4196-8C55-125D25F519A9}" type="presOf" srcId="{BF323E95-1F83-4274-8C44-A71DEECC580F}" destId="{D81EDBB2-7029-4D91-8933-F0DEFD6F1ECF}" srcOrd="0" destOrd="0" presId="urn:microsoft.com/office/officeart/2005/8/layout/vList2"/>
    <dgm:cxn modelId="{76DB5130-C4CC-4F47-9AAB-59F1136459D5}" srcId="{4EACF11D-C79C-4A1E-A6BC-68FDAC43D160}" destId="{18F5DEA1-2C35-41EC-880B-AC8A1776981F}" srcOrd="5" destOrd="0" parTransId="{CF0518FE-119E-4EC5-8394-4B77ED05A826}" sibTransId="{2B219B7B-03DF-4148-831F-65283862BB5E}"/>
    <dgm:cxn modelId="{8E892133-122A-434A-ADD4-B0AE54BBC8C6}" type="presOf" srcId="{4C97E54A-0422-4D7F-90D6-368DB2187008}" destId="{42E4AD15-1672-4D73-BAC1-87D01A30167A}" srcOrd="0" destOrd="0" presId="urn:microsoft.com/office/officeart/2005/8/layout/vList2"/>
    <dgm:cxn modelId="{1B43A338-5A63-4384-A8DA-F4429FB4754C}" type="presOf" srcId="{9B8661C8-F103-4F5A-A683-11999DEB9001}" destId="{1F051849-A172-4585-B74B-15D1FA70E40E}" srcOrd="0" destOrd="0" presId="urn:microsoft.com/office/officeart/2005/8/layout/vList2"/>
    <dgm:cxn modelId="{4625993F-F16D-4B16-AC49-CC91DACE0158}" srcId="{4EACF11D-C79C-4A1E-A6BC-68FDAC43D160}" destId="{2827E7FC-3DA8-45A3-A9DF-61AD1F49EF6E}" srcOrd="15" destOrd="0" parTransId="{E5351783-3684-4B3F-B09B-85618E240DE5}" sibTransId="{354BE997-99EA-4B96-91A3-248A899E9F9B}"/>
    <dgm:cxn modelId="{8E8B6F5B-11B8-414F-BA0F-FA9C0F7F698A}" type="presOf" srcId="{C5376352-24AE-47AC-A829-A01897B8F556}" destId="{FE8432FC-CAA3-4106-845A-65741B01A7FA}" srcOrd="0" destOrd="0" presId="urn:microsoft.com/office/officeart/2005/8/layout/vList2"/>
    <dgm:cxn modelId="{F6AB5545-2F1F-4C26-BB54-87A284170203}" srcId="{4EACF11D-C79C-4A1E-A6BC-68FDAC43D160}" destId="{9B8661C8-F103-4F5A-A683-11999DEB9001}" srcOrd="12" destOrd="0" parTransId="{2901BB36-E979-4D54-9919-CA98263519B0}" sibTransId="{C5DF1233-1DEC-48E8-B7BF-BB2D923627E9}"/>
    <dgm:cxn modelId="{07E8D46A-0969-496E-931C-FEBBC1EA2DCE}" type="presOf" srcId="{2827E7FC-3DA8-45A3-A9DF-61AD1F49EF6E}" destId="{A20EE3E9-0636-4E85-9B22-A75489C7D9CB}" srcOrd="0" destOrd="0" presId="urn:microsoft.com/office/officeart/2005/8/layout/vList2"/>
    <dgm:cxn modelId="{7CA3C073-7C85-4473-A644-523197CFCC5B}" srcId="{4EACF11D-C79C-4A1E-A6BC-68FDAC43D160}" destId="{C2ABF2DC-6244-4FDA-A7F8-EC548A8B80B5}" srcOrd="8" destOrd="0" parTransId="{3A5A61AE-E7CC-4C91-B3DD-435BFBF59372}" sibTransId="{0C6640C9-8325-4474-853F-350E42FB84B7}"/>
    <dgm:cxn modelId="{CC5C2354-E21D-4C97-9EB9-C03E1F1D914B}" type="presOf" srcId="{C2ABF2DC-6244-4FDA-A7F8-EC548A8B80B5}" destId="{B928ED66-C329-420F-B129-0343AB4167D0}" srcOrd="0" destOrd="0" presId="urn:microsoft.com/office/officeart/2005/8/layout/vList2"/>
    <dgm:cxn modelId="{0D3DB279-8CCE-4CBB-A134-D9A7EE4FD12E}" type="presOf" srcId="{31E0ED02-E6D3-4D75-8218-5E65848DB773}" destId="{BC1733C1-26B9-4991-9BC9-2B39D3CF32B6}" srcOrd="0" destOrd="0" presId="urn:microsoft.com/office/officeart/2005/8/layout/vList2"/>
    <dgm:cxn modelId="{6BB6D059-D6BB-4E23-B283-1F486A24B44B}" type="presOf" srcId="{8983C453-299F-411C-9CA9-7ABCA6804854}" destId="{25746BB5-3155-4B0D-82EF-FAD1152278A7}" srcOrd="0" destOrd="0" presId="urn:microsoft.com/office/officeart/2005/8/layout/vList2"/>
    <dgm:cxn modelId="{DC8B097E-D1FB-44C6-BF15-504C56FC4115}" srcId="{4EACF11D-C79C-4A1E-A6BC-68FDAC43D160}" destId="{4C97E54A-0422-4D7F-90D6-368DB2187008}" srcOrd="11" destOrd="0" parTransId="{3B97FC4B-6653-4801-9423-46F60A85C6C7}" sibTransId="{939BDB83-C50F-4B61-B9EA-411F455D5CCD}"/>
    <dgm:cxn modelId="{71C48F80-796C-422B-A0DE-16AA56545BFB}" srcId="{4EACF11D-C79C-4A1E-A6BC-68FDAC43D160}" destId="{6A4C8A5D-9EBD-4EDD-B72D-0B8C2E7B9CFD}" srcOrd="7" destOrd="0" parTransId="{204F162D-9F39-4AFF-A10F-E93013FE916F}" sibTransId="{F7988275-A897-4816-8C73-A2B874DBA7FC}"/>
    <dgm:cxn modelId="{1C11C49B-2CCF-426A-AAA8-6AE98D4A7048}" srcId="{4EACF11D-C79C-4A1E-A6BC-68FDAC43D160}" destId="{31E0ED02-E6D3-4D75-8218-5E65848DB773}" srcOrd="4" destOrd="0" parTransId="{FA1D29A8-FEF4-4110-9114-F58E432EC447}" sibTransId="{96DD7D51-BDE1-47F9-A49A-C852EDB023C0}"/>
    <dgm:cxn modelId="{7DC3679C-02FD-4914-B41A-CF7E36D4B54D}" type="presOf" srcId="{4EACF11D-C79C-4A1E-A6BC-68FDAC43D160}" destId="{F949890A-2675-4760-AA91-21FAAC198309}" srcOrd="0" destOrd="0" presId="urn:microsoft.com/office/officeart/2005/8/layout/vList2"/>
    <dgm:cxn modelId="{2CF9528E-B040-4391-A704-706E335FBDC9}" srcId="{4EACF11D-C79C-4A1E-A6BC-68FDAC43D160}" destId="{BF323E95-1F83-4274-8C44-A71DEECC580F}" srcOrd="10" destOrd="0" parTransId="{C3961AC7-5830-4624-B687-AC5A43284558}" sibTransId="{CA1790D0-4974-4CD6-BD20-AF68DC6771BA}"/>
    <dgm:cxn modelId="{C8F053A0-2451-4C06-A728-4FD9BF23A518}" type="presOf" srcId="{18F5DEA1-2C35-41EC-880B-AC8A1776981F}" destId="{D4ACC9A5-721E-4880-9D45-C143D260BFB7}" srcOrd="0" destOrd="0" presId="urn:microsoft.com/office/officeart/2005/8/layout/vList2"/>
    <dgm:cxn modelId="{08403FA1-9180-4BBA-8474-A7AEE39143BE}" srcId="{4EACF11D-C79C-4A1E-A6BC-68FDAC43D160}" destId="{ECF83509-C957-4C31-97F8-537A2DD186A8}" srcOrd="6" destOrd="0" parTransId="{15762A5A-4D91-481C-9835-45ACEBD8F422}" sibTransId="{41EB2FDF-F31E-4F4E-9F10-8E0FCD6E78F7}"/>
    <dgm:cxn modelId="{647AD4A2-589A-48DD-A76B-7351D242B425}" type="presOf" srcId="{500E33AE-4701-4652-B8B5-CDA4D86ED2B8}" destId="{0D8A274A-CB40-4506-BFFA-27F3DB6AFF27}" srcOrd="0" destOrd="0" presId="urn:microsoft.com/office/officeart/2005/8/layout/vList2"/>
    <dgm:cxn modelId="{D11639A5-5E7A-4A2C-9EC5-9F0D508563EE}" type="presOf" srcId="{6A4C8A5D-9EBD-4EDD-B72D-0B8C2E7B9CFD}" destId="{0F88C10D-8E1C-4175-830D-AE2A9F43B91C}" srcOrd="0" destOrd="0" presId="urn:microsoft.com/office/officeart/2005/8/layout/vList2"/>
    <dgm:cxn modelId="{B93F80AA-5B83-4AC0-B75E-4DB94FA2867E}" type="presOf" srcId="{CE378A8E-7F74-4588-9A84-DA8E8F5FAD47}" destId="{B3F71D6D-D22E-404F-B9E6-CF24E7D85074}" srcOrd="0" destOrd="0" presId="urn:microsoft.com/office/officeart/2005/8/layout/vList2"/>
    <dgm:cxn modelId="{4AFA6EB9-ACA5-4C70-B6D4-E99F68352B29}" srcId="{4EACF11D-C79C-4A1E-A6BC-68FDAC43D160}" destId="{11EB0207-0307-413D-91A8-A42162B07470}" srcOrd="9" destOrd="0" parTransId="{BF283C48-5A55-4EF1-9394-62C7469AAAF7}" sibTransId="{9F905ED2-C75B-4483-8438-D408DDF916A0}"/>
    <dgm:cxn modelId="{77B4A6BA-2FE5-45CB-A9ED-3A62B8D88539}" srcId="{4EACF11D-C79C-4A1E-A6BC-68FDAC43D160}" destId="{CE378A8E-7F74-4588-9A84-DA8E8F5FAD47}" srcOrd="14" destOrd="0" parTransId="{3CC5E356-4C62-4D50-8098-13B4E3B4697B}" sibTransId="{A5321C8C-D7E1-40C2-B84C-F3BBE627CD92}"/>
    <dgm:cxn modelId="{CD0D7CBB-9628-4F74-99CB-6CB855F0AD6E}" type="presOf" srcId="{14BECA33-1832-4C64-883D-1309AC1571F9}" destId="{CEA6296E-F575-4580-92E3-46ADAE54908B}" srcOrd="0" destOrd="0" presId="urn:microsoft.com/office/officeart/2005/8/layout/vList2"/>
    <dgm:cxn modelId="{160A0BCB-596B-4F16-9505-39F65490C0EB}" type="presOf" srcId="{ECF83509-C957-4C31-97F8-537A2DD186A8}" destId="{9A025C7C-C896-4D3D-9E42-ADC000DEAD6E}" srcOrd="0" destOrd="0" presId="urn:microsoft.com/office/officeart/2005/8/layout/vList2"/>
    <dgm:cxn modelId="{1DB776CD-023F-426C-A5EB-51503FBE4B63}" type="presOf" srcId="{11EB0207-0307-413D-91A8-A42162B07470}" destId="{B14B5C91-16CA-474D-BE89-262E7AD26B1B}" srcOrd="0" destOrd="0" presId="urn:microsoft.com/office/officeart/2005/8/layout/vList2"/>
    <dgm:cxn modelId="{CB271ED5-6103-4902-AA83-687A1B1F117B}" srcId="{4EACF11D-C79C-4A1E-A6BC-68FDAC43D160}" destId="{C5376352-24AE-47AC-A829-A01897B8F556}" srcOrd="1" destOrd="0" parTransId="{0F9FB619-3597-4AF5-A91D-C4867F3380A9}" sibTransId="{6F3AFD73-61CC-43CB-9C33-AB7BAD8FD17D}"/>
    <dgm:cxn modelId="{2370DEF7-4619-43E1-82B7-2C18DE910EE9}" srcId="{4EACF11D-C79C-4A1E-A6BC-68FDAC43D160}" destId="{500E33AE-4701-4652-B8B5-CDA4D86ED2B8}" srcOrd="3" destOrd="0" parTransId="{4B491BDD-820E-40F5-81A6-6D7DCC3F0F36}" sibTransId="{794C508E-0F5D-4E62-8DA1-02929D245197}"/>
    <dgm:cxn modelId="{55D5C3D2-6B85-4BCE-A049-A7175404E721}" type="presParOf" srcId="{F949890A-2675-4760-AA91-21FAAC198309}" destId="{E13786DF-C529-4DFB-9E5C-AF19967AD842}" srcOrd="0" destOrd="0" presId="urn:microsoft.com/office/officeart/2005/8/layout/vList2"/>
    <dgm:cxn modelId="{C51C18E3-B045-44E6-90A1-9AC1ACC5ACCA}" type="presParOf" srcId="{F949890A-2675-4760-AA91-21FAAC198309}" destId="{34FFB750-18C2-4B0A-AA00-C4E671250352}" srcOrd="1" destOrd="0" presId="urn:microsoft.com/office/officeart/2005/8/layout/vList2"/>
    <dgm:cxn modelId="{3F01EF6D-8539-4317-AF03-7C4B9B71223B}" type="presParOf" srcId="{F949890A-2675-4760-AA91-21FAAC198309}" destId="{FE8432FC-CAA3-4106-845A-65741B01A7FA}" srcOrd="2" destOrd="0" presId="urn:microsoft.com/office/officeart/2005/8/layout/vList2"/>
    <dgm:cxn modelId="{46309F72-0703-40B9-8238-9C14D3677FD2}" type="presParOf" srcId="{F949890A-2675-4760-AA91-21FAAC198309}" destId="{7961907C-9BB1-4FF9-BB6E-676D80C6F358}" srcOrd="3" destOrd="0" presId="urn:microsoft.com/office/officeart/2005/8/layout/vList2"/>
    <dgm:cxn modelId="{55B43763-2AC1-4C07-AA3D-C52249392A2C}" type="presParOf" srcId="{F949890A-2675-4760-AA91-21FAAC198309}" destId="{25746BB5-3155-4B0D-82EF-FAD1152278A7}" srcOrd="4" destOrd="0" presId="urn:microsoft.com/office/officeart/2005/8/layout/vList2"/>
    <dgm:cxn modelId="{9592C086-08A7-409F-BB96-1E1565C6861F}" type="presParOf" srcId="{F949890A-2675-4760-AA91-21FAAC198309}" destId="{47D0ADA1-4174-4ADB-B0E8-9AF1A8E6C4DE}" srcOrd="5" destOrd="0" presId="urn:microsoft.com/office/officeart/2005/8/layout/vList2"/>
    <dgm:cxn modelId="{F13FB636-1183-4DB5-9FB0-8DDC82CEEB58}" type="presParOf" srcId="{F949890A-2675-4760-AA91-21FAAC198309}" destId="{0D8A274A-CB40-4506-BFFA-27F3DB6AFF27}" srcOrd="6" destOrd="0" presId="urn:microsoft.com/office/officeart/2005/8/layout/vList2"/>
    <dgm:cxn modelId="{E795BB3A-1DB3-4D32-A337-FFC5136A8E90}" type="presParOf" srcId="{F949890A-2675-4760-AA91-21FAAC198309}" destId="{40DF7D82-FA90-43D4-BFDF-1706475C4444}" srcOrd="7" destOrd="0" presId="urn:microsoft.com/office/officeart/2005/8/layout/vList2"/>
    <dgm:cxn modelId="{372B6346-87CE-429D-BB3B-7F98B5D92BE4}" type="presParOf" srcId="{F949890A-2675-4760-AA91-21FAAC198309}" destId="{BC1733C1-26B9-4991-9BC9-2B39D3CF32B6}" srcOrd="8" destOrd="0" presId="urn:microsoft.com/office/officeart/2005/8/layout/vList2"/>
    <dgm:cxn modelId="{11E6D597-C97B-494E-877D-06E47CFC3778}" type="presParOf" srcId="{F949890A-2675-4760-AA91-21FAAC198309}" destId="{1484EA9C-EC60-4923-8C8F-D3F871169F8E}" srcOrd="9" destOrd="0" presId="urn:microsoft.com/office/officeart/2005/8/layout/vList2"/>
    <dgm:cxn modelId="{7358BD81-897E-42C6-BE2B-640610F42888}" type="presParOf" srcId="{F949890A-2675-4760-AA91-21FAAC198309}" destId="{D4ACC9A5-721E-4880-9D45-C143D260BFB7}" srcOrd="10" destOrd="0" presId="urn:microsoft.com/office/officeart/2005/8/layout/vList2"/>
    <dgm:cxn modelId="{1DEC4652-B8D0-4D49-80DD-E09F1A8A8CD5}" type="presParOf" srcId="{F949890A-2675-4760-AA91-21FAAC198309}" destId="{93EBA700-6017-4D00-93BE-F4263EB25579}" srcOrd="11" destOrd="0" presId="urn:microsoft.com/office/officeart/2005/8/layout/vList2"/>
    <dgm:cxn modelId="{257F96DD-C070-40F3-AE2E-ADCFF836D01C}" type="presParOf" srcId="{F949890A-2675-4760-AA91-21FAAC198309}" destId="{9A025C7C-C896-4D3D-9E42-ADC000DEAD6E}" srcOrd="12" destOrd="0" presId="urn:microsoft.com/office/officeart/2005/8/layout/vList2"/>
    <dgm:cxn modelId="{EA4CC970-0AD7-49F0-93B7-C0A15858C64F}" type="presParOf" srcId="{F949890A-2675-4760-AA91-21FAAC198309}" destId="{7CCC4CD3-A6F6-47A2-8840-1F151995E767}" srcOrd="13" destOrd="0" presId="urn:microsoft.com/office/officeart/2005/8/layout/vList2"/>
    <dgm:cxn modelId="{C9DDFD0F-EE42-467A-892A-E4D988270199}" type="presParOf" srcId="{F949890A-2675-4760-AA91-21FAAC198309}" destId="{0F88C10D-8E1C-4175-830D-AE2A9F43B91C}" srcOrd="14" destOrd="0" presId="urn:microsoft.com/office/officeart/2005/8/layout/vList2"/>
    <dgm:cxn modelId="{168C31A2-E4DB-4EF1-81F8-5DAB9D8789D7}" type="presParOf" srcId="{F949890A-2675-4760-AA91-21FAAC198309}" destId="{63F72E99-0049-4274-9F9B-4221D4332B8F}" srcOrd="15" destOrd="0" presId="urn:microsoft.com/office/officeart/2005/8/layout/vList2"/>
    <dgm:cxn modelId="{FB19408C-7426-49AD-BF21-A7CB089DA672}" type="presParOf" srcId="{F949890A-2675-4760-AA91-21FAAC198309}" destId="{B928ED66-C329-420F-B129-0343AB4167D0}" srcOrd="16" destOrd="0" presId="urn:microsoft.com/office/officeart/2005/8/layout/vList2"/>
    <dgm:cxn modelId="{2B855CF3-E43B-4DE1-B726-114D5E394A1D}" type="presParOf" srcId="{F949890A-2675-4760-AA91-21FAAC198309}" destId="{F33CA31F-E02C-436D-890E-85DB1D48645C}" srcOrd="17" destOrd="0" presId="urn:microsoft.com/office/officeart/2005/8/layout/vList2"/>
    <dgm:cxn modelId="{62D97981-E92F-4F90-82DC-7DC1FDA1FCF3}" type="presParOf" srcId="{F949890A-2675-4760-AA91-21FAAC198309}" destId="{B14B5C91-16CA-474D-BE89-262E7AD26B1B}" srcOrd="18" destOrd="0" presId="urn:microsoft.com/office/officeart/2005/8/layout/vList2"/>
    <dgm:cxn modelId="{9CE19729-69D0-4E03-9944-246F81F49604}" type="presParOf" srcId="{F949890A-2675-4760-AA91-21FAAC198309}" destId="{B91197CC-5B8E-40EE-A55F-FA2904357E63}" srcOrd="19" destOrd="0" presId="urn:microsoft.com/office/officeart/2005/8/layout/vList2"/>
    <dgm:cxn modelId="{68F773A2-D17C-48C0-B4D2-B8D898F5B424}" type="presParOf" srcId="{F949890A-2675-4760-AA91-21FAAC198309}" destId="{D81EDBB2-7029-4D91-8933-F0DEFD6F1ECF}" srcOrd="20" destOrd="0" presId="urn:microsoft.com/office/officeart/2005/8/layout/vList2"/>
    <dgm:cxn modelId="{3A1251A7-25F0-4564-8356-1CD31BAE60EA}" type="presParOf" srcId="{F949890A-2675-4760-AA91-21FAAC198309}" destId="{D9DC4097-E2FB-4FEF-9E13-4666FFC8A34B}" srcOrd="21" destOrd="0" presId="urn:microsoft.com/office/officeart/2005/8/layout/vList2"/>
    <dgm:cxn modelId="{BB19D826-5A4D-4A6C-AD7D-F09F9AC97901}" type="presParOf" srcId="{F949890A-2675-4760-AA91-21FAAC198309}" destId="{42E4AD15-1672-4D73-BAC1-87D01A30167A}" srcOrd="22" destOrd="0" presId="urn:microsoft.com/office/officeart/2005/8/layout/vList2"/>
    <dgm:cxn modelId="{CA96215E-4103-42C3-873F-C81867A67BBF}" type="presParOf" srcId="{F949890A-2675-4760-AA91-21FAAC198309}" destId="{955ED9DD-F0BC-4020-923E-A072CB1AD6A0}" srcOrd="23" destOrd="0" presId="urn:microsoft.com/office/officeart/2005/8/layout/vList2"/>
    <dgm:cxn modelId="{924839A1-5E3C-46BB-B3DF-F1616B8DBA81}" type="presParOf" srcId="{F949890A-2675-4760-AA91-21FAAC198309}" destId="{1F051849-A172-4585-B74B-15D1FA70E40E}" srcOrd="24" destOrd="0" presId="urn:microsoft.com/office/officeart/2005/8/layout/vList2"/>
    <dgm:cxn modelId="{B3F99B76-700C-4914-B236-8F771DB974D6}" type="presParOf" srcId="{F949890A-2675-4760-AA91-21FAAC198309}" destId="{38F52AF7-7DB2-49D9-9900-F0D74BDC0DBE}" srcOrd="25" destOrd="0" presId="urn:microsoft.com/office/officeart/2005/8/layout/vList2"/>
    <dgm:cxn modelId="{2E766611-9AD8-4710-8E81-245ED0F57464}" type="presParOf" srcId="{F949890A-2675-4760-AA91-21FAAC198309}" destId="{CEA6296E-F575-4580-92E3-46ADAE54908B}" srcOrd="26" destOrd="0" presId="urn:microsoft.com/office/officeart/2005/8/layout/vList2"/>
    <dgm:cxn modelId="{60F76D73-72F6-4968-BA29-5B9613AC9729}" type="presParOf" srcId="{F949890A-2675-4760-AA91-21FAAC198309}" destId="{D4B7FBC4-71FA-4C37-B622-C6B826789B50}" srcOrd="27" destOrd="0" presId="urn:microsoft.com/office/officeart/2005/8/layout/vList2"/>
    <dgm:cxn modelId="{40F9816E-2FE0-47FA-AE0B-28F6C11E10CC}" type="presParOf" srcId="{F949890A-2675-4760-AA91-21FAAC198309}" destId="{B3F71D6D-D22E-404F-B9E6-CF24E7D85074}" srcOrd="28" destOrd="0" presId="urn:microsoft.com/office/officeart/2005/8/layout/vList2"/>
    <dgm:cxn modelId="{592B59BF-99F2-4BC7-B25A-9EECD11998BE}" type="presParOf" srcId="{F949890A-2675-4760-AA91-21FAAC198309}" destId="{A41BCE03-AB53-43F9-B564-B25285B9F739}" srcOrd="29" destOrd="0" presId="urn:microsoft.com/office/officeart/2005/8/layout/vList2"/>
    <dgm:cxn modelId="{95E765F0-828E-4AD2-8113-68B50882965F}" type="presParOf" srcId="{F949890A-2675-4760-AA91-21FAAC198309}" destId="{A20EE3E9-0636-4E85-9B22-A75489C7D9CB}" srcOrd="3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02843F6-B740-4018-8780-70773751B268}"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15323701-C10F-4D3A-A1B1-0A10F80FD922}">
      <dgm:prSet/>
      <dgm:spPr/>
      <dgm:t>
        <a:bodyPr/>
        <a:lstStyle/>
        <a:p>
          <a:r>
            <a:rPr lang="en-US" b="1" dirty="0"/>
            <a:t>What We Are Doing</a:t>
          </a:r>
          <a:r>
            <a:rPr lang="en-US" dirty="0"/>
            <a:t> </a:t>
          </a:r>
        </a:p>
        <a:p>
          <a:r>
            <a:rPr lang="en-US" dirty="0"/>
            <a:t>Building an </a:t>
          </a:r>
          <a:r>
            <a:rPr lang="en-US" b="1" dirty="0"/>
            <a:t>online shopping system</a:t>
          </a:r>
          <a:r>
            <a:rPr lang="en-US" dirty="0"/>
            <a:t> in MongoDB with: </a:t>
          </a:r>
        </a:p>
        <a:p>
          <a:r>
            <a:rPr lang="en-US" dirty="0"/>
            <a:t>- </a:t>
          </a:r>
          <a:r>
            <a:rPr lang="en-US" dirty="0" err="1"/>
            <a:t>shopdb</a:t>
          </a:r>
          <a:r>
            <a:rPr lang="en-US" dirty="0"/>
            <a:t> as the database, </a:t>
          </a:r>
        </a:p>
        <a:p>
          <a:r>
            <a:rPr lang="en-US" dirty="0"/>
            <a:t>- customers, products, and orders as the core collections. </a:t>
          </a:r>
        </a:p>
        <a:p>
          <a:r>
            <a:rPr lang="en-US" dirty="0"/>
            <a:t>Focus on MongoDB: </a:t>
          </a:r>
        </a:p>
        <a:p>
          <a:r>
            <a:rPr lang="en-US" dirty="0"/>
            <a:t>- Updates, aggregation, and </a:t>
          </a:r>
          <a:r>
            <a:rPr lang="en-US" b="1" dirty="0"/>
            <a:t>performance timing</a:t>
          </a:r>
          <a:r>
            <a:rPr lang="en-US" dirty="0"/>
            <a:t> of queries.</a:t>
          </a:r>
        </a:p>
      </dgm:t>
    </dgm:pt>
    <dgm:pt modelId="{25CE2ACD-828E-498D-A576-E220F51B5651}" type="parTrans" cxnId="{8D5F1347-E195-4C9F-9A1A-86794FF4F0C9}">
      <dgm:prSet/>
      <dgm:spPr/>
      <dgm:t>
        <a:bodyPr/>
        <a:lstStyle/>
        <a:p>
          <a:endParaRPr lang="en-US"/>
        </a:p>
      </dgm:t>
    </dgm:pt>
    <dgm:pt modelId="{82AD32C1-AA92-4C7C-B8DB-3A47DAFD3478}" type="sibTrans" cxnId="{8D5F1347-E195-4C9F-9A1A-86794FF4F0C9}">
      <dgm:prSet/>
      <dgm:spPr/>
      <dgm:t>
        <a:bodyPr/>
        <a:lstStyle/>
        <a:p>
          <a:endParaRPr lang="en-US"/>
        </a:p>
      </dgm:t>
    </dgm:pt>
    <dgm:pt modelId="{2960164A-CDBF-4793-A97D-D58525662141}">
      <dgm:prSet/>
      <dgm:spPr/>
      <dgm:t>
        <a:bodyPr/>
        <a:lstStyle/>
        <a:p>
          <a:r>
            <a:rPr lang="en-US" b="1"/>
            <a:t>Reference‑Style Workflow</a:t>
          </a:r>
          <a:r>
            <a:rPr lang="en-US"/>
            <a:t> - Generate large fake datasets with Python + Faker (100K+ customers, 50K+ products, 100K+ orders). - Intentionally create a small fraction of bad records (missing email, missing category, empty orders, invalid payment_status). - Run prep tasks to clean and normalize data. - Solve </a:t>
          </a:r>
          <a:r>
            <a:rPr lang="en-US" b="1"/>
            <a:t>11 MongoDB tasks</a:t>
          </a:r>
          <a:r>
            <a:rPr lang="en-US"/>
            <a:t> in mongosh. - For </a:t>
          </a:r>
          <a:r>
            <a:rPr lang="en-US" b="1"/>
            <a:t>every task</a:t>
          </a:r>
          <a:r>
            <a:rPr lang="en-US"/>
            <a:t>, run it </a:t>
          </a:r>
          <a:r>
            <a:rPr lang="en-US" b="1"/>
            <a:t>10 times</a:t>
          </a:r>
          <a:r>
            <a:rPr lang="en-US"/>
            <a:t> and compute its </a:t>
          </a:r>
          <a:r>
            <a:rPr lang="en-US" b="1"/>
            <a:t>average execution time</a:t>
          </a:r>
          <a:r>
            <a:rPr lang="en-US"/>
            <a:t>. - Deliverables: Solutions.txt, Python scripts, and screenshots.</a:t>
          </a:r>
          <a:endParaRPr lang="en-US" dirty="0"/>
        </a:p>
      </dgm:t>
    </dgm:pt>
    <dgm:pt modelId="{5D2DC0F9-B9D7-4A93-996C-21A1A4912335}" type="parTrans" cxnId="{5715B5EE-57C1-4888-8D8C-E2069F0EAD72}">
      <dgm:prSet/>
      <dgm:spPr/>
      <dgm:t>
        <a:bodyPr/>
        <a:lstStyle/>
        <a:p>
          <a:endParaRPr lang="en-US"/>
        </a:p>
      </dgm:t>
    </dgm:pt>
    <dgm:pt modelId="{FFBF2C1E-5995-469B-9E5A-8834924941C3}" type="sibTrans" cxnId="{5715B5EE-57C1-4888-8D8C-E2069F0EAD72}">
      <dgm:prSet/>
      <dgm:spPr/>
      <dgm:t>
        <a:bodyPr/>
        <a:lstStyle/>
        <a:p>
          <a:endParaRPr lang="en-US"/>
        </a:p>
      </dgm:t>
    </dgm:pt>
    <dgm:pt modelId="{C9A8E5F3-9B45-4139-9689-92AB6AA6C5C3}" type="pres">
      <dgm:prSet presAssocID="{F02843F6-B740-4018-8780-70773751B268}" presName="linear" presStyleCnt="0">
        <dgm:presLayoutVars>
          <dgm:animLvl val="lvl"/>
          <dgm:resizeHandles val="exact"/>
        </dgm:presLayoutVars>
      </dgm:prSet>
      <dgm:spPr/>
    </dgm:pt>
    <dgm:pt modelId="{49AAC4AF-D498-4750-BAA4-510BDDB05994}" type="pres">
      <dgm:prSet presAssocID="{15323701-C10F-4D3A-A1B1-0A10F80FD922}" presName="parentText" presStyleLbl="node1" presStyleIdx="0" presStyleCnt="2">
        <dgm:presLayoutVars>
          <dgm:chMax val="0"/>
          <dgm:bulletEnabled val="1"/>
        </dgm:presLayoutVars>
      </dgm:prSet>
      <dgm:spPr/>
    </dgm:pt>
    <dgm:pt modelId="{F5EEEDB1-31A3-4347-8C47-3E45DEC129D4}" type="pres">
      <dgm:prSet presAssocID="{82AD32C1-AA92-4C7C-B8DB-3A47DAFD3478}" presName="spacer" presStyleCnt="0"/>
      <dgm:spPr/>
    </dgm:pt>
    <dgm:pt modelId="{8FD6FC5C-A6C6-4166-9CD6-7ADFB8D29217}" type="pres">
      <dgm:prSet presAssocID="{2960164A-CDBF-4793-A97D-D58525662141}" presName="parentText" presStyleLbl="node1" presStyleIdx="1" presStyleCnt="2">
        <dgm:presLayoutVars>
          <dgm:chMax val="0"/>
          <dgm:bulletEnabled val="1"/>
        </dgm:presLayoutVars>
      </dgm:prSet>
      <dgm:spPr/>
    </dgm:pt>
  </dgm:ptLst>
  <dgm:cxnLst>
    <dgm:cxn modelId="{3EC72912-5DD4-4922-8A02-F4EBAA0BF836}" type="presOf" srcId="{15323701-C10F-4D3A-A1B1-0A10F80FD922}" destId="{49AAC4AF-D498-4750-BAA4-510BDDB05994}" srcOrd="0" destOrd="0" presId="urn:microsoft.com/office/officeart/2005/8/layout/vList2"/>
    <dgm:cxn modelId="{8D5F1347-E195-4C9F-9A1A-86794FF4F0C9}" srcId="{F02843F6-B740-4018-8780-70773751B268}" destId="{15323701-C10F-4D3A-A1B1-0A10F80FD922}" srcOrd="0" destOrd="0" parTransId="{25CE2ACD-828E-498D-A576-E220F51B5651}" sibTransId="{82AD32C1-AA92-4C7C-B8DB-3A47DAFD3478}"/>
    <dgm:cxn modelId="{DBBFCBA1-BF6C-4C0B-ACAB-58A1366B524C}" type="presOf" srcId="{2960164A-CDBF-4793-A97D-D58525662141}" destId="{8FD6FC5C-A6C6-4166-9CD6-7ADFB8D29217}" srcOrd="0" destOrd="0" presId="urn:microsoft.com/office/officeart/2005/8/layout/vList2"/>
    <dgm:cxn modelId="{5406E2E2-8E4E-4F0E-B6EC-D227E6925389}" type="presOf" srcId="{F02843F6-B740-4018-8780-70773751B268}" destId="{C9A8E5F3-9B45-4139-9689-92AB6AA6C5C3}" srcOrd="0" destOrd="0" presId="urn:microsoft.com/office/officeart/2005/8/layout/vList2"/>
    <dgm:cxn modelId="{5715B5EE-57C1-4888-8D8C-E2069F0EAD72}" srcId="{F02843F6-B740-4018-8780-70773751B268}" destId="{2960164A-CDBF-4793-A97D-D58525662141}" srcOrd="1" destOrd="0" parTransId="{5D2DC0F9-B9D7-4A93-996C-21A1A4912335}" sibTransId="{FFBF2C1E-5995-469B-9E5A-8834924941C3}"/>
    <dgm:cxn modelId="{FA1806C6-6A83-478F-886E-7D575FAA12FC}" type="presParOf" srcId="{C9A8E5F3-9B45-4139-9689-92AB6AA6C5C3}" destId="{49AAC4AF-D498-4750-BAA4-510BDDB05994}" srcOrd="0" destOrd="0" presId="urn:microsoft.com/office/officeart/2005/8/layout/vList2"/>
    <dgm:cxn modelId="{ED943AD7-61CF-44BC-9200-4E324D1DF7DB}" type="presParOf" srcId="{C9A8E5F3-9B45-4139-9689-92AB6AA6C5C3}" destId="{F5EEEDB1-31A3-4347-8C47-3E45DEC129D4}" srcOrd="1" destOrd="0" presId="urn:microsoft.com/office/officeart/2005/8/layout/vList2"/>
    <dgm:cxn modelId="{B1F36A3F-5327-4934-99FD-377D76DCBAF8}" type="presParOf" srcId="{C9A8E5F3-9B45-4139-9689-92AB6AA6C5C3}" destId="{8FD6FC5C-A6C6-4166-9CD6-7ADFB8D29217}"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0D03B66-68FA-46C5-963E-C17E74124BE6}"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3B3DF809-EC07-436A-B3DC-02E6C4B74894}">
      <dgm:prSet/>
      <dgm:spPr/>
      <dgm:t>
        <a:bodyPr/>
        <a:lstStyle/>
        <a:p>
          <a:pPr>
            <a:lnSpc>
              <a:spcPct val="100000"/>
            </a:lnSpc>
          </a:pPr>
          <a:r>
            <a:rPr lang="en-US" b="1"/>
            <a:t>Customers</a:t>
          </a:r>
          <a:endParaRPr lang="en-US"/>
        </a:p>
      </dgm:t>
    </dgm:pt>
    <dgm:pt modelId="{643492CF-3A98-4085-95D2-7F99E81165C2}" type="parTrans" cxnId="{2AFD3BAA-EE7F-43D1-9BAE-A6159A92109B}">
      <dgm:prSet/>
      <dgm:spPr/>
      <dgm:t>
        <a:bodyPr/>
        <a:lstStyle/>
        <a:p>
          <a:endParaRPr lang="en-US"/>
        </a:p>
      </dgm:t>
    </dgm:pt>
    <dgm:pt modelId="{9CEBB504-8A96-4D2C-9B04-B3D3881C7ADE}" type="sibTrans" cxnId="{2AFD3BAA-EE7F-43D1-9BAE-A6159A92109B}">
      <dgm:prSet/>
      <dgm:spPr/>
      <dgm:t>
        <a:bodyPr/>
        <a:lstStyle/>
        <a:p>
          <a:endParaRPr lang="en-US"/>
        </a:p>
      </dgm:t>
    </dgm:pt>
    <dgm:pt modelId="{DDED7399-EDD3-4034-8734-3FEB4EBA7AD4}">
      <dgm:prSet/>
      <dgm:spPr/>
      <dgm:t>
        <a:bodyPr/>
        <a:lstStyle/>
        <a:p>
          <a:endParaRPr lang="en-US"/>
        </a:p>
      </dgm:t>
    </dgm:pt>
    <dgm:pt modelId="{7A121D65-6A77-4973-B063-4B7F52270CB1}" type="parTrans" cxnId="{3F38A058-C66B-4DAC-9271-7A76E036A172}">
      <dgm:prSet/>
      <dgm:spPr/>
      <dgm:t>
        <a:bodyPr/>
        <a:lstStyle/>
        <a:p>
          <a:endParaRPr lang="en-US"/>
        </a:p>
      </dgm:t>
    </dgm:pt>
    <dgm:pt modelId="{0A4C8A17-4316-4A8F-A007-8EFE73F8A397}" type="sibTrans" cxnId="{3F38A058-C66B-4DAC-9271-7A76E036A172}">
      <dgm:prSet/>
      <dgm:spPr/>
      <dgm:t>
        <a:bodyPr/>
        <a:lstStyle/>
        <a:p>
          <a:endParaRPr lang="en-US"/>
        </a:p>
      </dgm:t>
    </dgm:pt>
    <dgm:pt modelId="{7A29BCAC-5978-4D78-AD3C-9A030D338BC4}">
      <dgm:prSet/>
      <dgm:spPr/>
      <dgm:t>
        <a:bodyPr/>
        <a:lstStyle/>
        <a:p>
          <a:pPr>
            <a:lnSpc>
              <a:spcPct val="100000"/>
            </a:lnSpc>
          </a:pPr>
          <a:r>
            <a:rPr lang="en-US" b="1"/>
            <a:t>Products</a:t>
          </a:r>
          <a:endParaRPr lang="en-US"/>
        </a:p>
      </dgm:t>
    </dgm:pt>
    <dgm:pt modelId="{302EEEC5-3A37-4655-9DBE-A5533DEB3B47}" type="parTrans" cxnId="{5F662DB2-0189-418C-BA85-CBE657C8B71D}">
      <dgm:prSet/>
      <dgm:spPr/>
      <dgm:t>
        <a:bodyPr/>
        <a:lstStyle/>
        <a:p>
          <a:endParaRPr lang="en-US"/>
        </a:p>
      </dgm:t>
    </dgm:pt>
    <dgm:pt modelId="{05911125-237B-4BB7-B3F3-347A0DCF56E9}" type="sibTrans" cxnId="{5F662DB2-0189-418C-BA85-CBE657C8B71D}">
      <dgm:prSet/>
      <dgm:spPr/>
      <dgm:t>
        <a:bodyPr/>
        <a:lstStyle/>
        <a:p>
          <a:endParaRPr lang="en-US"/>
        </a:p>
      </dgm:t>
    </dgm:pt>
    <dgm:pt modelId="{11FF1516-FD62-4BAD-9EAF-014097F63670}">
      <dgm:prSet/>
      <dgm:spPr/>
      <dgm:t>
        <a:bodyPr/>
        <a:lstStyle/>
        <a:p>
          <a:endParaRPr lang="en-US"/>
        </a:p>
      </dgm:t>
    </dgm:pt>
    <dgm:pt modelId="{80C4DCC9-162E-48B6-83BB-90373FFC03A8}" type="parTrans" cxnId="{8D267FAE-C695-4DFA-B944-8EACC1898D56}">
      <dgm:prSet/>
      <dgm:spPr/>
      <dgm:t>
        <a:bodyPr/>
        <a:lstStyle/>
        <a:p>
          <a:endParaRPr lang="en-US"/>
        </a:p>
      </dgm:t>
    </dgm:pt>
    <dgm:pt modelId="{D84A6007-08E8-4EDB-AA12-DDC1B5E46337}" type="sibTrans" cxnId="{8D267FAE-C695-4DFA-B944-8EACC1898D56}">
      <dgm:prSet/>
      <dgm:spPr/>
      <dgm:t>
        <a:bodyPr/>
        <a:lstStyle/>
        <a:p>
          <a:endParaRPr lang="en-US"/>
        </a:p>
      </dgm:t>
    </dgm:pt>
    <dgm:pt modelId="{DA12AA1B-4286-4169-AA50-8423B7C5CE1D}">
      <dgm:prSet/>
      <dgm:spPr/>
      <dgm:t>
        <a:bodyPr/>
        <a:lstStyle/>
        <a:p>
          <a:pPr>
            <a:lnSpc>
              <a:spcPct val="100000"/>
            </a:lnSpc>
          </a:pPr>
          <a:r>
            <a:rPr lang="en-US" b="1"/>
            <a:t>Orders</a:t>
          </a:r>
          <a:endParaRPr lang="en-US"/>
        </a:p>
      </dgm:t>
    </dgm:pt>
    <dgm:pt modelId="{7CEE0862-EB92-493A-A5D0-3F71D752FF9E}" type="parTrans" cxnId="{1A8DC766-7A99-43A3-97B3-5B5DFFBF95C9}">
      <dgm:prSet/>
      <dgm:spPr/>
      <dgm:t>
        <a:bodyPr/>
        <a:lstStyle/>
        <a:p>
          <a:endParaRPr lang="en-US"/>
        </a:p>
      </dgm:t>
    </dgm:pt>
    <dgm:pt modelId="{E64ED71E-E011-46E6-96A7-77754BD865BD}" type="sibTrans" cxnId="{1A8DC766-7A99-43A3-97B3-5B5DFFBF95C9}">
      <dgm:prSet/>
      <dgm:spPr/>
      <dgm:t>
        <a:bodyPr/>
        <a:lstStyle/>
        <a:p>
          <a:endParaRPr lang="en-US"/>
        </a:p>
      </dgm:t>
    </dgm:pt>
    <dgm:pt modelId="{EEF0AB2B-095E-4AD6-8658-94690B3B473A}">
      <dgm:prSet/>
      <dgm:spPr/>
      <dgm:t>
        <a:bodyPr/>
        <a:lstStyle/>
        <a:p>
          <a:endParaRPr lang="en-US"/>
        </a:p>
      </dgm:t>
    </dgm:pt>
    <dgm:pt modelId="{687D5EA5-55B0-4721-BF74-0A5A7C7BF515}" type="parTrans" cxnId="{E220A778-DA17-4D06-9CC4-21D2B4109B93}">
      <dgm:prSet/>
      <dgm:spPr/>
      <dgm:t>
        <a:bodyPr/>
        <a:lstStyle/>
        <a:p>
          <a:endParaRPr lang="en-US"/>
        </a:p>
      </dgm:t>
    </dgm:pt>
    <dgm:pt modelId="{193BCBF1-5714-47ED-ADB5-EB495B73CA2B}" type="sibTrans" cxnId="{E220A778-DA17-4D06-9CC4-21D2B4109B93}">
      <dgm:prSet/>
      <dgm:spPr/>
      <dgm:t>
        <a:bodyPr/>
        <a:lstStyle/>
        <a:p>
          <a:endParaRPr lang="en-US"/>
        </a:p>
      </dgm:t>
    </dgm:pt>
    <dgm:pt modelId="{910F33FC-A88B-45F5-8CE5-3320FDDDB7A3}" type="pres">
      <dgm:prSet presAssocID="{30D03B66-68FA-46C5-963E-C17E74124BE6}" presName="root" presStyleCnt="0">
        <dgm:presLayoutVars>
          <dgm:dir/>
          <dgm:resizeHandles val="exact"/>
        </dgm:presLayoutVars>
      </dgm:prSet>
      <dgm:spPr/>
    </dgm:pt>
    <dgm:pt modelId="{9396C947-F88C-4A1B-A00E-5E3631A4174E}" type="pres">
      <dgm:prSet presAssocID="{3B3DF809-EC07-436A-B3DC-02E6C4B74894}" presName="compNode" presStyleCnt="0"/>
      <dgm:spPr/>
    </dgm:pt>
    <dgm:pt modelId="{C48928FA-0F1A-46B4-8441-B29E34C0F1C1}" type="pres">
      <dgm:prSet presAssocID="{3B3DF809-EC07-436A-B3DC-02E6C4B74894}"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ustomer Review"/>
        </a:ext>
      </dgm:extLst>
    </dgm:pt>
    <dgm:pt modelId="{06D24AF7-4038-4C8D-9F45-631DB17D61C4}" type="pres">
      <dgm:prSet presAssocID="{3B3DF809-EC07-436A-B3DC-02E6C4B74894}" presName="spaceRect" presStyleCnt="0"/>
      <dgm:spPr/>
    </dgm:pt>
    <dgm:pt modelId="{379C216B-AE1A-45CF-89C3-909343CE0493}" type="pres">
      <dgm:prSet presAssocID="{3B3DF809-EC07-436A-B3DC-02E6C4B74894}" presName="textRect" presStyleLbl="revTx" presStyleIdx="0" presStyleCnt="3">
        <dgm:presLayoutVars>
          <dgm:chMax val="1"/>
          <dgm:chPref val="1"/>
        </dgm:presLayoutVars>
      </dgm:prSet>
      <dgm:spPr/>
    </dgm:pt>
    <dgm:pt modelId="{A06A1260-1B90-4D67-95E1-3D03902894F4}" type="pres">
      <dgm:prSet presAssocID="{9CEBB504-8A96-4D2C-9B04-B3D3881C7ADE}" presName="sibTrans" presStyleCnt="0"/>
      <dgm:spPr/>
    </dgm:pt>
    <dgm:pt modelId="{9C548851-FBDB-4659-A0B3-CCF8BD24578E}" type="pres">
      <dgm:prSet presAssocID="{7A29BCAC-5978-4D78-AD3C-9A030D338BC4}" presName="compNode" presStyleCnt="0"/>
      <dgm:spPr/>
    </dgm:pt>
    <dgm:pt modelId="{4124E679-A82C-4A9E-BC67-60EE4542592E}" type="pres">
      <dgm:prSet presAssocID="{7A29BCAC-5978-4D78-AD3C-9A030D338BC4}"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ploma Roll"/>
        </a:ext>
      </dgm:extLst>
    </dgm:pt>
    <dgm:pt modelId="{BB61490A-FFF5-40A3-88E1-E6A99EBE226D}" type="pres">
      <dgm:prSet presAssocID="{7A29BCAC-5978-4D78-AD3C-9A030D338BC4}" presName="spaceRect" presStyleCnt="0"/>
      <dgm:spPr/>
    </dgm:pt>
    <dgm:pt modelId="{04EA2908-BE85-4FF8-9982-B97E69FFFFC6}" type="pres">
      <dgm:prSet presAssocID="{7A29BCAC-5978-4D78-AD3C-9A030D338BC4}" presName="textRect" presStyleLbl="revTx" presStyleIdx="1" presStyleCnt="3">
        <dgm:presLayoutVars>
          <dgm:chMax val="1"/>
          <dgm:chPref val="1"/>
        </dgm:presLayoutVars>
      </dgm:prSet>
      <dgm:spPr/>
    </dgm:pt>
    <dgm:pt modelId="{4AA93D6E-BFEB-4BAA-A3AA-F824A40F7428}" type="pres">
      <dgm:prSet presAssocID="{05911125-237B-4BB7-B3F3-347A0DCF56E9}" presName="sibTrans" presStyleCnt="0"/>
      <dgm:spPr/>
    </dgm:pt>
    <dgm:pt modelId="{4B8D3DEC-3AED-4C8F-8B49-A3685EC5A379}" type="pres">
      <dgm:prSet presAssocID="{DA12AA1B-4286-4169-AA50-8423B7C5CE1D}" presName="compNode" presStyleCnt="0"/>
      <dgm:spPr/>
    </dgm:pt>
    <dgm:pt modelId="{260E6990-C9BC-4DAA-97D5-6571B8449A99}" type="pres">
      <dgm:prSet presAssocID="{DA12AA1B-4286-4169-AA50-8423B7C5CE1D}"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hopping cart"/>
        </a:ext>
      </dgm:extLst>
    </dgm:pt>
    <dgm:pt modelId="{89592776-D2D9-45A9-A534-B3C67A7701DE}" type="pres">
      <dgm:prSet presAssocID="{DA12AA1B-4286-4169-AA50-8423B7C5CE1D}" presName="spaceRect" presStyleCnt="0"/>
      <dgm:spPr/>
    </dgm:pt>
    <dgm:pt modelId="{05E1DCF7-40D8-438E-9E28-D7F6D98F029C}" type="pres">
      <dgm:prSet presAssocID="{DA12AA1B-4286-4169-AA50-8423B7C5CE1D}" presName="textRect" presStyleLbl="revTx" presStyleIdx="2" presStyleCnt="3">
        <dgm:presLayoutVars>
          <dgm:chMax val="1"/>
          <dgm:chPref val="1"/>
        </dgm:presLayoutVars>
      </dgm:prSet>
      <dgm:spPr/>
    </dgm:pt>
  </dgm:ptLst>
  <dgm:cxnLst>
    <dgm:cxn modelId="{53488D37-4BDF-4602-BF73-B6195986A459}" type="presOf" srcId="{DA12AA1B-4286-4169-AA50-8423B7C5CE1D}" destId="{05E1DCF7-40D8-438E-9E28-D7F6D98F029C}" srcOrd="0" destOrd="0" presId="urn:microsoft.com/office/officeart/2018/2/layout/IconLabelList"/>
    <dgm:cxn modelId="{DE52AE5B-15D0-4FD7-A9AB-003BD4FA7D3D}" type="presOf" srcId="{7A29BCAC-5978-4D78-AD3C-9A030D338BC4}" destId="{04EA2908-BE85-4FF8-9982-B97E69FFFFC6}" srcOrd="0" destOrd="0" presId="urn:microsoft.com/office/officeart/2018/2/layout/IconLabelList"/>
    <dgm:cxn modelId="{1A8DC766-7A99-43A3-97B3-5B5DFFBF95C9}" srcId="{30D03B66-68FA-46C5-963E-C17E74124BE6}" destId="{DA12AA1B-4286-4169-AA50-8423B7C5CE1D}" srcOrd="2" destOrd="0" parTransId="{7CEE0862-EB92-493A-A5D0-3F71D752FF9E}" sibTransId="{E64ED71E-E011-46E6-96A7-77754BD865BD}"/>
    <dgm:cxn modelId="{028D764E-AAE3-4901-ABD6-7D9588DF98A1}" type="presOf" srcId="{3B3DF809-EC07-436A-B3DC-02E6C4B74894}" destId="{379C216B-AE1A-45CF-89C3-909343CE0493}" srcOrd="0" destOrd="0" presId="urn:microsoft.com/office/officeart/2018/2/layout/IconLabelList"/>
    <dgm:cxn modelId="{3F38A058-C66B-4DAC-9271-7A76E036A172}" srcId="{3B3DF809-EC07-436A-B3DC-02E6C4B74894}" destId="{DDED7399-EDD3-4034-8734-3FEB4EBA7AD4}" srcOrd="0" destOrd="0" parTransId="{7A121D65-6A77-4973-B063-4B7F52270CB1}" sibTransId="{0A4C8A17-4316-4A8F-A007-8EFE73F8A397}"/>
    <dgm:cxn modelId="{E220A778-DA17-4D06-9CC4-21D2B4109B93}" srcId="{DA12AA1B-4286-4169-AA50-8423B7C5CE1D}" destId="{EEF0AB2B-095E-4AD6-8658-94690B3B473A}" srcOrd="0" destOrd="0" parTransId="{687D5EA5-55B0-4721-BF74-0A5A7C7BF515}" sibTransId="{193BCBF1-5714-47ED-ADB5-EB495B73CA2B}"/>
    <dgm:cxn modelId="{A69B5479-5FE4-4A2C-B05B-C08655A57EF8}" type="presOf" srcId="{30D03B66-68FA-46C5-963E-C17E74124BE6}" destId="{910F33FC-A88B-45F5-8CE5-3320FDDDB7A3}" srcOrd="0" destOrd="0" presId="urn:microsoft.com/office/officeart/2018/2/layout/IconLabelList"/>
    <dgm:cxn modelId="{2AFD3BAA-EE7F-43D1-9BAE-A6159A92109B}" srcId="{30D03B66-68FA-46C5-963E-C17E74124BE6}" destId="{3B3DF809-EC07-436A-B3DC-02E6C4B74894}" srcOrd="0" destOrd="0" parTransId="{643492CF-3A98-4085-95D2-7F99E81165C2}" sibTransId="{9CEBB504-8A96-4D2C-9B04-B3D3881C7ADE}"/>
    <dgm:cxn modelId="{8D267FAE-C695-4DFA-B944-8EACC1898D56}" srcId="{7A29BCAC-5978-4D78-AD3C-9A030D338BC4}" destId="{11FF1516-FD62-4BAD-9EAF-014097F63670}" srcOrd="0" destOrd="0" parTransId="{80C4DCC9-162E-48B6-83BB-90373FFC03A8}" sibTransId="{D84A6007-08E8-4EDB-AA12-DDC1B5E46337}"/>
    <dgm:cxn modelId="{5F662DB2-0189-418C-BA85-CBE657C8B71D}" srcId="{30D03B66-68FA-46C5-963E-C17E74124BE6}" destId="{7A29BCAC-5978-4D78-AD3C-9A030D338BC4}" srcOrd="1" destOrd="0" parTransId="{302EEEC5-3A37-4655-9DBE-A5533DEB3B47}" sibTransId="{05911125-237B-4BB7-B3F3-347A0DCF56E9}"/>
    <dgm:cxn modelId="{FB8221B0-AD42-46CC-B6AF-28348568857B}" type="presParOf" srcId="{910F33FC-A88B-45F5-8CE5-3320FDDDB7A3}" destId="{9396C947-F88C-4A1B-A00E-5E3631A4174E}" srcOrd="0" destOrd="0" presId="urn:microsoft.com/office/officeart/2018/2/layout/IconLabelList"/>
    <dgm:cxn modelId="{D37D30E9-4015-4FE6-87F7-9D63071C6CB8}" type="presParOf" srcId="{9396C947-F88C-4A1B-A00E-5E3631A4174E}" destId="{C48928FA-0F1A-46B4-8441-B29E34C0F1C1}" srcOrd="0" destOrd="0" presId="urn:microsoft.com/office/officeart/2018/2/layout/IconLabelList"/>
    <dgm:cxn modelId="{A43974FA-2F10-4FE5-A60C-6EFB229D214C}" type="presParOf" srcId="{9396C947-F88C-4A1B-A00E-5E3631A4174E}" destId="{06D24AF7-4038-4C8D-9F45-631DB17D61C4}" srcOrd="1" destOrd="0" presId="urn:microsoft.com/office/officeart/2018/2/layout/IconLabelList"/>
    <dgm:cxn modelId="{C138D2CE-155B-477E-B9BE-DFE97529F8F9}" type="presParOf" srcId="{9396C947-F88C-4A1B-A00E-5E3631A4174E}" destId="{379C216B-AE1A-45CF-89C3-909343CE0493}" srcOrd="2" destOrd="0" presId="urn:microsoft.com/office/officeart/2018/2/layout/IconLabelList"/>
    <dgm:cxn modelId="{E262D8A3-88AE-4DEF-90DD-7F4DB9EB6DB0}" type="presParOf" srcId="{910F33FC-A88B-45F5-8CE5-3320FDDDB7A3}" destId="{A06A1260-1B90-4D67-95E1-3D03902894F4}" srcOrd="1" destOrd="0" presId="urn:microsoft.com/office/officeart/2018/2/layout/IconLabelList"/>
    <dgm:cxn modelId="{BD1D0E4C-9637-433A-BA9C-D83A76FDC62A}" type="presParOf" srcId="{910F33FC-A88B-45F5-8CE5-3320FDDDB7A3}" destId="{9C548851-FBDB-4659-A0B3-CCF8BD24578E}" srcOrd="2" destOrd="0" presId="urn:microsoft.com/office/officeart/2018/2/layout/IconLabelList"/>
    <dgm:cxn modelId="{5C6C4CF3-03A6-4B5D-BCA2-65BD4598B229}" type="presParOf" srcId="{9C548851-FBDB-4659-A0B3-CCF8BD24578E}" destId="{4124E679-A82C-4A9E-BC67-60EE4542592E}" srcOrd="0" destOrd="0" presId="urn:microsoft.com/office/officeart/2018/2/layout/IconLabelList"/>
    <dgm:cxn modelId="{AC9EF762-3F15-4C13-A30E-C0C012378996}" type="presParOf" srcId="{9C548851-FBDB-4659-A0B3-CCF8BD24578E}" destId="{BB61490A-FFF5-40A3-88E1-E6A99EBE226D}" srcOrd="1" destOrd="0" presId="urn:microsoft.com/office/officeart/2018/2/layout/IconLabelList"/>
    <dgm:cxn modelId="{87A425C8-7FFE-4A2D-8445-908FC7B0C0B7}" type="presParOf" srcId="{9C548851-FBDB-4659-A0B3-CCF8BD24578E}" destId="{04EA2908-BE85-4FF8-9982-B97E69FFFFC6}" srcOrd="2" destOrd="0" presId="urn:microsoft.com/office/officeart/2018/2/layout/IconLabelList"/>
    <dgm:cxn modelId="{653A9F1C-8003-4F33-8518-611F45CDEA9A}" type="presParOf" srcId="{910F33FC-A88B-45F5-8CE5-3320FDDDB7A3}" destId="{4AA93D6E-BFEB-4BAA-A3AA-F824A40F7428}" srcOrd="3" destOrd="0" presId="urn:microsoft.com/office/officeart/2018/2/layout/IconLabelList"/>
    <dgm:cxn modelId="{EF4B1325-532A-4C55-AF85-2CA1EB8DF28C}" type="presParOf" srcId="{910F33FC-A88B-45F5-8CE5-3320FDDDB7A3}" destId="{4B8D3DEC-3AED-4C8F-8B49-A3685EC5A379}" srcOrd="4" destOrd="0" presId="urn:microsoft.com/office/officeart/2018/2/layout/IconLabelList"/>
    <dgm:cxn modelId="{6F05C061-EE33-4CA6-A9D4-D2E6279412C4}" type="presParOf" srcId="{4B8D3DEC-3AED-4C8F-8B49-A3685EC5A379}" destId="{260E6990-C9BC-4DAA-97D5-6571B8449A99}" srcOrd="0" destOrd="0" presId="urn:microsoft.com/office/officeart/2018/2/layout/IconLabelList"/>
    <dgm:cxn modelId="{3897B838-07B4-408B-9DFB-0DD5D1387D96}" type="presParOf" srcId="{4B8D3DEC-3AED-4C8F-8B49-A3685EC5A379}" destId="{89592776-D2D9-45A9-A534-B3C67A7701DE}" srcOrd="1" destOrd="0" presId="urn:microsoft.com/office/officeart/2018/2/layout/IconLabelList"/>
    <dgm:cxn modelId="{23682779-8B23-43B4-BD8F-137ECF2EF273}" type="presParOf" srcId="{4B8D3DEC-3AED-4C8F-8B49-A3685EC5A379}" destId="{05E1DCF7-40D8-438E-9E28-D7F6D98F029C}"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A85724E-6579-4C31-9716-CED5EA091497}" type="doc">
      <dgm:prSet loTypeId="urn:microsoft.com/office/officeart/2005/8/layout/process4" loCatId="process" qsTypeId="urn:microsoft.com/office/officeart/2005/8/quickstyle/simple1" qsCatId="simple" csTypeId="urn:microsoft.com/office/officeart/2005/8/colors/colorful1" csCatId="colorful"/>
      <dgm:spPr/>
      <dgm:t>
        <a:bodyPr/>
        <a:lstStyle/>
        <a:p>
          <a:endParaRPr lang="en-US"/>
        </a:p>
      </dgm:t>
    </dgm:pt>
    <dgm:pt modelId="{92F00BE4-8E35-47DE-A7E5-32AD43FD576B}">
      <dgm:prSet/>
      <dgm:spPr/>
      <dgm:t>
        <a:bodyPr/>
        <a:lstStyle/>
        <a:p>
          <a:r>
            <a:rPr lang="en-US" b="1"/>
            <a:t>Data Generation &amp; Cleaning</a:t>
          </a:r>
          <a:r>
            <a:rPr lang="en-US"/>
            <a:t> - Used Python + Faker to generate customers, products, and orders. - Introduced imperfect records (missing email, missing category, empty orders, invalid payment_status). - Performed MongoDB prep tasks: - Check counts (countDocuments). - Fix missing email → "unknown@example.com". - Fix missing category → "Misc". - Remove empty orders (items: []). - Normalize invalid payment_status → "pending".</a:t>
          </a:r>
        </a:p>
      </dgm:t>
    </dgm:pt>
    <dgm:pt modelId="{BC72CFF0-DBBA-440B-9336-0BE7DFFB1FED}" type="parTrans" cxnId="{15328D25-3775-4EB3-97CB-D7350B0FC59D}">
      <dgm:prSet/>
      <dgm:spPr/>
      <dgm:t>
        <a:bodyPr/>
        <a:lstStyle/>
        <a:p>
          <a:endParaRPr lang="en-US"/>
        </a:p>
      </dgm:t>
    </dgm:pt>
    <dgm:pt modelId="{7E1EAEEA-286B-4BCD-9636-C73CBB6B2592}" type="sibTrans" cxnId="{15328D25-3775-4EB3-97CB-D7350B0FC59D}">
      <dgm:prSet/>
      <dgm:spPr/>
      <dgm:t>
        <a:bodyPr/>
        <a:lstStyle/>
        <a:p>
          <a:endParaRPr lang="en-US"/>
        </a:p>
      </dgm:t>
    </dgm:pt>
    <dgm:pt modelId="{CC3D449D-E46F-4DDF-84A6-B5482D3EC0FE}">
      <dgm:prSet/>
      <dgm:spPr/>
      <dgm:t>
        <a:bodyPr/>
        <a:lstStyle/>
        <a:p>
          <a:r>
            <a:rPr lang="en-US" b="1"/>
            <a:t>Performance</a:t>
          </a:r>
          <a:r>
            <a:rPr lang="en-US"/>
            <a:t> - For each task, ran </a:t>
          </a:r>
          <a:r>
            <a:rPr lang="en-US" b="1"/>
            <a:t>10 executions</a:t>
          </a:r>
          <a:r>
            <a:rPr lang="en-US"/>
            <a:t> and computed the </a:t>
          </a:r>
          <a:r>
            <a:rPr lang="en-US" b="1"/>
            <a:t>average execution time</a:t>
          </a:r>
          <a:r>
            <a:rPr lang="en-US"/>
            <a:t> to analyze query performance.</a:t>
          </a:r>
        </a:p>
      </dgm:t>
    </dgm:pt>
    <dgm:pt modelId="{D732EE67-D274-4D0F-B605-622D9719732B}" type="parTrans" cxnId="{5B6D2E22-12F1-4AE1-89C1-57382E21F1D1}">
      <dgm:prSet/>
      <dgm:spPr/>
      <dgm:t>
        <a:bodyPr/>
        <a:lstStyle/>
        <a:p>
          <a:endParaRPr lang="en-US"/>
        </a:p>
      </dgm:t>
    </dgm:pt>
    <dgm:pt modelId="{6DE72596-40B9-4F99-B5F2-3856CD546FB2}" type="sibTrans" cxnId="{5B6D2E22-12F1-4AE1-89C1-57382E21F1D1}">
      <dgm:prSet/>
      <dgm:spPr/>
      <dgm:t>
        <a:bodyPr/>
        <a:lstStyle/>
        <a:p>
          <a:endParaRPr lang="en-US"/>
        </a:p>
      </dgm:t>
    </dgm:pt>
    <dgm:pt modelId="{26A29E9F-92C2-4289-9383-8481993898B5}" type="pres">
      <dgm:prSet presAssocID="{3A85724E-6579-4C31-9716-CED5EA091497}" presName="Name0" presStyleCnt="0">
        <dgm:presLayoutVars>
          <dgm:dir/>
          <dgm:animLvl val="lvl"/>
          <dgm:resizeHandles val="exact"/>
        </dgm:presLayoutVars>
      </dgm:prSet>
      <dgm:spPr/>
    </dgm:pt>
    <dgm:pt modelId="{639ADEB3-9068-40A9-9A5A-882FFC9314A7}" type="pres">
      <dgm:prSet presAssocID="{CC3D449D-E46F-4DDF-84A6-B5482D3EC0FE}" presName="boxAndChildren" presStyleCnt="0"/>
      <dgm:spPr/>
    </dgm:pt>
    <dgm:pt modelId="{A958AB21-3CAB-4D17-A5B9-140BF7630983}" type="pres">
      <dgm:prSet presAssocID="{CC3D449D-E46F-4DDF-84A6-B5482D3EC0FE}" presName="parentTextBox" presStyleLbl="node1" presStyleIdx="0" presStyleCnt="2"/>
      <dgm:spPr/>
    </dgm:pt>
    <dgm:pt modelId="{AC76F2E1-C7CD-463B-831D-509407707558}" type="pres">
      <dgm:prSet presAssocID="{7E1EAEEA-286B-4BCD-9636-C73CBB6B2592}" presName="sp" presStyleCnt="0"/>
      <dgm:spPr/>
    </dgm:pt>
    <dgm:pt modelId="{EF12D55D-6A70-4E78-BED8-3456B51043E2}" type="pres">
      <dgm:prSet presAssocID="{92F00BE4-8E35-47DE-A7E5-32AD43FD576B}" presName="arrowAndChildren" presStyleCnt="0"/>
      <dgm:spPr/>
    </dgm:pt>
    <dgm:pt modelId="{1D3CAD4A-F9CF-4AC1-AEEB-5A19BCE4C6E8}" type="pres">
      <dgm:prSet presAssocID="{92F00BE4-8E35-47DE-A7E5-32AD43FD576B}" presName="parentTextArrow" presStyleLbl="node1" presStyleIdx="1" presStyleCnt="2"/>
      <dgm:spPr/>
    </dgm:pt>
  </dgm:ptLst>
  <dgm:cxnLst>
    <dgm:cxn modelId="{5B6D2E22-12F1-4AE1-89C1-57382E21F1D1}" srcId="{3A85724E-6579-4C31-9716-CED5EA091497}" destId="{CC3D449D-E46F-4DDF-84A6-B5482D3EC0FE}" srcOrd="1" destOrd="0" parTransId="{D732EE67-D274-4D0F-B605-622D9719732B}" sibTransId="{6DE72596-40B9-4F99-B5F2-3856CD546FB2}"/>
    <dgm:cxn modelId="{15328D25-3775-4EB3-97CB-D7350B0FC59D}" srcId="{3A85724E-6579-4C31-9716-CED5EA091497}" destId="{92F00BE4-8E35-47DE-A7E5-32AD43FD576B}" srcOrd="0" destOrd="0" parTransId="{BC72CFF0-DBBA-440B-9336-0BE7DFFB1FED}" sibTransId="{7E1EAEEA-286B-4BCD-9636-C73CBB6B2592}"/>
    <dgm:cxn modelId="{B3ADD338-B6ED-4315-83E4-04B9876BF9E5}" type="presOf" srcId="{3A85724E-6579-4C31-9716-CED5EA091497}" destId="{26A29E9F-92C2-4289-9383-8481993898B5}" srcOrd="0" destOrd="0" presId="urn:microsoft.com/office/officeart/2005/8/layout/process4"/>
    <dgm:cxn modelId="{DB2EBB4B-F12D-4929-96CF-B3472B25C69F}" type="presOf" srcId="{92F00BE4-8E35-47DE-A7E5-32AD43FD576B}" destId="{1D3CAD4A-F9CF-4AC1-AEEB-5A19BCE4C6E8}" srcOrd="0" destOrd="0" presId="urn:microsoft.com/office/officeart/2005/8/layout/process4"/>
    <dgm:cxn modelId="{9B6A6982-8141-4E43-B964-85361D46FBDC}" type="presOf" srcId="{CC3D449D-E46F-4DDF-84A6-B5482D3EC0FE}" destId="{A958AB21-3CAB-4D17-A5B9-140BF7630983}" srcOrd="0" destOrd="0" presId="urn:microsoft.com/office/officeart/2005/8/layout/process4"/>
    <dgm:cxn modelId="{A2A9B70C-96AC-4F9E-9797-298F099F067A}" type="presParOf" srcId="{26A29E9F-92C2-4289-9383-8481993898B5}" destId="{639ADEB3-9068-40A9-9A5A-882FFC9314A7}" srcOrd="0" destOrd="0" presId="urn:microsoft.com/office/officeart/2005/8/layout/process4"/>
    <dgm:cxn modelId="{0019B9A1-7A71-4E11-9879-9BF25E77298C}" type="presParOf" srcId="{639ADEB3-9068-40A9-9A5A-882FFC9314A7}" destId="{A958AB21-3CAB-4D17-A5B9-140BF7630983}" srcOrd="0" destOrd="0" presId="urn:microsoft.com/office/officeart/2005/8/layout/process4"/>
    <dgm:cxn modelId="{B3EA71DF-9CF2-49F2-A9EE-1FAC3AC66916}" type="presParOf" srcId="{26A29E9F-92C2-4289-9383-8481993898B5}" destId="{AC76F2E1-C7CD-463B-831D-509407707558}" srcOrd="1" destOrd="0" presId="urn:microsoft.com/office/officeart/2005/8/layout/process4"/>
    <dgm:cxn modelId="{536E1DDA-06CE-4977-9147-87966B9A24B7}" type="presParOf" srcId="{26A29E9F-92C2-4289-9383-8481993898B5}" destId="{EF12D55D-6A70-4E78-BED8-3456B51043E2}" srcOrd="2" destOrd="0" presId="urn:microsoft.com/office/officeart/2005/8/layout/process4"/>
    <dgm:cxn modelId="{36B7984B-9574-4786-9F8C-C6DE1FE502D5}" type="presParOf" srcId="{EF12D55D-6A70-4E78-BED8-3456B51043E2}" destId="{1D3CAD4A-F9CF-4AC1-AEEB-5A19BCE4C6E8}"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DC9D99B-9C72-42EB-9E11-189B19E0103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3E2AF166-C157-4FE4-AFD6-90A0B27AE1C8}">
      <dgm:prSet/>
      <dgm:spPr/>
      <dgm:t>
        <a:bodyPr/>
        <a:lstStyle/>
        <a:p>
          <a:r>
            <a:rPr lang="en-US" b="1"/>
            <a:t>Goal</a:t>
          </a:r>
          <a:r>
            <a:rPr lang="en-US"/>
            <a:t> - Choose one product with stock &gt; 0. - Reduce its stock by 1. - Reset the stock before </a:t>
          </a:r>
          <a:r>
            <a:rPr lang="en-US" b="1"/>
            <a:t>each timed run</a:t>
          </a:r>
          <a:r>
            <a:rPr lang="en-US"/>
            <a:t>.</a:t>
          </a:r>
        </a:p>
      </dgm:t>
    </dgm:pt>
    <dgm:pt modelId="{1EB0D7C7-927E-4E5E-B788-55F1570898CF}" type="parTrans" cxnId="{0FB835F7-5AB8-44B7-BFCD-CCBFB3DEF73E}">
      <dgm:prSet/>
      <dgm:spPr/>
      <dgm:t>
        <a:bodyPr/>
        <a:lstStyle/>
        <a:p>
          <a:endParaRPr lang="en-US"/>
        </a:p>
      </dgm:t>
    </dgm:pt>
    <dgm:pt modelId="{67144281-A1A1-44FA-BF23-03584727D48A}" type="sibTrans" cxnId="{0FB835F7-5AB8-44B7-BFCD-CCBFB3DEF73E}">
      <dgm:prSet/>
      <dgm:spPr/>
      <dgm:t>
        <a:bodyPr/>
        <a:lstStyle/>
        <a:p>
          <a:endParaRPr lang="en-US"/>
        </a:p>
      </dgm:t>
    </dgm:pt>
    <dgm:pt modelId="{82C8910F-72AB-44E7-8F87-A352430515E2}">
      <dgm:prSet/>
      <dgm:spPr/>
      <dgm:t>
        <a:bodyPr/>
        <a:lstStyle/>
        <a:p>
          <a:r>
            <a:rPr lang="en-US" b="1"/>
            <a:t>1. Find a suitable product ID</a:t>
          </a:r>
          <a:endParaRPr lang="en-US"/>
        </a:p>
      </dgm:t>
    </dgm:pt>
    <dgm:pt modelId="{02CC3E30-F8FF-4AED-A3B3-B94D1E910CDB}" type="parTrans" cxnId="{98FCF456-B969-4551-BA5B-150E8A87B827}">
      <dgm:prSet/>
      <dgm:spPr/>
      <dgm:t>
        <a:bodyPr/>
        <a:lstStyle/>
        <a:p>
          <a:endParaRPr lang="en-US"/>
        </a:p>
      </dgm:t>
    </dgm:pt>
    <dgm:pt modelId="{411FD634-FCAE-4F6A-B97C-19731FA647FE}" type="sibTrans" cxnId="{98FCF456-B969-4551-BA5B-150E8A87B827}">
      <dgm:prSet/>
      <dgm:spPr/>
      <dgm:t>
        <a:bodyPr/>
        <a:lstStyle/>
        <a:p>
          <a:endParaRPr lang="en-US"/>
        </a:p>
      </dgm:t>
    </dgm:pt>
    <dgm:pt modelId="{744CC231-83DF-493F-87EC-30C3AC3FDD4F}">
      <dgm:prSet/>
      <dgm:spPr/>
      <dgm:t>
        <a:bodyPr/>
        <a:lstStyle/>
        <a:p>
          <a:r>
            <a:rPr lang="en-US"/>
            <a:t>db.products.findOne(</a:t>
          </a:r>
          <a:br>
            <a:rPr lang="en-US"/>
          </a:br>
          <a:r>
            <a:rPr lang="en-US"/>
            <a:t>  { stock: { $gt: 0 } },</a:t>
          </a:r>
          <a:br>
            <a:rPr lang="en-US"/>
          </a:br>
          <a:r>
            <a:rPr lang="en-US"/>
            <a:t>  { projection: { _id: 1, name: 1, stock: 1 } }</a:t>
          </a:r>
          <a:br>
            <a:rPr lang="en-US"/>
          </a:br>
          <a:r>
            <a:rPr lang="en-US"/>
            <a:t>)</a:t>
          </a:r>
        </a:p>
      </dgm:t>
    </dgm:pt>
    <dgm:pt modelId="{FE21D4D2-0683-467D-9B66-501A2E6070F9}" type="parTrans" cxnId="{9B031EFA-CF5A-41C8-80C8-3EE12B457EF1}">
      <dgm:prSet/>
      <dgm:spPr/>
      <dgm:t>
        <a:bodyPr/>
        <a:lstStyle/>
        <a:p>
          <a:endParaRPr lang="en-US"/>
        </a:p>
      </dgm:t>
    </dgm:pt>
    <dgm:pt modelId="{F04A8392-B679-47B6-A79D-EF22A38BDFE9}" type="sibTrans" cxnId="{9B031EFA-CF5A-41C8-80C8-3EE12B457EF1}">
      <dgm:prSet/>
      <dgm:spPr/>
      <dgm:t>
        <a:bodyPr/>
        <a:lstStyle/>
        <a:p>
          <a:endParaRPr lang="en-US"/>
        </a:p>
      </dgm:t>
    </dgm:pt>
    <dgm:pt modelId="{ED5E8A59-255D-42AA-9E0B-59FAFF644FA1}">
      <dgm:prSet/>
      <dgm:spPr/>
      <dgm:t>
        <a:bodyPr/>
        <a:lstStyle/>
        <a:p>
          <a:r>
            <a:rPr lang="en-US" b="1"/>
            <a:t>2. Reduce stock by 1</a:t>
          </a:r>
          <a:br>
            <a:rPr lang="en-US"/>
          </a:br>
          <a:r>
            <a:rPr lang="en-US"/>
            <a:t>(Example with _id: 2001)</a:t>
          </a:r>
        </a:p>
      </dgm:t>
    </dgm:pt>
    <dgm:pt modelId="{700D1D4E-B6D2-49DE-9485-0AFC1DDB69A4}" type="parTrans" cxnId="{2F53B296-D4C8-4281-8DCD-24A14A66C82D}">
      <dgm:prSet/>
      <dgm:spPr/>
      <dgm:t>
        <a:bodyPr/>
        <a:lstStyle/>
        <a:p>
          <a:endParaRPr lang="en-US"/>
        </a:p>
      </dgm:t>
    </dgm:pt>
    <dgm:pt modelId="{112F2ED7-546A-4168-976A-A8427C13A7B8}" type="sibTrans" cxnId="{2F53B296-D4C8-4281-8DCD-24A14A66C82D}">
      <dgm:prSet/>
      <dgm:spPr/>
      <dgm:t>
        <a:bodyPr/>
        <a:lstStyle/>
        <a:p>
          <a:endParaRPr lang="en-US"/>
        </a:p>
      </dgm:t>
    </dgm:pt>
    <dgm:pt modelId="{DD097B1C-9BDF-44B3-B7F0-98B7B3C46203}">
      <dgm:prSet/>
      <dgm:spPr/>
      <dgm:t>
        <a:bodyPr/>
        <a:lstStyle/>
        <a:p>
          <a:r>
            <a:rPr lang="en-US"/>
            <a:t>db.products.updateOne(</a:t>
          </a:r>
          <a:br>
            <a:rPr lang="en-US"/>
          </a:br>
          <a:r>
            <a:rPr lang="en-US"/>
            <a:t>  { _id: 2001 },</a:t>
          </a:r>
          <a:br>
            <a:rPr lang="en-US"/>
          </a:br>
          <a:r>
            <a:rPr lang="en-US"/>
            <a:t>  { $inc: { stock: -1 } }</a:t>
          </a:r>
          <a:br>
            <a:rPr lang="en-US"/>
          </a:br>
          <a:r>
            <a:rPr lang="en-US"/>
            <a:t>)</a:t>
          </a:r>
        </a:p>
      </dgm:t>
    </dgm:pt>
    <dgm:pt modelId="{86C4D353-8DB8-46F4-BF8E-FB0EAB33EA44}" type="parTrans" cxnId="{DEC6AF34-0659-400D-A3BD-CB7ACB35DB4B}">
      <dgm:prSet/>
      <dgm:spPr/>
      <dgm:t>
        <a:bodyPr/>
        <a:lstStyle/>
        <a:p>
          <a:endParaRPr lang="en-US"/>
        </a:p>
      </dgm:t>
    </dgm:pt>
    <dgm:pt modelId="{5B3057A5-5AD6-4BB1-B642-A5C610818F02}" type="sibTrans" cxnId="{DEC6AF34-0659-400D-A3BD-CB7ACB35DB4B}">
      <dgm:prSet/>
      <dgm:spPr/>
      <dgm:t>
        <a:bodyPr/>
        <a:lstStyle/>
        <a:p>
          <a:endParaRPr lang="en-US"/>
        </a:p>
      </dgm:t>
    </dgm:pt>
    <dgm:pt modelId="{C0782602-7E9A-4A24-B051-AF9C66EB1E06}">
      <dgm:prSet/>
      <dgm:spPr/>
      <dgm:t>
        <a:bodyPr/>
        <a:lstStyle/>
        <a:p>
          <a:r>
            <a:rPr lang="en-US" b="1"/>
            <a:t>3. Reset stock before next timed run</a:t>
          </a:r>
          <a:br>
            <a:rPr lang="en-US"/>
          </a:br>
          <a:r>
            <a:rPr lang="en-US"/>
            <a:t>(Example: stock originally 50)</a:t>
          </a:r>
        </a:p>
      </dgm:t>
    </dgm:pt>
    <dgm:pt modelId="{D2122B1C-9621-4670-8561-A5DCAE21897E}" type="parTrans" cxnId="{A341367A-95F3-4438-80CA-F2E89C79958D}">
      <dgm:prSet/>
      <dgm:spPr/>
      <dgm:t>
        <a:bodyPr/>
        <a:lstStyle/>
        <a:p>
          <a:endParaRPr lang="en-US"/>
        </a:p>
      </dgm:t>
    </dgm:pt>
    <dgm:pt modelId="{548630D0-793F-4494-A45D-B161E58734AC}" type="sibTrans" cxnId="{A341367A-95F3-4438-80CA-F2E89C79958D}">
      <dgm:prSet/>
      <dgm:spPr/>
      <dgm:t>
        <a:bodyPr/>
        <a:lstStyle/>
        <a:p>
          <a:endParaRPr lang="en-US"/>
        </a:p>
      </dgm:t>
    </dgm:pt>
    <dgm:pt modelId="{0B46A3A4-4F4D-4C17-A3F0-391EBAF8FEF1}">
      <dgm:prSet/>
      <dgm:spPr/>
      <dgm:t>
        <a:bodyPr/>
        <a:lstStyle/>
        <a:p>
          <a:r>
            <a:rPr lang="en-US"/>
            <a:t>db.products.updateOne(</a:t>
          </a:r>
          <a:br>
            <a:rPr lang="en-US"/>
          </a:br>
          <a:r>
            <a:rPr lang="en-US"/>
            <a:t>  { _id: 2001 },</a:t>
          </a:r>
          <a:br>
            <a:rPr lang="en-US"/>
          </a:br>
          <a:r>
            <a:rPr lang="en-US"/>
            <a:t>  { $set: { stock: 50 } }</a:t>
          </a:r>
          <a:br>
            <a:rPr lang="en-US"/>
          </a:br>
          <a:r>
            <a:rPr lang="en-US"/>
            <a:t>)</a:t>
          </a:r>
        </a:p>
      </dgm:t>
    </dgm:pt>
    <dgm:pt modelId="{EEC406ED-249A-445D-8AB4-94CCE214B004}" type="parTrans" cxnId="{BD5B378B-02D4-4FC2-9EB0-35DD2F921961}">
      <dgm:prSet/>
      <dgm:spPr/>
      <dgm:t>
        <a:bodyPr/>
        <a:lstStyle/>
        <a:p>
          <a:endParaRPr lang="en-US"/>
        </a:p>
      </dgm:t>
    </dgm:pt>
    <dgm:pt modelId="{AB616C36-0F41-4B4E-B523-20DF435CFA4D}" type="sibTrans" cxnId="{BD5B378B-02D4-4FC2-9EB0-35DD2F921961}">
      <dgm:prSet/>
      <dgm:spPr/>
      <dgm:t>
        <a:bodyPr/>
        <a:lstStyle/>
        <a:p>
          <a:endParaRPr lang="en-US"/>
        </a:p>
      </dgm:t>
    </dgm:pt>
    <dgm:pt modelId="{6268706A-99A4-4AC9-A388-5A7316E55F26}">
      <dgm:prSet/>
      <dgm:spPr/>
      <dgm:t>
        <a:bodyPr/>
        <a:lstStyle/>
        <a:p>
          <a:r>
            <a:rPr lang="en-US" b="1"/>
            <a:t>Timing note</a:t>
          </a:r>
          <a:r>
            <a:rPr lang="en-US"/>
            <a:t> - Timed this updateOne 10 times; average time shows typical single‑document‑update performance. Time (s): 0.0007655999856069684</a:t>
          </a:r>
        </a:p>
      </dgm:t>
    </dgm:pt>
    <dgm:pt modelId="{548FD8A3-4EBD-4934-AC76-AB536A09DB7D}" type="parTrans" cxnId="{66E9E902-0B53-4996-96FB-EEF49EE6FC47}">
      <dgm:prSet/>
      <dgm:spPr/>
      <dgm:t>
        <a:bodyPr/>
        <a:lstStyle/>
        <a:p>
          <a:endParaRPr lang="en-US"/>
        </a:p>
      </dgm:t>
    </dgm:pt>
    <dgm:pt modelId="{87AFB0B1-D2E9-4AA8-B3A7-317F0D79E6B7}" type="sibTrans" cxnId="{66E9E902-0B53-4996-96FB-EEF49EE6FC47}">
      <dgm:prSet/>
      <dgm:spPr/>
      <dgm:t>
        <a:bodyPr/>
        <a:lstStyle/>
        <a:p>
          <a:endParaRPr lang="en-US"/>
        </a:p>
      </dgm:t>
    </dgm:pt>
    <dgm:pt modelId="{8B0A72C8-0502-4AF0-BB37-0F435FCB138C}" type="pres">
      <dgm:prSet presAssocID="{BDC9D99B-9C72-42EB-9E11-189B19E01036}" presName="linear" presStyleCnt="0">
        <dgm:presLayoutVars>
          <dgm:animLvl val="lvl"/>
          <dgm:resizeHandles val="exact"/>
        </dgm:presLayoutVars>
      </dgm:prSet>
      <dgm:spPr/>
    </dgm:pt>
    <dgm:pt modelId="{30DD30C0-9E27-445A-A8A2-154657850F82}" type="pres">
      <dgm:prSet presAssocID="{3E2AF166-C157-4FE4-AFD6-90A0B27AE1C8}" presName="parentText" presStyleLbl="node1" presStyleIdx="0" presStyleCnt="5">
        <dgm:presLayoutVars>
          <dgm:chMax val="0"/>
          <dgm:bulletEnabled val="1"/>
        </dgm:presLayoutVars>
      </dgm:prSet>
      <dgm:spPr/>
    </dgm:pt>
    <dgm:pt modelId="{9173C21A-96AA-4FFA-89FA-B96E084EEA86}" type="pres">
      <dgm:prSet presAssocID="{67144281-A1A1-44FA-BF23-03584727D48A}" presName="spacer" presStyleCnt="0"/>
      <dgm:spPr/>
    </dgm:pt>
    <dgm:pt modelId="{A4772292-80A4-4F25-BB74-BEE307F41CE6}" type="pres">
      <dgm:prSet presAssocID="{82C8910F-72AB-44E7-8F87-A352430515E2}" presName="parentText" presStyleLbl="node1" presStyleIdx="1" presStyleCnt="5">
        <dgm:presLayoutVars>
          <dgm:chMax val="0"/>
          <dgm:bulletEnabled val="1"/>
        </dgm:presLayoutVars>
      </dgm:prSet>
      <dgm:spPr/>
    </dgm:pt>
    <dgm:pt modelId="{D5B030D0-950A-4BA0-A37A-B20818B249CB}" type="pres">
      <dgm:prSet presAssocID="{82C8910F-72AB-44E7-8F87-A352430515E2}" presName="childText" presStyleLbl="revTx" presStyleIdx="0" presStyleCnt="3">
        <dgm:presLayoutVars>
          <dgm:bulletEnabled val="1"/>
        </dgm:presLayoutVars>
      </dgm:prSet>
      <dgm:spPr/>
    </dgm:pt>
    <dgm:pt modelId="{0524729A-D4ED-4495-9019-DD447D4EDBA7}" type="pres">
      <dgm:prSet presAssocID="{ED5E8A59-255D-42AA-9E0B-59FAFF644FA1}" presName="parentText" presStyleLbl="node1" presStyleIdx="2" presStyleCnt="5">
        <dgm:presLayoutVars>
          <dgm:chMax val="0"/>
          <dgm:bulletEnabled val="1"/>
        </dgm:presLayoutVars>
      </dgm:prSet>
      <dgm:spPr/>
    </dgm:pt>
    <dgm:pt modelId="{65344AF2-A226-4290-BA54-38D90FA0922F}" type="pres">
      <dgm:prSet presAssocID="{ED5E8A59-255D-42AA-9E0B-59FAFF644FA1}" presName="childText" presStyleLbl="revTx" presStyleIdx="1" presStyleCnt="3">
        <dgm:presLayoutVars>
          <dgm:bulletEnabled val="1"/>
        </dgm:presLayoutVars>
      </dgm:prSet>
      <dgm:spPr/>
    </dgm:pt>
    <dgm:pt modelId="{DF95F7C4-3841-49E4-BBA1-BE3C0E2FC8BF}" type="pres">
      <dgm:prSet presAssocID="{C0782602-7E9A-4A24-B051-AF9C66EB1E06}" presName="parentText" presStyleLbl="node1" presStyleIdx="3" presStyleCnt="5">
        <dgm:presLayoutVars>
          <dgm:chMax val="0"/>
          <dgm:bulletEnabled val="1"/>
        </dgm:presLayoutVars>
      </dgm:prSet>
      <dgm:spPr/>
    </dgm:pt>
    <dgm:pt modelId="{9B52447D-0638-49E4-9A17-5279C0454AF6}" type="pres">
      <dgm:prSet presAssocID="{C0782602-7E9A-4A24-B051-AF9C66EB1E06}" presName="childText" presStyleLbl="revTx" presStyleIdx="2" presStyleCnt="3">
        <dgm:presLayoutVars>
          <dgm:bulletEnabled val="1"/>
        </dgm:presLayoutVars>
      </dgm:prSet>
      <dgm:spPr/>
    </dgm:pt>
    <dgm:pt modelId="{2B29D59D-F245-476A-B350-5E891130771A}" type="pres">
      <dgm:prSet presAssocID="{6268706A-99A4-4AC9-A388-5A7316E55F26}" presName="parentText" presStyleLbl="node1" presStyleIdx="4" presStyleCnt="5">
        <dgm:presLayoutVars>
          <dgm:chMax val="0"/>
          <dgm:bulletEnabled val="1"/>
        </dgm:presLayoutVars>
      </dgm:prSet>
      <dgm:spPr/>
    </dgm:pt>
  </dgm:ptLst>
  <dgm:cxnLst>
    <dgm:cxn modelId="{66E9E902-0B53-4996-96FB-EEF49EE6FC47}" srcId="{BDC9D99B-9C72-42EB-9E11-189B19E01036}" destId="{6268706A-99A4-4AC9-A388-5A7316E55F26}" srcOrd="4" destOrd="0" parTransId="{548FD8A3-4EBD-4934-AC76-AB536A09DB7D}" sibTransId="{87AFB0B1-D2E9-4AA8-B3A7-317F0D79E6B7}"/>
    <dgm:cxn modelId="{113D7014-A31B-4410-A80B-9A6EEE4FC580}" type="presOf" srcId="{C0782602-7E9A-4A24-B051-AF9C66EB1E06}" destId="{DF95F7C4-3841-49E4-BBA1-BE3C0E2FC8BF}" srcOrd="0" destOrd="0" presId="urn:microsoft.com/office/officeart/2005/8/layout/vList2"/>
    <dgm:cxn modelId="{9116C41E-3BC5-4CBC-A0C0-F9FCD0A7BE88}" type="presOf" srcId="{DD097B1C-9BDF-44B3-B7F0-98B7B3C46203}" destId="{65344AF2-A226-4290-BA54-38D90FA0922F}" srcOrd="0" destOrd="0" presId="urn:microsoft.com/office/officeart/2005/8/layout/vList2"/>
    <dgm:cxn modelId="{F1B8E32B-CC77-4664-A508-518D78C0F346}" type="presOf" srcId="{3E2AF166-C157-4FE4-AFD6-90A0B27AE1C8}" destId="{30DD30C0-9E27-445A-A8A2-154657850F82}" srcOrd="0" destOrd="0" presId="urn:microsoft.com/office/officeart/2005/8/layout/vList2"/>
    <dgm:cxn modelId="{DEC6AF34-0659-400D-A3BD-CB7ACB35DB4B}" srcId="{ED5E8A59-255D-42AA-9E0B-59FAFF644FA1}" destId="{DD097B1C-9BDF-44B3-B7F0-98B7B3C46203}" srcOrd="0" destOrd="0" parTransId="{86C4D353-8DB8-46F4-BF8E-FB0EAB33EA44}" sibTransId="{5B3057A5-5AD6-4BB1-B642-A5C610818F02}"/>
    <dgm:cxn modelId="{F8B9AB6B-CC53-41A1-9CE6-05558208A73A}" type="presOf" srcId="{ED5E8A59-255D-42AA-9E0B-59FAFF644FA1}" destId="{0524729A-D4ED-4495-9019-DD447D4EDBA7}" srcOrd="0" destOrd="0" presId="urn:microsoft.com/office/officeart/2005/8/layout/vList2"/>
    <dgm:cxn modelId="{0E316352-DF71-4765-BE67-225CBCA34E61}" type="presOf" srcId="{82C8910F-72AB-44E7-8F87-A352430515E2}" destId="{A4772292-80A4-4F25-BB74-BEE307F41CE6}" srcOrd="0" destOrd="0" presId="urn:microsoft.com/office/officeart/2005/8/layout/vList2"/>
    <dgm:cxn modelId="{98FCF456-B969-4551-BA5B-150E8A87B827}" srcId="{BDC9D99B-9C72-42EB-9E11-189B19E01036}" destId="{82C8910F-72AB-44E7-8F87-A352430515E2}" srcOrd="1" destOrd="0" parTransId="{02CC3E30-F8FF-4AED-A3B3-B94D1E910CDB}" sibTransId="{411FD634-FCAE-4F6A-B97C-19731FA647FE}"/>
    <dgm:cxn modelId="{A341367A-95F3-4438-80CA-F2E89C79958D}" srcId="{BDC9D99B-9C72-42EB-9E11-189B19E01036}" destId="{C0782602-7E9A-4A24-B051-AF9C66EB1E06}" srcOrd="3" destOrd="0" parTransId="{D2122B1C-9621-4670-8561-A5DCAE21897E}" sibTransId="{548630D0-793F-4494-A45D-B161E58734AC}"/>
    <dgm:cxn modelId="{B3DEE85A-6A6E-4516-BCCB-93237BDF4511}" type="presOf" srcId="{BDC9D99B-9C72-42EB-9E11-189B19E01036}" destId="{8B0A72C8-0502-4AF0-BB37-0F435FCB138C}" srcOrd="0" destOrd="0" presId="urn:microsoft.com/office/officeart/2005/8/layout/vList2"/>
    <dgm:cxn modelId="{BD5B378B-02D4-4FC2-9EB0-35DD2F921961}" srcId="{C0782602-7E9A-4A24-B051-AF9C66EB1E06}" destId="{0B46A3A4-4F4D-4C17-A3F0-391EBAF8FEF1}" srcOrd="0" destOrd="0" parTransId="{EEC406ED-249A-445D-8AB4-94CCE214B004}" sibTransId="{AB616C36-0F41-4B4E-B523-20DF435CFA4D}"/>
    <dgm:cxn modelId="{2F53B296-D4C8-4281-8DCD-24A14A66C82D}" srcId="{BDC9D99B-9C72-42EB-9E11-189B19E01036}" destId="{ED5E8A59-255D-42AA-9E0B-59FAFF644FA1}" srcOrd="2" destOrd="0" parTransId="{700D1D4E-B6D2-49DE-9485-0AFC1DDB69A4}" sibTransId="{112F2ED7-546A-4168-976A-A8427C13A7B8}"/>
    <dgm:cxn modelId="{0E4F52C8-D5FE-4502-809C-711F7B3DA4EB}" type="presOf" srcId="{0B46A3A4-4F4D-4C17-A3F0-391EBAF8FEF1}" destId="{9B52447D-0638-49E4-9A17-5279C0454AF6}" srcOrd="0" destOrd="0" presId="urn:microsoft.com/office/officeart/2005/8/layout/vList2"/>
    <dgm:cxn modelId="{51F723EB-96C6-481B-85A8-66FC1EBF225B}" type="presOf" srcId="{744CC231-83DF-493F-87EC-30C3AC3FDD4F}" destId="{D5B030D0-950A-4BA0-A37A-B20818B249CB}" srcOrd="0" destOrd="0" presId="urn:microsoft.com/office/officeart/2005/8/layout/vList2"/>
    <dgm:cxn modelId="{0FB835F7-5AB8-44B7-BFCD-CCBFB3DEF73E}" srcId="{BDC9D99B-9C72-42EB-9E11-189B19E01036}" destId="{3E2AF166-C157-4FE4-AFD6-90A0B27AE1C8}" srcOrd="0" destOrd="0" parTransId="{1EB0D7C7-927E-4E5E-B788-55F1570898CF}" sibTransId="{67144281-A1A1-44FA-BF23-03584727D48A}"/>
    <dgm:cxn modelId="{30065ED8-B44B-48C9-82E6-860895C2A2F2}" type="presOf" srcId="{6268706A-99A4-4AC9-A388-5A7316E55F26}" destId="{2B29D59D-F245-476A-B350-5E891130771A}" srcOrd="0" destOrd="0" presId="urn:microsoft.com/office/officeart/2005/8/layout/vList2"/>
    <dgm:cxn modelId="{9B031EFA-CF5A-41C8-80C8-3EE12B457EF1}" srcId="{82C8910F-72AB-44E7-8F87-A352430515E2}" destId="{744CC231-83DF-493F-87EC-30C3AC3FDD4F}" srcOrd="0" destOrd="0" parTransId="{FE21D4D2-0683-467D-9B66-501A2E6070F9}" sibTransId="{F04A8392-B679-47B6-A79D-EF22A38BDFE9}"/>
    <dgm:cxn modelId="{5488D39C-64ED-4126-843D-2F302B50F6CC}" type="presParOf" srcId="{8B0A72C8-0502-4AF0-BB37-0F435FCB138C}" destId="{30DD30C0-9E27-445A-A8A2-154657850F82}" srcOrd="0" destOrd="0" presId="urn:microsoft.com/office/officeart/2005/8/layout/vList2"/>
    <dgm:cxn modelId="{9608182C-E8E0-452E-A9AF-35C17F2C7B64}" type="presParOf" srcId="{8B0A72C8-0502-4AF0-BB37-0F435FCB138C}" destId="{9173C21A-96AA-4FFA-89FA-B96E084EEA86}" srcOrd="1" destOrd="0" presId="urn:microsoft.com/office/officeart/2005/8/layout/vList2"/>
    <dgm:cxn modelId="{5AC3DB16-3B67-4165-BE61-D3C3C06108DB}" type="presParOf" srcId="{8B0A72C8-0502-4AF0-BB37-0F435FCB138C}" destId="{A4772292-80A4-4F25-BB74-BEE307F41CE6}" srcOrd="2" destOrd="0" presId="urn:microsoft.com/office/officeart/2005/8/layout/vList2"/>
    <dgm:cxn modelId="{DC256B55-4D8F-48F6-80BD-AC89BF6BB61F}" type="presParOf" srcId="{8B0A72C8-0502-4AF0-BB37-0F435FCB138C}" destId="{D5B030D0-950A-4BA0-A37A-B20818B249CB}" srcOrd="3" destOrd="0" presId="urn:microsoft.com/office/officeart/2005/8/layout/vList2"/>
    <dgm:cxn modelId="{C35A3C57-9F10-429F-8BEE-C5453B9F501B}" type="presParOf" srcId="{8B0A72C8-0502-4AF0-BB37-0F435FCB138C}" destId="{0524729A-D4ED-4495-9019-DD447D4EDBA7}" srcOrd="4" destOrd="0" presId="urn:microsoft.com/office/officeart/2005/8/layout/vList2"/>
    <dgm:cxn modelId="{071D2C54-961D-478C-9CF0-F6961E401691}" type="presParOf" srcId="{8B0A72C8-0502-4AF0-BB37-0F435FCB138C}" destId="{65344AF2-A226-4290-BA54-38D90FA0922F}" srcOrd="5" destOrd="0" presId="urn:microsoft.com/office/officeart/2005/8/layout/vList2"/>
    <dgm:cxn modelId="{A1C3751F-4BBF-45ED-B762-29800089723C}" type="presParOf" srcId="{8B0A72C8-0502-4AF0-BB37-0F435FCB138C}" destId="{DF95F7C4-3841-49E4-BBA1-BE3C0E2FC8BF}" srcOrd="6" destOrd="0" presId="urn:microsoft.com/office/officeart/2005/8/layout/vList2"/>
    <dgm:cxn modelId="{34F679F5-C651-462E-8F00-F12BADD111CC}" type="presParOf" srcId="{8B0A72C8-0502-4AF0-BB37-0F435FCB138C}" destId="{9B52447D-0638-49E4-9A17-5279C0454AF6}" srcOrd="7" destOrd="0" presId="urn:microsoft.com/office/officeart/2005/8/layout/vList2"/>
    <dgm:cxn modelId="{19CCCE58-CDEF-47A3-B245-3CBE4A537693}" type="presParOf" srcId="{8B0A72C8-0502-4AF0-BB37-0F435FCB138C}" destId="{2B29D59D-F245-476A-B350-5E891130771A}"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C860509-FC5A-4BB0-B1EA-5A28955DC5D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85F9472-7363-4860-AC9B-ED96BC3A5850}">
      <dgm:prSet/>
      <dgm:spPr/>
      <dgm:t>
        <a:bodyPr/>
        <a:lstStyle/>
        <a:p>
          <a:r>
            <a:rPr lang="en-US"/>
            <a:t>Aggregation ($group) is expensive</a:t>
          </a:r>
        </a:p>
      </dgm:t>
    </dgm:pt>
    <dgm:pt modelId="{8B773824-0E24-4D55-B0F6-350F9EDAAB87}" type="parTrans" cxnId="{3EEA2A62-D18D-4749-A15A-46FB6B19AE71}">
      <dgm:prSet/>
      <dgm:spPr/>
      <dgm:t>
        <a:bodyPr/>
        <a:lstStyle/>
        <a:p>
          <a:endParaRPr lang="en-US"/>
        </a:p>
      </dgm:t>
    </dgm:pt>
    <dgm:pt modelId="{3BB6BE18-D27E-41AF-8CDF-130401295F27}" type="sibTrans" cxnId="{3EEA2A62-D18D-4749-A15A-46FB6B19AE71}">
      <dgm:prSet/>
      <dgm:spPr/>
      <dgm:t>
        <a:bodyPr/>
        <a:lstStyle/>
        <a:p>
          <a:endParaRPr lang="en-US"/>
        </a:p>
      </dgm:t>
    </dgm:pt>
    <dgm:pt modelId="{2440F61C-B280-449E-A373-DFD2927FF0A3}">
      <dgm:prSet/>
      <dgm:spPr/>
      <dgm:t>
        <a:bodyPr/>
        <a:lstStyle/>
        <a:p>
          <a:r>
            <a:rPr lang="en-US"/>
            <a:t>$unwind increases data size → slows down query</a:t>
          </a:r>
        </a:p>
      </dgm:t>
    </dgm:pt>
    <dgm:pt modelId="{78218575-CF5B-46F2-8458-07F419F5CB19}" type="parTrans" cxnId="{27FE5C52-AC4C-404A-A2FD-E8CDD27946E3}">
      <dgm:prSet/>
      <dgm:spPr/>
      <dgm:t>
        <a:bodyPr/>
        <a:lstStyle/>
        <a:p>
          <a:endParaRPr lang="en-US"/>
        </a:p>
      </dgm:t>
    </dgm:pt>
    <dgm:pt modelId="{563E2A7D-6065-4342-9FF6-AFFB58FD27B7}" type="sibTrans" cxnId="{27FE5C52-AC4C-404A-A2FD-E8CDD27946E3}">
      <dgm:prSet/>
      <dgm:spPr/>
      <dgm:t>
        <a:bodyPr/>
        <a:lstStyle/>
        <a:p>
          <a:endParaRPr lang="en-US"/>
        </a:p>
      </dgm:t>
    </dgm:pt>
    <dgm:pt modelId="{8C063FB6-F231-49A4-9985-8CE610B279EA}">
      <dgm:prSet/>
      <dgm:spPr/>
      <dgm:t>
        <a:bodyPr/>
        <a:lstStyle/>
        <a:p>
          <a:r>
            <a:rPr lang="en-US"/>
            <a:t>Bulk operations (updateMany, deleteMany) are costly</a:t>
          </a:r>
        </a:p>
      </dgm:t>
    </dgm:pt>
    <dgm:pt modelId="{019C6387-7A5C-4E4C-A348-7750C2045A3D}" type="parTrans" cxnId="{A10779A9-563B-49AD-A4B4-82079202DBDD}">
      <dgm:prSet/>
      <dgm:spPr/>
      <dgm:t>
        <a:bodyPr/>
        <a:lstStyle/>
        <a:p>
          <a:endParaRPr lang="en-US"/>
        </a:p>
      </dgm:t>
    </dgm:pt>
    <dgm:pt modelId="{CFB60AB7-248D-43AB-AD6C-5AF448D63191}" type="sibTrans" cxnId="{A10779A9-563B-49AD-A4B4-82079202DBDD}">
      <dgm:prSet/>
      <dgm:spPr/>
      <dgm:t>
        <a:bodyPr/>
        <a:lstStyle/>
        <a:p>
          <a:endParaRPr lang="en-US"/>
        </a:p>
      </dgm:t>
    </dgm:pt>
    <dgm:pt modelId="{AB0754E5-F802-4B30-918E-814B6FD2CA84}">
      <dgm:prSet/>
      <dgm:spPr/>
      <dgm:t>
        <a:bodyPr/>
        <a:lstStyle/>
        <a:p>
          <a:r>
            <a:rPr lang="en-US"/>
            <a:t>Regex queries are slower than exact matches</a:t>
          </a:r>
        </a:p>
      </dgm:t>
    </dgm:pt>
    <dgm:pt modelId="{C433357A-2276-4368-B262-D240CA247347}" type="parTrans" cxnId="{AA050364-BF8D-42E0-8CCF-59A14F5E3E66}">
      <dgm:prSet/>
      <dgm:spPr/>
      <dgm:t>
        <a:bodyPr/>
        <a:lstStyle/>
        <a:p>
          <a:endParaRPr lang="en-US"/>
        </a:p>
      </dgm:t>
    </dgm:pt>
    <dgm:pt modelId="{29DAB555-D15E-4FFA-8CB0-F35A99545654}" type="sibTrans" cxnId="{AA050364-BF8D-42E0-8CCF-59A14F5E3E66}">
      <dgm:prSet/>
      <dgm:spPr/>
      <dgm:t>
        <a:bodyPr/>
        <a:lstStyle/>
        <a:p>
          <a:endParaRPr lang="en-US"/>
        </a:p>
      </dgm:t>
    </dgm:pt>
    <dgm:pt modelId="{7959381E-2A97-4A45-89DF-111D6F8C036B}">
      <dgm:prSet/>
      <dgm:spPr/>
      <dgm:t>
        <a:bodyPr/>
        <a:lstStyle/>
        <a:p>
          <a:r>
            <a:rPr lang="en-US"/>
            <a:t>Simple find + projection is fastest</a:t>
          </a:r>
        </a:p>
      </dgm:t>
    </dgm:pt>
    <dgm:pt modelId="{6FC29BB9-1316-4DAA-A8E1-291DBCEA0D3C}" type="parTrans" cxnId="{30574125-A4D2-4D35-8A1B-FF4BE008DC2D}">
      <dgm:prSet/>
      <dgm:spPr/>
      <dgm:t>
        <a:bodyPr/>
        <a:lstStyle/>
        <a:p>
          <a:endParaRPr lang="en-US"/>
        </a:p>
      </dgm:t>
    </dgm:pt>
    <dgm:pt modelId="{58CB1161-D184-4131-8416-FF6348A20F78}" type="sibTrans" cxnId="{30574125-A4D2-4D35-8A1B-FF4BE008DC2D}">
      <dgm:prSet/>
      <dgm:spPr/>
      <dgm:t>
        <a:bodyPr/>
        <a:lstStyle/>
        <a:p>
          <a:endParaRPr lang="en-US"/>
        </a:p>
      </dgm:t>
    </dgm:pt>
    <dgm:pt modelId="{F41C637C-0463-4689-8564-455B1D21EAB7}" type="pres">
      <dgm:prSet presAssocID="{DC860509-FC5A-4BB0-B1EA-5A28955DC5DE}" presName="linear" presStyleCnt="0">
        <dgm:presLayoutVars>
          <dgm:animLvl val="lvl"/>
          <dgm:resizeHandles val="exact"/>
        </dgm:presLayoutVars>
      </dgm:prSet>
      <dgm:spPr/>
    </dgm:pt>
    <dgm:pt modelId="{68BBDF64-878B-47B6-8D63-FA32C5D69CF8}" type="pres">
      <dgm:prSet presAssocID="{D85F9472-7363-4860-AC9B-ED96BC3A5850}" presName="parentText" presStyleLbl="node1" presStyleIdx="0" presStyleCnt="5">
        <dgm:presLayoutVars>
          <dgm:chMax val="0"/>
          <dgm:bulletEnabled val="1"/>
        </dgm:presLayoutVars>
      </dgm:prSet>
      <dgm:spPr/>
    </dgm:pt>
    <dgm:pt modelId="{A85C582E-B484-41F1-A7A9-665143238C0D}" type="pres">
      <dgm:prSet presAssocID="{3BB6BE18-D27E-41AF-8CDF-130401295F27}" presName="spacer" presStyleCnt="0"/>
      <dgm:spPr/>
    </dgm:pt>
    <dgm:pt modelId="{EADCEFD7-41E1-4CA5-88A3-37F817B64A64}" type="pres">
      <dgm:prSet presAssocID="{2440F61C-B280-449E-A373-DFD2927FF0A3}" presName="parentText" presStyleLbl="node1" presStyleIdx="1" presStyleCnt="5">
        <dgm:presLayoutVars>
          <dgm:chMax val="0"/>
          <dgm:bulletEnabled val="1"/>
        </dgm:presLayoutVars>
      </dgm:prSet>
      <dgm:spPr/>
    </dgm:pt>
    <dgm:pt modelId="{7E942AE9-2029-4C8A-808B-48FA3A92B9E0}" type="pres">
      <dgm:prSet presAssocID="{563E2A7D-6065-4342-9FF6-AFFB58FD27B7}" presName="spacer" presStyleCnt="0"/>
      <dgm:spPr/>
    </dgm:pt>
    <dgm:pt modelId="{E5FC9CB4-78F1-4F73-89B1-185E1303C74F}" type="pres">
      <dgm:prSet presAssocID="{8C063FB6-F231-49A4-9985-8CE610B279EA}" presName="parentText" presStyleLbl="node1" presStyleIdx="2" presStyleCnt="5">
        <dgm:presLayoutVars>
          <dgm:chMax val="0"/>
          <dgm:bulletEnabled val="1"/>
        </dgm:presLayoutVars>
      </dgm:prSet>
      <dgm:spPr/>
    </dgm:pt>
    <dgm:pt modelId="{E5D3731E-F3FB-4995-8E6A-8DA1B7F74ADB}" type="pres">
      <dgm:prSet presAssocID="{CFB60AB7-248D-43AB-AD6C-5AF448D63191}" presName="spacer" presStyleCnt="0"/>
      <dgm:spPr/>
    </dgm:pt>
    <dgm:pt modelId="{F99DEBDB-2994-4F61-972E-52FDA3E1F3F1}" type="pres">
      <dgm:prSet presAssocID="{AB0754E5-F802-4B30-918E-814B6FD2CA84}" presName="parentText" presStyleLbl="node1" presStyleIdx="3" presStyleCnt="5">
        <dgm:presLayoutVars>
          <dgm:chMax val="0"/>
          <dgm:bulletEnabled val="1"/>
        </dgm:presLayoutVars>
      </dgm:prSet>
      <dgm:spPr/>
    </dgm:pt>
    <dgm:pt modelId="{9C507B37-DAE2-4A6A-A08A-574529167585}" type="pres">
      <dgm:prSet presAssocID="{29DAB555-D15E-4FFA-8CB0-F35A99545654}" presName="spacer" presStyleCnt="0"/>
      <dgm:spPr/>
    </dgm:pt>
    <dgm:pt modelId="{BFF6C8F5-65CB-4FA7-B106-7FB062DB6321}" type="pres">
      <dgm:prSet presAssocID="{7959381E-2A97-4A45-89DF-111D6F8C036B}" presName="parentText" presStyleLbl="node1" presStyleIdx="4" presStyleCnt="5">
        <dgm:presLayoutVars>
          <dgm:chMax val="0"/>
          <dgm:bulletEnabled val="1"/>
        </dgm:presLayoutVars>
      </dgm:prSet>
      <dgm:spPr/>
    </dgm:pt>
  </dgm:ptLst>
  <dgm:cxnLst>
    <dgm:cxn modelId="{30574125-A4D2-4D35-8A1B-FF4BE008DC2D}" srcId="{DC860509-FC5A-4BB0-B1EA-5A28955DC5DE}" destId="{7959381E-2A97-4A45-89DF-111D6F8C036B}" srcOrd="4" destOrd="0" parTransId="{6FC29BB9-1316-4DAA-A8E1-291DBCEA0D3C}" sibTransId="{58CB1161-D184-4131-8416-FF6348A20F78}"/>
    <dgm:cxn modelId="{FC51E22D-B2A3-4BD1-90F8-6FDEF418FB90}" type="presOf" srcId="{8C063FB6-F231-49A4-9985-8CE610B279EA}" destId="{E5FC9CB4-78F1-4F73-89B1-185E1303C74F}" srcOrd="0" destOrd="0" presId="urn:microsoft.com/office/officeart/2005/8/layout/vList2"/>
    <dgm:cxn modelId="{3EEA2A62-D18D-4749-A15A-46FB6B19AE71}" srcId="{DC860509-FC5A-4BB0-B1EA-5A28955DC5DE}" destId="{D85F9472-7363-4860-AC9B-ED96BC3A5850}" srcOrd="0" destOrd="0" parTransId="{8B773824-0E24-4D55-B0F6-350F9EDAAB87}" sibTransId="{3BB6BE18-D27E-41AF-8CDF-130401295F27}"/>
    <dgm:cxn modelId="{AA050364-BF8D-42E0-8CCF-59A14F5E3E66}" srcId="{DC860509-FC5A-4BB0-B1EA-5A28955DC5DE}" destId="{AB0754E5-F802-4B30-918E-814B6FD2CA84}" srcOrd="3" destOrd="0" parTransId="{C433357A-2276-4368-B262-D240CA247347}" sibTransId="{29DAB555-D15E-4FFA-8CB0-F35A99545654}"/>
    <dgm:cxn modelId="{27FE5C52-AC4C-404A-A2FD-E8CDD27946E3}" srcId="{DC860509-FC5A-4BB0-B1EA-5A28955DC5DE}" destId="{2440F61C-B280-449E-A373-DFD2927FF0A3}" srcOrd="1" destOrd="0" parTransId="{78218575-CF5B-46F2-8458-07F419F5CB19}" sibTransId="{563E2A7D-6065-4342-9FF6-AFFB58FD27B7}"/>
    <dgm:cxn modelId="{5350EC58-76C2-4E0B-B359-D4EA624E6FC6}" type="presOf" srcId="{AB0754E5-F802-4B30-918E-814B6FD2CA84}" destId="{F99DEBDB-2994-4F61-972E-52FDA3E1F3F1}" srcOrd="0" destOrd="0" presId="urn:microsoft.com/office/officeart/2005/8/layout/vList2"/>
    <dgm:cxn modelId="{A10779A9-563B-49AD-A4B4-82079202DBDD}" srcId="{DC860509-FC5A-4BB0-B1EA-5A28955DC5DE}" destId="{8C063FB6-F231-49A4-9985-8CE610B279EA}" srcOrd="2" destOrd="0" parTransId="{019C6387-7A5C-4E4C-A348-7750C2045A3D}" sibTransId="{CFB60AB7-248D-43AB-AD6C-5AF448D63191}"/>
    <dgm:cxn modelId="{A6C333B5-DAD0-43E7-90F5-F0C1BA45E2D9}" type="presOf" srcId="{2440F61C-B280-449E-A373-DFD2927FF0A3}" destId="{EADCEFD7-41E1-4CA5-88A3-37F817B64A64}" srcOrd="0" destOrd="0" presId="urn:microsoft.com/office/officeart/2005/8/layout/vList2"/>
    <dgm:cxn modelId="{AC0C5DD0-FDD8-43A5-AB10-0BCD90A511CA}" type="presOf" srcId="{DC860509-FC5A-4BB0-B1EA-5A28955DC5DE}" destId="{F41C637C-0463-4689-8564-455B1D21EAB7}" srcOrd="0" destOrd="0" presId="urn:microsoft.com/office/officeart/2005/8/layout/vList2"/>
    <dgm:cxn modelId="{99FA61D8-3A56-46B7-99E0-9F48B74A5500}" type="presOf" srcId="{7959381E-2A97-4A45-89DF-111D6F8C036B}" destId="{BFF6C8F5-65CB-4FA7-B106-7FB062DB6321}" srcOrd="0" destOrd="0" presId="urn:microsoft.com/office/officeart/2005/8/layout/vList2"/>
    <dgm:cxn modelId="{E921C2DD-242C-4777-909B-D63F3721E26D}" type="presOf" srcId="{D85F9472-7363-4860-AC9B-ED96BC3A5850}" destId="{68BBDF64-878B-47B6-8D63-FA32C5D69CF8}" srcOrd="0" destOrd="0" presId="urn:microsoft.com/office/officeart/2005/8/layout/vList2"/>
    <dgm:cxn modelId="{C6BA3088-3F38-4A65-8D68-1537AC2E1544}" type="presParOf" srcId="{F41C637C-0463-4689-8564-455B1D21EAB7}" destId="{68BBDF64-878B-47B6-8D63-FA32C5D69CF8}" srcOrd="0" destOrd="0" presId="urn:microsoft.com/office/officeart/2005/8/layout/vList2"/>
    <dgm:cxn modelId="{61026583-DF11-4C06-9884-E95A2FDE3BF8}" type="presParOf" srcId="{F41C637C-0463-4689-8564-455B1D21EAB7}" destId="{A85C582E-B484-41F1-A7A9-665143238C0D}" srcOrd="1" destOrd="0" presId="urn:microsoft.com/office/officeart/2005/8/layout/vList2"/>
    <dgm:cxn modelId="{830B906F-59DE-46A7-8E50-C0958CE840DC}" type="presParOf" srcId="{F41C637C-0463-4689-8564-455B1D21EAB7}" destId="{EADCEFD7-41E1-4CA5-88A3-37F817B64A64}" srcOrd="2" destOrd="0" presId="urn:microsoft.com/office/officeart/2005/8/layout/vList2"/>
    <dgm:cxn modelId="{473A30CB-D9BA-421A-8E8A-3FEA5C7C51FF}" type="presParOf" srcId="{F41C637C-0463-4689-8564-455B1D21EAB7}" destId="{7E942AE9-2029-4C8A-808B-48FA3A92B9E0}" srcOrd="3" destOrd="0" presId="urn:microsoft.com/office/officeart/2005/8/layout/vList2"/>
    <dgm:cxn modelId="{43AD122B-74B7-4693-85F4-FC6B17304D0C}" type="presParOf" srcId="{F41C637C-0463-4689-8564-455B1D21EAB7}" destId="{E5FC9CB4-78F1-4F73-89B1-185E1303C74F}" srcOrd="4" destOrd="0" presId="urn:microsoft.com/office/officeart/2005/8/layout/vList2"/>
    <dgm:cxn modelId="{CE3FDF7F-C507-4E68-98D4-0CE5AA21202C}" type="presParOf" srcId="{F41C637C-0463-4689-8564-455B1D21EAB7}" destId="{E5D3731E-F3FB-4995-8E6A-8DA1B7F74ADB}" srcOrd="5" destOrd="0" presId="urn:microsoft.com/office/officeart/2005/8/layout/vList2"/>
    <dgm:cxn modelId="{AF322D58-D32A-49D5-A69D-9404D8A09229}" type="presParOf" srcId="{F41C637C-0463-4689-8564-455B1D21EAB7}" destId="{F99DEBDB-2994-4F61-972E-52FDA3E1F3F1}" srcOrd="6" destOrd="0" presId="urn:microsoft.com/office/officeart/2005/8/layout/vList2"/>
    <dgm:cxn modelId="{4CF5F8B9-A77E-405E-9A3C-065AA0D0665A}" type="presParOf" srcId="{F41C637C-0463-4689-8564-455B1D21EAB7}" destId="{9C507B37-DAE2-4A6A-A08A-574529167585}" srcOrd="7" destOrd="0" presId="urn:microsoft.com/office/officeart/2005/8/layout/vList2"/>
    <dgm:cxn modelId="{00CBF961-2A1B-4C66-9BD5-C78E2FBF4379}" type="presParOf" srcId="{F41C637C-0463-4689-8564-455B1D21EAB7}" destId="{BFF6C8F5-65CB-4FA7-B106-7FB062DB6321}"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3786DF-C529-4DFB-9E5C-AF19967AD842}">
      <dsp:nvSpPr>
        <dsp:cNvPr id="0" name=""/>
        <dsp:cNvSpPr/>
      </dsp:nvSpPr>
      <dsp:spPr>
        <a:xfrm>
          <a:off x="0" y="57726"/>
          <a:ext cx="6168240" cy="27027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Project Overview</a:t>
          </a:r>
        </a:p>
      </dsp:txBody>
      <dsp:txXfrm>
        <a:off x="13193" y="70919"/>
        <a:ext cx="6141854" cy="243884"/>
      </dsp:txXfrm>
    </dsp:sp>
    <dsp:sp modelId="{FE8432FC-CAA3-4106-845A-65741B01A7FA}">
      <dsp:nvSpPr>
        <dsp:cNvPr id="0" name=""/>
        <dsp:cNvSpPr/>
      </dsp:nvSpPr>
      <dsp:spPr>
        <a:xfrm>
          <a:off x="0" y="359676"/>
          <a:ext cx="6168240" cy="270270"/>
        </a:xfrm>
        <a:prstGeom prst="roundRect">
          <a:avLst/>
        </a:prstGeom>
        <a:solidFill>
          <a:schemeClr val="accent5">
            <a:hueOff val="-810143"/>
            <a:satOff val="-55"/>
            <a:lumOff val="13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dirty="0"/>
            <a:t>Database Structure</a:t>
          </a:r>
        </a:p>
      </dsp:txBody>
      <dsp:txXfrm>
        <a:off x="13193" y="372869"/>
        <a:ext cx="6141854" cy="243884"/>
      </dsp:txXfrm>
    </dsp:sp>
    <dsp:sp modelId="{25746BB5-3155-4B0D-82EF-FAD1152278A7}">
      <dsp:nvSpPr>
        <dsp:cNvPr id="0" name=""/>
        <dsp:cNvSpPr/>
      </dsp:nvSpPr>
      <dsp:spPr>
        <a:xfrm>
          <a:off x="0" y="661626"/>
          <a:ext cx="6168240" cy="270270"/>
        </a:xfrm>
        <a:prstGeom prst="roundRect">
          <a:avLst/>
        </a:prstGeom>
        <a:solidFill>
          <a:schemeClr val="accent5">
            <a:hueOff val="-1620287"/>
            <a:satOff val="-110"/>
            <a:lumOff val="2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Prep Tasks</a:t>
          </a:r>
        </a:p>
      </dsp:txBody>
      <dsp:txXfrm>
        <a:off x="13193" y="674819"/>
        <a:ext cx="6141854" cy="243884"/>
      </dsp:txXfrm>
    </dsp:sp>
    <dsp:sp modelId="{0D8A274A-CB40-4506-BFFA-27F3DB6AFF27}">
      <dsp:nvSpPr>
        <dsp:cNvPr id="0" name=""/>
        <dsp:cNvSpPr/>
      </dsp:nvSpPr>
      <dsp:spPr>
        <a:xfrm>
          <a:off x="0" y="963576"/>
          <a:ext cx="6168240" cy="270270"/>
        </a:xfrm>
        <a:prstGeom prst="roundRect">
          <a:avLst/>
        </a:prstGeom>
        <a:solidFill>
          <a:schemeClr val="accent5">
            <a:hueOff val="-2430430"/>
            <a:satOff val="-165"/>
            <a:lumOff val="39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dirty="0"/>
            <a:t>Task 1: Increase All Customers’ Age by 1</a:t>
          </a:r>
        </a:p>
      </dsp:txBody>
      <dsp:txXfrm>
        <a:off x="13193" y="976769"/>
        <a:ext cx="6141854" cy="243884"/>
      </dsp:txXfrm>
    </dsp:sp>
    <dsp:sp modelId="{BC1733C1-26B9-4991-9BC9-2B39D3CF32B6}">
      <dsp:nvSpPr>
        <dsp:cNvPr id="0" name=""/>
        <dsp:cNvSpPr/>
      </dsp:nvSpPr>
      <dsp:spPr>
        <a:xfrm>
          <a:off x="0" y="1265526"/>
          <a:ext cx="6168240" cy="270270"/>
        </a:xfrm>
        <a:prstGeom prst="roundRect">
          <a:avLst/>
        </a:prstGeom>
        <a:solidFill>
          <a:schemeClr val="accent5">
            <a:hueOff val="-3240573"/>
            <a:satOff val="-220"/>
            <a:lumOff val="52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dirty="0"/>
            <a:t>Task 2: Reduce a Product’s Stock After Purchase</a:t>
          </a:r>
        </a:p>
      </dsp:txBody>
      <dsp:txXfrm>
        <a:off x="13193" y="1278719"/>
        <a:ext cx="6141854" cy="243884"/>
      </dsp:txXfrm>
    </dsp:sp>
    <dsp:sp modelId="{D4ACC9A5-721E-4880-9D45-C143D260BFB7}">
      <dsp:nvSpPr>
        <dsp:cNvPr id="0" name=""/>
        <dsp:cNvSpPr/>
      </dsp:nvSpPr>
      <dsp:spPr>
        <a:xfrm>
          <a:off x="0" y="1567476"/>
          <a:ext cx="6168240" cy="270270"/>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dirty="0"/>
            <a:t>Task 3: Premium Customer Emails</a:t>
          </a:r>
        </a:p>
      </dsp:txBody>
      <dsp:txXfrm>
        <a:off x="13193" y="1580669"/>
        <a:ext cx="6141854" cy="243884"/>
      </dsp:txXfrm>
    </dsp:sp>
    <dsp:sp modelId="{9A025C7C-C896-4D3D-9E42-ADC000DEAD6E}">
      <dsp:nvSpPr>
        <dsp:cNvPr id="0" name=""/>
        <dsp:cNvSpPr/>
      </dsp:nvSpPr>
      <dsp:spPr>
        <a:xfrm>
          <a:off x="0" y="1869426"/>
          <a:ext cx="6168240" cy="270270"/>
        </a:xfrm>
        <a:prstGeom prst="roundRect">
          <a:avLst/>
        </a:prstGeom>
        <a:solidFill>
          <a:schemeClr val="accent5">
            <a:hueOff val="-4860860"/>
            <a:satOff val="-330"/>
            <a:lumOff val="78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dirty="0"/>
            <a:t>Task 4: Refunded Orders in Last 30 Days</a:t>
          </a:r>
        </a:p>
      </dsp:txBody>
      <dsp:txXfrm>
        <a:off x="13193" y="1882619"/>
        <a:ext cx="6141854" cy="243884"/>
      </dsp:txXfrm>
    </dsp:sp>
    <dsp:sp modelId="{0F88C10D-8E1C-4175-830D-AE2A9F43B91C}">
      <dsp:nvSpPr>
        <dsp:cNvPr id="0" name=""/>
        <dsp:cNvSpPr/>
      </dsp:nvSpPr>
      <dsp:spPr>
        <a:xfrm>
          <a:off x="0" y="2171376"/>
          <a:ext cx="6168240" cy="270270"/>
        </a:xfrm>
        <a:prstGeom prst="roundRect">
          <a:avLst/>
        </a:prstGeom>
        <a:solidFill>
          <a:schemeClr val="accent5">
            <a:hueOff val="-5671003"/>
            <a:satOff val="-385"/>
            <a:lumOff val="91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dirty="0"/>
            <a:t>Task 5: Count Orders by Payment Status</a:t>
          </a:r>
        </a:p>
      </dsp:txBody>
      <dsp:txXfrm>
        <a:off x="13193" y="2184569"/>
        <a:ext cx="6141854" cy="243884"/>
      </dsp:txXfrm>
    </dsp:sp>
    <dsp:sp modelId="{B928ED66-C329-420F-B129-0343AB4167D0}">
      <dsp:nvSpPr>
        <dsp:cNvPr id="0" name=""/>
        <dsp:cNvSpPr/>
      </dsp:nvSpPr>
      <dsp:spPr>
        <a:xfrm>
          <a:off x="0" y="2473326"/>
          <a:ext cx="6168240" cy="270270"/>
        </a:xfrm>
        <a:prstGeom prst="roundRect">
          <a:avLst/>
        </a:prstGeom>
        <a:solidFill>
          <a:schemeClr val="accent5">
            <a:hueOff val="-6481147"/>
            <a:satOff val="-441"/>
            <a:lumOff val="104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dirty="0">
              <a:solidFill>
                <a:schemeClr val="tx1">
                  <a:lumMod val="95000"/>
                </a:schemeClr>
              </a:solidFill>
            </a:rPr>
            <a:t>Task 6: </a:t>
          </a:r>
          <a:r>
            <a:rPr lang="en-US" sz="1100" b="1" i="0" kern="1200" dirty="0">
              <a:solidFill>
                <a:schemeClr val="tx1">
                  <a:lumMod val="95000"/>
                </a:schemeClr>
              </a:solidFill>
              <a:effectLst/>
              <a:latin typeface="+mn-lt"/>
              <a:ea typeface="+mn-ea"/>
              <a:cs typeface="+mn-cs"/>
            </a:rPr>
            <a:t>Promote high-activity customers to premium</a:t>
          </a:r>
        </a:p>
      </dsp:txBody>
      <dsp:txXfrm>
        <a:off x="13193" y="2486519"/>
        <a:ext cx="6141854" cy="243884"/>
      </dsp:txXfrm>
    </dsp:sp>
    <dsp:sp modelId="{B14B5C91-16CA-474D-BE89-262E7AD26B1B}">
      <dsp:nvSpPr>
        <dsp:cNvPr id="0" name=""/>
        <dsp:cNvSpPr/>
      </dsp:nvSpPr>
      <dsp:spPr>
        <a:xfrm>
          <a:off x="0" y="2775276"/>
          <a:ext cx="6168240" cy="270270"/>
        </a:xfrm>
        <a:prstGeom prst="roundRect">
          <a:avLst/>
        </a:prstGeom>
        <a:solidFill>
          <a:schemeClr val="accent5">
            <a:hueOff val="-7291290"/>
            <a:satOff val="-496"/>
            <a:lumOff val="11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kern="1200">
              <a:solidFill>
                <a:srgbClr val="FFFFFF"/>
              </a:solidFill>
            </a:rPr>
            <a:t>Task 7: Products costing more than $200</a:t>
          </a:r>
          <a:endParaRPr lang="en-US" sz="1100" kern="1200"/>
        </a:p>
      </dsp:txBody>
      <dsp:txXfrm>
        <a:off x="13193" y="2788469"/>
        <a:ext cx="6141854" cy="243884"/>
      </dsp:txXfrm>
    </dsp:sp>
    <dsp:sp modelId="{D81EDBB2-7029-4D91-8933-F0DEFD6F1ECF}">
      <dsp:nvSpPr>
        <dsp:cNvPr id="0" name=""/>
        <dsp:cNvSpPr/>
      </dsp:nvSpPr>
      <dsp:spPr>
        <a:xfrm>
          <a:off x="0" y="3077226"/>
          <a:ext cx="6168240" cy="270270"/>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kern="1200" dirty="0">
              <a:solidFill>
                <a:srgbClr val="FFFFFF"/>
              </a:solidFill>
            </a:rPr>
            <a:t>Task 8: Orders including a specific product</a:t>
          </a:r>
          <a:endParaRPr lang="en-US" sz="1100" kern="1200" dirty="0"/>
        </a:p>
      </dsp:txBody>
      <dsp:txXfrm>
        <a:off x="13193" y="3090419"/>
        <a:ext cx="6141854" cy="243884"/>
      </dsp:txXfrm>
    </dsp:sp>
    <dsp:sp modelId="{42E4AD15-1672-4D73-BAC1-87D01A30167A}">
      <dsp:nvSpPr>
        <dsp:cNvPr id="0" name=""/>
        <dsp:cNvSpPr/>
      </dsp:nvSpPr>
      <dsp:spPr>
        <a:xfrm>
          <a:off x="0" y="3379176"/>
          <a:ext cx="6168240" cy="270270"/>
        </a:xfrm>
        <a:prstGeom prst="roundRect">
          <a:avLst/>
        </a:prstGeom>
        <a:solidFill>
          <a:schemeClr val="accent5">
            <a:hueOff val="-8911577"/>
            <a:satOff val="-606"/>
            <a:lumOff val="143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kern="1200">
              <a:solidFill>
                <a:srgbClr val="FFFFFF"/>
              </a:solidFill>
            </a:rPr>
            <a:t>Task 9: Delete customers never placed an order</a:t>
          </a:r>
          <a:endParaRPr lang="en-US" sz="1100" kern="1200"/>
        </a:p>
      </dsp:txBody>
      <dsp:txXfrm>
        <a:off x="13193" y="3392369"/>
        <a:ext cx="6141854" cy="243884"/>
      </dsp:txXfrm>
    </dsp:sp>
    <dsp:sp modelId="{1F051849-A172-4585-B74B-15D1FA70E40E}">
      <dsp:nvSpPr>
        <dsp:cNvPr id="0" name=""/>
        <dsp:cNvSpPr/>
      </dsp:nvSpPr>
      <dsp:spPr>
        <a:xfrm>
          <a:off x="0" y="3681126"/>
          <a:ext cx="6168240" cy="270270"/>
        </a:xfrm>
        <a:prstGeom prst="roundRect">
          <a:avLst/>
        </a:prstGeom>
        <a:solidFill>
          <a:schemeClr val="accent5">
            <a:hueOff val="-9721720"/>
            <a:satOff val="-661"/>
            <a:lumOff val="15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kern="1200">
              <a:solidFill>
                <a:srgbClr val="FFFFFF"/>
              </a:solidFill>
            </a:rPr>
            <a:t>Task 10: Categories preferred by customers under 25</a:t>
          </a:r>
          <a:endParaRPr lang="en-US" sz="1100" kern="1200"/>
        </a:p>
      </dsp:txBody>
      <dsp:txXfrm>
        <a:off x="13193" y="3694319"/>
        <a:ext cx="6141854" cy="243884"/>
      </dsp:txXfrm>
    </dsp:sp>
    <dsp:sp modelId="{CEA6296E-F575-4580-92E3-46ADAE54908B}">
      <dsp:nvSpPr>
        <dsp:cNvPr id="0" name=""/>
        <dsp:cNvSpPr/>
      </dsp:nvSpPr>
      <dsp:spPr>
        <a:xfrm>
          <a:off x="0" y="3983076"/>
          <a:ext cx="6168240" cy="270270"/>
        </a:xfrm>
        <a:prstGeom prst="roundRect">
          <a:avLst/>
        </a:prstGeom>
        <a:solidFill>
          <a:schemeClr val="accent5">
            <a:hueOff val="-10531863"/>
            <a:satOff val="-716"/>
            <a:lumOff val="170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altLang="zh-CN" sz="1100" b="1" kern="1200">
              <a:solidFill>
                <a:srgbClr val="FFFFFF"/>
              </a:solidFill>
            </a:rPr>
            <a:t>Task 11:</a:t>
          </a:r>
          <a:r>
            <a:rPr lang="en-US" sz="1100" b="1" kern="1200">
              <a:solidFill>
                <a:srgbClr val="FFFFFF"/>
              </a:solidFill>
            </a:rPr>
            <a:t>Customers with emails from Yahoo/Gmail</a:t>
          </a:r>
          <a:endParaRPr lang="en-US" sz="1100" kern="1200"/>
        </a:p>
      </dsp:txBody>
      <dsp:txXfrm>
        <a:off x="13193" y="3996269"/>
        <a:ext cx="6141854" cy="243884"/>
      </dsp:txXfrm>
    </dsp:sp>
    <dsp:sp modelId="{B3F71D6D-D22E-404F-B9E6-CF24E7D85074}">
      <dsp:nvSpPr>
        <dsp:cNvPr id="0" name=""/>
        <dsp:cNvSpPr/>
      </dsp:nvSpPr>
      <dsp:spPr>
        <a:xfrm>
          <a:off x="0" y="4285026"/>
          <a:ext cx="6168240" cy="270270"/>
        </a:xfrm>
        <a:prstGeom prst="roundRect">
          <a:avLst/>
        </a:prstGeom>
        <a:solidFill>
          <a:schemeClr val="accent5">
            <a:hueOff val="-11342007"/>
            <a:satOff val="-771"/>
            <a:lumOff val="183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kern="1200" dirty="0"/>
            <a:t>Execution Time and Ranking</a:t>
          </a:r>
          <a:endParaRPr lang="en-US" sz="1100" kern="1200" dirty="0"/>
        </a:p>
      </dsp:txBody>
      <dsp:txXfrm>
        <a:off x="13193" y="4298219"/>
        <a:ext cx="6141854" cy="243884"/>
      </dsp:txXfrm>
    </dsp:sp>
    <dsp:sp modelId="{A20EE3E9-0636-4E85-9B22-A75489C7D9CB}">
      <dsp:nvSpPr>
        <dsp:cNvPr id="0" name=""/>
        <dsp:cNvSpPr/>
      </dsp:nvSpPr>
      <dsp:spPr>
        <a:xfrm>
          <a:off x="0" y="4586976"/>
          <a:ext cx="6168240" cy="27027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kern="1200"/>
            <a:t>MongoDB Performance Summary</a:t>
          </a:r>
          <a:endParaRPr lang="en-US" sz="1100" kern="1200"/>
        </a:p>
      </dsp:txBody>
      <dsp:txXfrm>
        <a:off x="13193" y="4600169"/>
        <a:ext cx="6141854" cy="2438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AAC4AF-D498-4750-BAA4-510BDDB05994}">
      <dsp:nvSpPr>
        <dsp:cNvPr id="0" name=""/>
        <dsp:cNvSpPr/>
      </dsp:nvSpPr>
      <dsp:spPr>
        <a:xfrm>
          <a:off x="0" y="13912"/>
          <a:ext cx="7886700" cy="160055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1" kern="1200" dirty="0"/>
            <a:t>What We Are Doing</a:t>
          </a:r>
          <a:r>
            <a:rPr lang="en-US" sz="1200" kern="1200" dirty="0"/>
            <a:t> </a:t>
          </a:r>
        </a:p>
        <a:p>
          <a:pPr marL="0" lvl="0" indent="0" algn="l" defTabSz="533400">
            <a:lnSpc>
              <a:spcPct val="90000"/>
            </a:lnSpc>
            <a:spcBef>
              <a:spcPct val="0"/>
            </a:spcBef>
            <a:spcAft>
              <a:spcPct val="35000"/>
            </a:spcAft>
            <a:buNone/>
          </a:pPr>
          <a:r>
            <a:rPr lang="en-US" sz="1200" kern="1200" dirty="0"/>
            <a:t>Building an </a:t>
          </a:r>
          <a:r>
            <a:rPr lang="en-US" sz="1200" b="1" kern="1200" dirty="0"/>
            <a:t>online shopping system</a:t>
          </a:r>
          <a:r>
            <a:rPr lang="en-US" sz="1200" kern="1200" dirty="0"/>
            <a:t> in MongoDB with: </a:t>
          </a:r>
        </a:p>
        <a:p>
          <a:pPr marL="0" lvl="0" indent="0" algn="l" defTabSz="533400">
            <a:lnSpc>
              <a:spcPct val="90000"/>
            </a:lnSpc>
            <a:spcBef>
              <a:spcPct val="0"/>
            </a:spcBef>
            <a:spcAft>
              <a:spcPct val="35000"/>
            </a:spcAft>
            <a:buNone/>
          </a:pPr>
          <a:r>
            <a:rPr lang="en-US" sz="1200" kern="1200" dirty="0"/>
            <a:t>- </a:t>
          </a:r>
          <a:r>
            <a:rPr lang="en-US" sz="1200" kern="1200" dirty="0" err="1"/>
            <a:t>shopdb</a:t>
          </a:r>
          <a:r>
            <a:rPr lang="en-US" sz="1200" kern="1200" dirty="0"/>
            <a:t> as the database, </a:t>
          </a:r>
        </a:p>
        <a:p>
          <a:pPr marL="0" lvl="0" indent="0" algn="l" defTabSz="533400">
            <a:lnSpc>
              <a:spcPct val="90000"/>
            </a:lnSpc>
            <a:spcBef>
              <a:spcPct val="0"/>
            </a:spcBef>
            <a:spcAft>
              <a:spcPct val="35000"/>
            </a:spcAft>
            <a:buNone/>
          </a:pPr>
          <a:r>
            <a:rPr lang="en-US" sz="1200" kern="1200" dirty="0"/>
            <a:t>- customers, products, and orders as the core collections. </a:t>
          </a:r>
        </a:p>
        <a:p>
          <a:pPr marL="0" lvl="0" indent="0" algn="l" defTabSz="533400">
            <a:lnSpc>
              <a:spcPct val="90000"/>
            </a:lnSpc>
            <a:spcBef>
              <a:spcPct val="0"/>
            </a:spcBef>
            <a:spcAft>
              <a:spcPct val="35000"/>
            </a:spcAft>
            <a:buNone/>
          </a:pPr>
          <a:r>
            <a:rPr lang="en-US" sz="1200" kern="1200" dirty="0"/>
            <a:t>Focus on MongoDB: </a:t>
          </a:r>
        </a:p>
        <a:p>
          <a:pPr marL="0" lvl="0" indent="0" algn="l" defTabSz="533400">
            <a:lnSpc>
              <a:spcPct val="90000"/>
            </a:lnSpc>
            <a:spcBef>
              <a:spcPct val="0"/>
            </a:spcBef>
            <a:spcAft>
              <a:spcPct val="35000"/>
            </a:spcAft>
            <a:buNone/>
          </a:pPr>
          <a:r>
            <a:rPr lang="en-US" sz="1200" kern="1200" dirty="0"/>
            <a:t>- Updates, aggregation, and </a:t>
          </a:r>
          <a:r>
            <a:rPr lang="en-US" sz="1200" b="1" kern="1200" dirty="0"/>
            <a:t>performance timing</a:t>
          </a:r>
          <a:r>
            <a:rPr lang="en-US" sz="1200" kern="1200" dirty="0"/>
            <a:t> of queries.</a:t>
          </a:r>
        </a:p>
      </dsp:txBody>
      <dsp:txXfrm>
        <a:off x="78133" y="92045"/>
        <a:ext cx="7730434" cy="1444293"/>
      </dsp:txXfrm>
    </dsp:sp>
    <dsp:sp modelId="{8FD6FC5C-A6C6-4166-9CD6-7ADFB8D29217}">
      <dsp:nvSpPr>
        <dsp:cNvPr id="0" name=""/>
        <dsp:cNvSpPr/>
      </dsp:nvSpPr>
      <dsp:spPr>
        <a:xfrm>
          <a:off x="0" y="1649032"/>
          <a:ext cx="7886700" cy="1600559"/>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1" kern="1200"/>
            <a:t>Reference‑Style Workflow</a:t>
          </a:r>
          <a:r>
            <a:rPr lang="en-US" sz="1200" kern="1200"/>
            <a:t> - Generate large fake datasets with Python + Faker (100K+ customers, 50K+ products, 100K+ orders). - Intentionally create a small fraction of bad records (missing email, missing category, empty orders, invalid payment_status). - Run prep tasks to clean and normalize data. - Solve </a:t>
          </a:r>
          <a:r>
            <a:rPr lang="en-US" sz="1200" b="1" kern="1200"/>
            <a:t>11 MongoDB tasks</a:t>
          </a:r>
          <a:r>
            <a:rPr lang="en-US" sz="1200" kern="1200"/>
            <a:t> in mongosh. - For </a:t>
          </a:r>
          <a:r>
            <a:rPr lang="en-US" sz="1200" b="1" kern="1200"/>
            <a:t>every task</a:t>
          </a:r>
          <a:r>
            <a:rPr lang="en-US" sz="1200" kern="1200"/>
            <a:t>, run it </a:t>
          </a:r>
          <a:r>
            <a:rPr lang="en-US" sz="1200" b="1" kern="1200"/>
            <a:t>10 times</a:t>
          </a:r>
          <a:r>
            <a:rPr lang="en-US" sz="1200" kern="1200"/>
            <a:t> and compute its </a:t>
          </a:r>
          <a:r>
            <a:rPr lang="en-US" sz="1200" b="1" kern="1200"/>
            <a:t>average execution time</a:t>
          </a:r>
          <a:r>
            <a:rPr lang="en-US" sz="1200" kern="1200"/>
            <a:t>. - Deliverables: Solutions.txt, Python scripts, and screenshots.</a:t>
          </a:r>
          <a:endParaRPr lang="en-US" sz="1200" kern="1200" dirty="0"/>
        </a:p>
      </dsp:txBody>
      <dsp:txXfrm>
        <a:off x="78133" y="1727165"/>
        <a:ext cx="7730434" cy="14442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8928FA-0F1A-46B4-8441-B29E34C0F1C1}">
      <dsp:nvSpPr>
        <dsp:cNvPr id="0" name=""/>
        <dsp:cNvSpPr/>
      </dsp:nvSpPr>
      <dsp:spPr>
        <a:xfrm>
          <a:off x="750914" y="483382"/>
          <a:ext cx="1081248" cy="10812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9C216B-AE1A-45CF-89C3-909343CE0493}">
      <dsp:nvSpPr>
        <dsp:cNvPr id="0" name=""/>
        <dsp:cNvSpPr/>
      </dsp:nvSpPr>
      <dsp:spPr>
        <a:xfrm>
          <a:off x="90151" y="1882501"/>
          <a:ext cx="24027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pPr>
          <a:r>
            <a:rPr lang="en-US" sz="3600" b="1" kern="1200"/>
            <a:t>Customers</a:t>
          </a:r>
          <a:endParaRPr lang="en-US" sz="3600" kern="1200"/>
        </a:p>
      </dsp:txBody>
      <dsp:txXfrm>
        <a:off x="90151" y="1882501"/>
        <a:ext cx="2402775" cy="720000"/>
      </dsp:txXfrm>
    </dsp:sp>
    <dsp:sp modelId="{4124E679-A82C-4A9E-BC67-60EE4542592E}">
      <dsp:nvSpPr>
        <dsp:cNvPr id="0" name=""/>
        <dsp:cNvSpPr/>
      </dsp:nvSpPr>
      <dsp:spPr>
        <a:xfrm>
          <a:off x="3574175" y="483382"/>
          <a:ext cx="1081248" cy="10812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EA2908-BE85-4FF8-9982-B97E69FFFFC6}">
      <dsp:nvSpPr>
        <dsp:cNvPr id="0" name=""/>
        <dsp:cNvSpPr/>
      </dsp:nvSpPr>
      <dsp:spPr>
        <a:xfrm>
          <a:off x="2913412" y="1882501"/>
          <a:ext cx="24027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pPr>
          <a:r>
            <a:rPr lang="en-US" sz="3600" b="1" kern="1200"/>
            <a:t>Products</a:t>
          </a:r>
          <a:endParaRPr lang="en-US" sz="3600" kern="1200"/>
        </a:p>
      </dsp:txBody>
      <dsp:txXfrm>
        <a:off x="2913412" y="1882501"/>
        <a:ext cx="2402775" cy="720000"/>
      </dsp:txXfrm>
    </dsp:sp>
    <dsp:sp modelId="{260E6990-C9BC-4DAA-97D5-6571B8449A99}">
      <dsp:nvSpPr>
        <dsp:cNvPr id="0" name=""/>
        <dsp:cNvSpPr/>
      </dsp:nvSpPr>
      <dsp:spPr>
        <a:xfrm>
          <a:off x="6397436" y="483382"/>
          <a:ext cx="1081248" cy="10812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E1DCF7-40D8-438E-9E28-D7F6D98F029C}">
      <dsp:nvSpPr>
        <dsp:cNvPr id="0" name=""/>
        <dsp:cNvSpPr/>
      </dsp:nvSpPr>
      <dsp:spPr>
        <a:xfrm>
          <a:off x="5736673" y="1882501"/>
          <a:ext cx="24027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pPr>
          <a:r>
            <a:rPr lang="en-US" sz="3600" b="1" kern="1200"/>
            <a:t>Orders</a:t>
          </a:r>
          <a:endParaRPr lang="en-US" sz="3600" kern="1200"/>
        </a:p>
      </dsp:txBody>
      <dsp:txXfrm>
        <a:off x="5736673" y="1882501"/>
        <a:ext cx="2402775"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58AB21-3CAB-4D17-A5B9-140BF7630983}">
      <dsp:nvSpPr>
        <dsp:cNvPr id="0" name=""/>
        <dsp:cNvSpPr/>
      </dsp:nvSpPr>
      <dsp:spPr>
        <a:xfrm>
          <a:off x="0" y="1698781"/>
          <a:ext cx="3968747" cy="1114584"/>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en-US" sz="900" b="1" kern="1200"/>
            <a:t>Performance</a:t>
          </a:r>
          <a:r>
            <a:rPr lang="en-US" sz="900" kern="1200"/>
            <a:t> - For each task, ran </a:t>
          </a:r>
          <a:r>
            <a:rPr lang="en-US" sz="900" b="1" kern="1200"/>
            <a:t>10 executions</a:t>
          </a:r>
          <a:r>
            <a:rPr lang="en-US" sz="900" kern="1200"/>
            <a:t> and computed the </a:t>
          </a:r>
          <a:r>
            <a:rPr lang="en-US" sz="900" b="1" kern="1200"/>
            <a:t>average execution time</a:t>
          </a:r>
          <a:r>
            <a:rPr lang="en-US" sz="900" kern="1200"/>
            <a:t> to analyze query performance.</a:t>
          </a:r>
        </a:p>
      </dsp:txBody>
      <dsp:txXfrm>
        <a:off x="0" y="1698781"/>
        <a:ext cx="3968747" cy="1114584"/>
      </dsp:txXfrm>
    </dsp:sp>
    <dsp:sp modelId="{1D3CAD4A-F9CF-4AC1-AEEB-5A19BCE4C6E8}">
      <dsp:nvSpPr>
        <dsp:cNvPr id="0" name=""/>
        <dsp:cNvSpPr/>
      </dsp:nvSpPr>
      <dsp:spPr>
        <a:xfrm rot="10800000">
          <a:off x="0" y="1269"/>
          <a:ext cx="3968747" cy="1714231"/>
        </a:xfrm>
        <a:prstGeom prst="upArrowCallou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en-US" sz="900" b="1" kern="1200"/>
            <a:t>Data Generation &amp; Cleaning</a:t>
          </a:r>
          <a:r>
            <a:rPr lang="en-US" sz="900" kern="1200"/>
            <a:t> - Used Python + Faker to generate customers, products, and orders. - Introduced imperfect records (missing email, missing category, empty orders, invalid payment_status). - Performed MongoDB prep tasks: - Check counts (countDocuments). - Fix missing email → "unknown@example.com". - Fix missing category → "Misc". - Remove empty orders (items: []). - Normalize invalid payment_status → "pending".</a:t>
          </a:r>
        </a:p>
      </dsp:txBody>
      <dsp:txXfrm rot="10800000">
        <a:off x="0" y="1269"/>
        <a:ext cx="3968747" cy="111385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DD30C0-9E27-445A-A8A2-154657850F82}">
      <dsp:nvSpPr>
        <dsp:cNvPr id="0" name=""/>
        <dsp:cNvSpPr/>
      </dsp:nvSpPr>
      <dsp:spPr>
        <a:xfrm>
          <a:off x="0" y="140253"/>
          <a:ext cx="8229600" cy="39926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kern="1200"/>
            <a:t>Goal</a:t>
          </a:r>
          <a:r>
            <a:rPr lang="en-US" sz="1000" kern="1200"/>
            <a:t> - Choose one product with stock &gt; 0. - Reduce its stock by 1. - Reset the stock before </a:t>
          </a:r>
          <a:r>
            <a:rPr lang="en-US" sz="1000" b="1" kern="1200"/>
            <a:t>each timed run</a:t>
          </a:r>
          <a:r>
            <a:rPr lang="en-US" sz="1000" kern="1200"/>
            <a:t>.</a:t>
          </a:r>
        </a:p>
      </dsp:txBody>
      <dsp:txXfrm>
        <a:off x="19490" y="159743"/>
        <a:ext cx="8190620" cy="360282"/>
      </dsp:txXfrm>
    </dsp:sp>
    <dsp:sp modelId="{A4772292-80A4-4F25-BB74-BEE307F41CE6}">
      <dsp:nvSpPr>
        <dsp:cNvPr id="0" name=""/>
        <dsp:cNvSpPr/>
      </dsp:nvSpPr>
      <dsp:spPr>
        <a:xfrm>
          <a:off x="0" y="568315"/>
          <a:ext cx="8229600" cy="39926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kern="1200"/>
            <a:t>1. Find a suitable product ID</a:t>
          </a:r>
          <a:endParaRPr lang="en-US" sz="1000" kern="1200"/>
        </a:p>
      </dsp:txBody>
      <dsp:txXfrm>
        <a:off x="19490" y="587805"/>
        <a:ext cx="8190620" cy="360282"/>
      </dsp:txXfrm>
    </dsp:sp>
    <dsp:sp modelId="{D5B030D0-950A-4BA0-A37A-B20818B249CB}">
      <dsp:nvSpPr>
        <dsp:cNvPr id="0" name=""/>
        <dsp:cNvSpPr/>
      </dsp:nvSpPr>
      <dsp:spPr>
        <a:xfrm>
          <a:off x="0" y="967578"/>
          <a:ext cx="8229600" cy="476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12700" rIns="71120" bIns="12700" numCol="1" spcCol="1270" anchor="t" anchorCtr="0">
          <a:noAutofit/>
        </a:bodyPr>
        <a:lstStyle/>
        <a:p>
          <a:pPr marL="57150" lvl="1" indent="-57150" algn="l" defTabSz="355600">
            <a:lnSpc>
              <a:spcPct val="90000"/>
            </a:lnSpc>
            <a:spcBef>
              <a:spcPct val="0"/>
            </a:spcBef>
            <a:spcAft>
              <a:spcPct val="20000"/>
            </a:spcAft>
            <a:buChar char="•"/>
          </a:pPr>
          <a:r>
            <a:rPr lang="en-US" sz="800" kern="1200"/>
            <a:t>db.products.findOne(</a:t>
          </a:r>
          <a:br>
            <a:rPr lang="en-US" sz="800" kern="1200"/>
          </a:br>
          <a:r>
            <a:rPr lang="en-US" sz="800" kern="1200"/>
            <a:t>  { stock: { $gt: 0 } },</a:t>
          </a:r>
          <a:br>
            <a:rPr lang="en-US" sz="800" kern="1200"/>
          </a:br>
          <a:r>
            <a:rPr lang="en-US" sz="800" kern="1200"/>
            <a:t>  { projection: { _id: 1, name: 1, stock: 1 } }</a:t>
          </a:r>
          <a:br>
            <a:rPr lang="en-US" sz="800" kern="1200"/>
          </a:br>
          <a:r>
            <a:rPr lang="en-US" sz="800" kern="1200"/>
            <a:t>)</a:t>
          </a:r>
        </a:p>
      </dsp:txBody>
      <dsp:txXfrm>
        <a:off x="0" y="967578"/>
        <a:ext cx="8229600" cy="476100"/>
      </dsp:txXfrm>
    </dsp:sp>
    <dsp:sp modelId="{0524729A-D4ED-4495-9019-DD447D4EDBA7}">
      <dsp:nvSpPr>
        <dsp:cNvPr id="0" name=""/>
        <dsp:cNvSpPr/>
      </dsp:nvSpPr>
      <dsp:spPr>
        <a:xfrm>
          <a:off x="0" y="1443678"/>
          <a:ext cx="8229600" cy="39926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kern="1200"/>
            <a:t>2. Reduce stock by 1</a:t>
          </a:r>
          <a:br>
            <a:rPr lang="en-US" sz="1000" kern="1200"/>
          </a:br>
          <a:r>
            <a:rPr lang="en-US" sz="1000" kern="1200"/>
            <a:t>(Example with _id: 2001)</a:t>
          </a:r>
        </a:p>
      </dsp:txBody>
      <dsp:txXfrm>
        <a:off x="19490" y="1463168"/>
        <a:ext cx="8190620" cy="360282"/>
      </dsp:txXfrm>
    </dsp:sp>
    <dsp:sp modelId="{65344AF2-A226-4290-BA54-38D90FA0922F}">
      <dsp:nvSpPr>
        <dsp:cNvPr id="0" name=""/>
        <dsp:cNvSpPr/>
      </dsp:nvSpPr>
      <dsp:spPr>
        <a:xfrm>
          <a:off x="0" y="1842940"/>
          <a:ext cx="8229600" cy="476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12700" rIns="71120" bIns="12700" numCol="1" spcCol="1270" anchor="t" anchorCtr="0">
          <a:noAutofit/>
        </a:bodyPr>
        <a:lstStyle/>
        <a:p>
          <a:pPr marL="57150" lvl="1" indent="-57150" algn="l" defTabSz="355600">
            <a:lnSpc>
              <a:spcPct val="90000"/>
            </a:lnSpc>
            <a:spcBef>
              <a:spcPct val="0"/>
            </a:spcBef>
            <a:spcAft>
              <a:spcPct val="20000"/>
            </a:spcAft>
            <a:buChar char="•"/>
          </a:pPr>
          <a:r>
            <a:rPr lang="en-US" sz="800" kern="1200"/>
            <a:t>db.products.updateOne(</a:t>
          </a:r>
          <a:br>
            <a:rPr lang="en-US" sz="800" kern="1200"/>
          </a:br>
          <a:r>
            <a:rPr lang="en-US" sz="800" kern="1200"/>
            <a:t>  { _id: 2001 },</a:t>
          </a:r>
          <a:br>
            <a:rPr lang="en-US" sz="800" kern="1200"/>
          </a:br>
          <a:r>
            <a:rPr lang="en-US" sz="800" kern="1200"/>
            <a:t>  { $inc: { stock: -1 } }</a:t>
          </a:r>
          <a:br>
            <a:rPr lang="en-US" sz="800" kern="1200"/>
          </a:br>
          <a:r>
            <a:rPr lang="en-US" sz="800" kern="1200"/>
            <a:t>)</a:t>
          </a:r>
        </a:p>
      </dsp:txBody>
      <dsp:txXfrm>
        <a:off x="0" y="1842940"/>
        <a:ext cx="8229600" cy="476100"/>
      </dsp:txXfrm>
    </dsp:sp>
    <dsp:sp modelId="{DF95F7C4-3841-49E4-BBA1-BE3C0E2FC8BF}">
      <dsp:nvSpPr>
        <dsp:cNvPr id="0" name=""/>
        <dsp:cNvSpPr/>
      </dsp:nvSpPr>
      <dsp:spPr>
        <a:xfrm>
          <a:off x="0" y="2319040"/>
          <a:ext cx="8229600" cy="39926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kern="1200"/>
            <a:t>3. Reset stock before next timed run</a:t>
          </a:r>
          <a:br>
            <a:rPr lang="en-US" sz="1000" kern="1200"/>
          </a:br>
          <a:r>
            <a:rPr lang="en-US" sz="1000" kern="1200"/>
            <a:t>(Example: stock originally 50)</a:t>
          </a:r>
        </a:p>
      </dsp:txBody>
      <dsp:txXfrm>
        <a:off x="19490" y="2338530"/>
        <a:ext cx="8190620" cy="360282"/>
      </dsp:txXfrm>
    </dsp:sp>
    <dsp:sp modelId="{9B52447D-0638-49E4-9A17-5279C0454AF6}">
      <dsp:nvSpPr>
        <dsp:cNvPr id="0" name=""/>
        <dsp:cNvSpPr/>
      </dsp:nvSpPr>
      <dsp:spPr>
        <a:xfrm>
          <a:off x="0" y="2718303"/>
          <a:ext cx="8229600" cy="476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12700" rIns="71120" bIns="12700" numCol="1" spcCol="1270" anchor="t" anchorCtr="0">
          <a:noAutofit/>
        </a:bodyPr>
        <a:lstStyle/>
        <a:p>
          <a:pPr marL="57150" lvl="1" indent="-57150" algn="l" defTabSz="355600">
            <a:lnSpc>
              <a:spcPct val="90000"/>
            </a:lnSpc>
            <a:spcBef>
              <a:spcPct val="0"/>
            </a:spcBef>
            <a:spcAft>
              <a:spcPct val="20000"/>
            </a:spcAft>
            <a:buChar char="•"/>
          </a:pPr>
          <a:r>
            <a:rPr lang="en-US" sz="800" kern="1200"/>
            <a:t>db.products.updateOne(</a:t>
          </a:r>
          <a:br>
            <a:rPr lang="en-US" sz="800" kern="1200"/>
          </a:br>
          <a:r>
            <a:rPr lang="en-US" sz="800" kern="1200"/>
            <a:t>  { _id: 2001 },</a:t>
          </a:r>
          <a:br>
            <a:rPr lang="en-US" sz="800" kern="1200"/>
          </a:br>
          <a:r>
            <a:rPr lang="en-US" sz="800" kern="1200"/>
            <a:t>  { $set: { stock: 50 } }</a:t>
          </a:r>
          <a:br>
            <a:rPr lang="en-US" sz="800" kern="1200"/>
          </a:br>
          <a:r>
            <a:rPr lang="en-US" sz="800" kern="1200"/>
            <a:t>)</a:t>
          </a:r>
        </a:p>
      </dsp:txBody>
      <dsp:txXfrm>
        <a:off x="0" y="2718303"/>
        <a:ext cx="8229600" cy="476100"/>
      </dsp:txXfrm>
    </dsp:sp>
    <dsp:sp modelId="{2B29D59D-F245-476A-B350-5E891130771A}">
      <dsp:nvSpPr>
        <dsp:cNvPr id="0" name=""/>
        <dsp:cNvSpPr/>
      </dsp:nvSpPr>
      <dsp:spPr>
        <a:xfrm>
          <a:off x="0" y="3194403"/>
          <a:ext cx="8229600" cy="39926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kern="1200"/>
            <a:t>Timing note</a:t>
          </a:r>
          <a:r>
            <a:rPr lang="en-US" sz="1000" kern="1200"/>
            <a:t> - Timed this updateOne 10 times; average time shows typical single‑document‑update performance. Time (s): 0.0007655999856069684</a:t>
          </a:r>
        </a:p>
      </dsp:txBody>
      <dsp:txXfrm>
        <a:off x="19490" y="3213893"/>
        <a:ext cx="8190620" cy="36028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BBDF64-878B-47B6-8D63-FA32C5D69CF8}">
      <dsp:nvSpPr>
        <dsp:cNvPr id="0" name=""/>
        <dsp:cNvSpPr/>
      </dsp:nvSpPr>
      <dsp:spPr>
        <a:xfrm>
          <a:off x="0" y="19312"/>
          <a:ext cx="7886700" cy="5896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Aggregation ($group) is expensive</a:t>
          </a:r>
        </a:p>
      </dsp:txBody>
      <dsp:txXfrm>
        <a:off x="28786" y="48098"/>
        <a:ext cx="7829128" cy="532107"/>
      </dsp:txXfrm>
    </dsp:sp>
    <dsp:sp modelId="{EADCEFD7-41E1-4CA5-88A3-37F817B64A64}">
      <dsp:nvSpPr>
        <dsp:cNvPr id="0" name=""/>
        <dsp:cNvSpPr/>
      </dsp:nvSpPr>
      <dsp:spPr>
        <a:xfrm>
          <a:off x="0" y="678112"/>
          <a:ext cx="7886700" cy="5896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$unwind increases data size → slows down query</a:t>
          </a:r>
        </a:p>
      </dsp:txBody>
      <dsp:txXfrm>
        <a:off x="28786" y="706898"/>
        <a:ext cx="7829128" cy="532107"/>
      </dsp:txXfrm>
    </dsp:sp>
    <dsp:sp modelId="{E5FC9CB4-78F1-4F73-89B1-185E1303C74F}">
      <dsp:nvSpPr>
        <dsp:cNvPr id="0" name=""/>
        <dsp:cNvSpPr/>
      </dsp:nvSpPr>
      <dsp:spPr>
        <a:xfrm>
          <a:off x="0" y="1336912"/>
          <a:ext cx="7886700" cy="5896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Bulk operations (updateMany, deleteMany) are costly</a:t>
          </a:r>
        </a:p>
      </dsp:txBody>
      <dsp:txXfrm>
        <a:off x="28786" y="1365698"/>
        <a:ext cx="7829128" cy="532107"/>
      </dsp:txXfrm>
    </dsp:sp>
    <dsp:sp modelId="{F99DEBDB-2994-4F61-972E-52FDA3E1F3F1}">
      <dsp:nvSpPr>
        <dsp:cNvPr id="0" name=""/>
        <dsp:cNvSpPr/>
      </dsp:nvSpPr>
      <dsp:spPr>
        <a:xfrm>
          <a:off x="0" y="1995712"/>
          <a:ext cx="7886700" cy="5896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Regex queries are slower than exact matches</a:t>
          </a:r>
        </a:p>
      </dsp:txBody>
      <dsp:txXfrm>
        <a:off x="28786" y="2024498"/>
        <a:ext cx="7829128" cy="532107"/>
      </dsp:txXfrm>
    </dsp:sp>
    <dsp:sp modelId="{BFF6C8F5-65CB-4FA7-B106-7FB062DB6321}">
      <dsp:nvSpPr>
        <dsp:cNvPr id="0" name=""/>
        <dsp:cNvSpPr/>
      </dsp:nvSpPr>
      <dsp:spPr>
        <a:xfrm>
          <a:off x="0" y="2654512"/>
          <a:ext cx="7886700" cy="5896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Simple find + projection is fastest</a:t>
          </a:r>
        </a:p>
      </dsp:txBody>
      <dsp:txXfrm>
        <a:off x="28786" y="2683298"/>
        <a:ext cx="7829128" cy="53210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011D2D-219D-4DFE-9C85-A95D2046AA5D}" type="datetimeFigureOut">
              <a:rPr lang="en-US" smtClean="0"/>
              <a:t>4/28/2026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3B5C2C-6467-4EC1-BFDE-BADFDBCCA6EB}" type="slidenum">
              <a:rPr lang="en-US" smtClean="0"/>
              <a:t>‹#›</a:t>
            </a:fld>
            <a:endParaRPr lang="en-US"/>
          </a:p>
        </p:txBody>
      </p:sp>
    </p:spTree>
    <p:extLst>
      <p:ext uri="{BB962C8B-B14F-4D97-AF65-F5344CB8AC3E}">
        <p14:creationId xmlns:p14="http://schemas.microsoft.com/office/powerpoint/2010/main" val="1933027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13B5C2C-6467-4EC1-BFDE-BADFDBCCA6EB}" type="slidenum">
              <a:rPr lang="en-US" smtClean="0"/>
              <a:t>1</a:t>
            </a:fld>
            <a:endParaRPr lang="en-US"/>
          </a:p>
        </p:txBody>
      </p:sp>
    </p:spTree>
    <p:extLst>
      <p:ext uri="{BB962C8B-B14F-4D97-AF65-F5344CB8AC3E}">
        <p14:creationId xmlns:p14="http://schemas.microsoft.com/office/powerpoint/2010/main" val="1451461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3B5C2C-6467-4EC1-BFDE-BADFDBCCA6EB}" type="slidenum">
              <a:rPr lang="en-US" smtClean="0"/>
              <a:t>2</a:t>
            </a:fld>
            <a:endParaRPr lang="en-US"/>
          </a:p>
        </p:txBody>
      </p:sp>
    </p:spTree>
    <p:extLst>
      <p:ext uri="{BB962C8B-B14F-4D97-AF65-F5344CB8AC3E}">
        <p14:creationId xmlns:p14="http://schemas.microsoft.com/office/powerpoint/2010/main" val="698418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On this project, we built an online shopping system using MongoDB, called </a:t>
            </a:r>
            <a:r>
              <a:rPr lang="en-US" sz="1200" b="0" i="1" kern="1200" dirty="0" err="1">
                <a:solidFill>
                  <a:schemeClr val="tx1"/>
                </a:solidFill>
                <a:effectLst/>
                <a:latin typeface="+mn-lt"/>
                <a:ea typeface="+mn-ea"/>
                <a:cs typeface="+mn-cs"/>
              </a:rPr>
              <a:t>ShopDB</a:t>
            </a:r>
            <a:r>
              <a:rPr lang="en-US" sz="1200" b="0" i="0" kern="1200" dirty="0">
                <a:solidFill>
                  <a:schemeClr val="tx1"/>
                </a:solidFill>
                <a:effectLst/>
                <a:latin typeface="+mn-lt"/>
                <a:ea typeface="+mn-ea"/>
                <a:cs typeface="+mn-cs"/>
              </a:rPr>
              <a:t>. The database has three main collections: customers, products, and orders. The idea is to simulate a realistic e‑commerce backend, but in a controlled environment where we can practice MongoDB features.</a:t>
            </a:r>
          </a:p>
          <a:p>
            <a:r>
              <a:rPr lang="en-US" sz="1200" b="0" i="0" kern="1200" dirty="0">
                <a:solidFill>
                  <a:schemeClr val="tx1"/>
                </a:solidFill>
                <a:effectLst/>
                <a:latin typeface="+mn-lt"/>
                <a:ea typeface="+mn-ea"/>
                <a:cs typeface="+mn-cs"/>
              </a:rPr>
              <a:t>The assignment focuses on several MongoDB skills: basic CRUD operations, working with nested documents and arrays, updating data, writing aggregation pipelines, and finally measuring how long each operation takes to run.</a:t>
            </a:r>
          </a:p>
          <a:p>
            <a:r>
              <a:rPr lang="en-US" sz="1200" b="0" i="0" kern="1200" dirty="0">
                <a:solidFill>
                  <a:schemeClr val="tx1"/>
                </a:solidFill>
                <a:effectLst/>
                <a:latin typeface="+mn-lt"/>
                <a:ea typeface="+mn-ea"/>
                <a:cs typeface="+mn-cs"/>
              </a:rPr>
              <a:t>Our workflow followed six main steps. First, we created the </a:t>
            </a:r>
            <a:r>
              <a:rPr lang="en-US" sz="1200" b="0" i="0" kern="1200" dirty="0" err="1">
                <a:solidFill>
                  <a:schemeClr val="tx1"/>
                </a:solidFill>
                <a:effectLst/>
                <a:latin typeface="+mn-lt"/>
                <a:ea typeface="+mn-ea"/>
                <a:cs typeface="+mn-cs"/>
              </a:rPr>
              <a:t>shopdb</a:t>
            </a:r>
            <a:r>
              <a:rPr lang="en-US" sz="1200" b="0" i="0" kern="1200" dirty="0">
                <a:solidFill>
                  <a:schemeClr val="tx1"/>
                </a:solidFill>
                <a:effectLst/>
                <a:latin typeface="+mn-lt"/>
                <a:ea typeface="+mn-ea"/>
                <a:cs typeface="+mn-cs"/>
              </a:rPr>
              <a:t> database and the three collections. Second, we used Python and the Faker library to generate large datasets: tens of thousands of customers, products, and orders. Third, we ran prep tasks to clean up intentional bad data. Fourth, we implemented 11 MongoDB tasks in </a:t>
            </a:r>
            <a:r>
              <a:rPr lang="en-US" sz="1200" b="0" i="0" kern="1200" dirty="0" err="1">
                <a:solidFill>
                  <a:schemeClr val="tx1"/>
                </a:solidFill>
                <a:effectLst/>
                <a:latin typeface="+mn-lt"/>
                <a:ea typeface="+mn-ea"/>
                <a:cs typeface="+mn-cs"/>
              </a:rPr>
              <a:t>mongosh</a:t>
            </a:r>
            <a:r>
              <a:rPr lang="en-US" sz="1200" b="0" i="0" kern="1200" dirty="0">
                <a:solidFill>
                  <a:schemeClr val="tx1"/>
                </a:solidFill>
                <a:effectLst/>
                <a:latin typeface="+mn-lt"/>
                <a:ea typeface="+mn-ea"/>
                <a:cs typeface="+mn-cs"/>
              </a:rPr>
              <a:t>. Fifth, we measured the execution time of each task by running it 10 times and computing the average. And finally, we packaged everything into a ZIP with our solutions, scripts, and screenshots.</a:t>
            </a:r>
          </a:p>
          <a:p>
            <a:r>
              <a:rPr lang="en-US" sz="1200" b="0" i="0" kern="1200" dirty="0">
                <a:solidFill>
                  <a:schemeClr val="tx1"/>
                </a:solidFill>
                <a:effectLst/>
                <a:latin typeface="+mn-lt"/>
                <a:ea typeface="+mn-ea"/>
                <a:cs typeface="+mn-cs"/>
              </a:rPr>
              <a:t>So this project is not just about making fake data; it’s meant to be a reusable reference for later assignments where we’ll need a similar pattern for data generation, cleaning, and performance testing.</a:t>
            </a: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13B5C2C-6467-4EC1-BFDE-BADFDBCCA6EB}" type="slidenum">
              <a:rPr lang="en-US" smtClean="0"/>
              <a:t>3</a:t>
            </a:fld>
            <a:endParaRPr lang="en-US"/>
          </a:p>
        </p:txBody>
      </p:sp>
    </p:spTree>
    <p:extLst>
      <p:ext uri="{BB962C8B-B14F-4D97-AF65-F5344CB8AC3E}">
        <p14:creationId xmlns:p14="http://schemas.microsoft.com/office/powerpoint/2010/main" val="655719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the database structure, everything lives inside a single database called </a:t>
            </a:r>
            <a:r>
              <a:rPr lang="en-US" sz="1200" b="0" i="0" kern="1200" dirty="0" err="1">
                <a:solidFill>
                  <a:schemeClr val="tx1"/>
                </a:solidFill>
                <a:effectLst/>
                <a:latin typeface="+mn-lt"/>
                <a:ea typeface="+mn-ea"/>
                <a:cs typeface="+mn-cs"/>
              </a:rPr>
              <a:t>shopdb</a:t>
            </a:r>
            <a:r>
              <a:rPr lang="en-US" sz="1200" b="0" i="0" kern="1200" dirty="0">
                <a:solidFill>
                  <a:schemeClr val="tx1"/>
                </a:solidFill>
                <a:effectLst/>
                <a:latin typeface="+mn-lt"/>
                <a:ea typeface="+mn-ea"/>
                <a:cs typeface="+mn-cs"/>
              </a:rPr>
              <a:t>. Inside that database we defined three collections: customers, products, and orders.</a:t>
            </a:r>
          </a:p>
          <a:p>
            <a:r>
              <a:rPr lang="en-US" sz="1200" b="0" i="0" kern="1200" dirty="0">
                <a:solidFill>
                  <a:schemeClr val="tx1"/>
                </a:solidFill>
                <a:effectLst/>
                <a:latin typeface="+mn-lt"/>
                <a:ea typeface="+mn-ea"/>
                <a:cs typeface="+mn-cs"/>
              </a:rPr>
              <a:t>The customers collection stores user profiles. A typical document includes an _id, name, age, email, a </a:t>
            </a:r>
            <a:r>
              <a:rPr lang="en-US" sz="1200" b="0" i="0" kern="1200" dirty="0" err="1">
                <a:solidFill>
                  <a:schemeClr val="tx1"/>
                </a:solidFill>
                <a:effectLst/>
                <a:latin typeface="+mn-lt"/>
                <a:ea typeface="+mn-ea"/>
                <a:cs typeface="+mn-cs"/>
              </a:rPr>
              <a:t>boolean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is_premium</a:t>
            </a:r>
            <a:r>
              <a:rPr lang="en-US" sz="1200" b="0" i="0" kern="1200" dirty="0">
                <a:solidFill>
                  <a:schemeClr val="tx1"/>
                </a:solidFill>
                <a:effectLst/>
                <a:latin typeface="+mn-lt"/>
                <a:ea typeface="+mn-ea"/>
                <a:cs typeface="+mn-cs"/>
              </a:rPr>
              <a:t> flag, and a nested address object with street, city, and zip. This shows how MongoDB handles nested objects naturally.</a:t>
            </a:r>
          </a:p>
          <a:p>
            <a:r>
              <a:rPr lang="en-US" sz="1200" b="0" i="0" kern="1200" dirty="0">
                <a:solidFill>
                  <a:schemeClr val="tx1"/>
                </a:solidFill>
                <a:effectLst/>
                <a:latin typeface="+mn-lt"/>
                <a:ea typeface="+mn-ea"/>
                <a:cs typeface="+mn-cs"/>
              </a:rPr>
              <a:t>The products collection is our catalog. Each product has an _id, a name, a category, a price, and a stock level. Most categories come from a fixed list—Electronics, Accessories, Clothing, Home, and Beauty—but we also allow </a:t>
            </a:r>
            <a:r>
              <a:rPr lang="en-US" sz="1200" b="0" i="0" kern="1200" dirty="0" err="1">
                <a:solidFill>
                  <a:schemeClr val="tx1"/>
                </a:solidFill>
                <a:effectLst/>
                <a:latin typeface="+mn-lt"/>
                <a:ea typeface="+mn-ea"/>
                <a:cs typeface="+mn-cs"/>
              </a:rPr>
              <a:t>Misc</a:t>
            </a:r>
            <a:r>
              <a:rPr lang="en-US" sz="1200" b="0" i="0" kern="1200" dirty="0">
                <a:solidFill>
                  <a:schemeClr val="tx1"/>
                </a:solidFill>
                <a:effectLst/>
                <a:latin typeface="+mn-lt"/>
                <a:ea typeface="+mn-ea"/>
                <a:cs typeface="+mn-cs"/>
              </a:rPr>
              <a:t> as a repair value for missing categories that we intentionally introduced.</a:t>
            </a:r>
          </a:p>
          <a:p>
            <a:r>
              <a:rPr lang="en-US" sz="1200" b="0" i="0" kern="1200" dirty="0">
                <a:solidFill>
                  <a:schemeClr val="tx1"/>
                </a:solidFill>
                <a:effectLst/>
                <a:latin typeface="+mn-lt"/>
                <a:ea typeface="+mn-ea"/>
                <a:cs typeface="+mn-cs"/>
              </a:rPr>
              <a:t>The orders collection ties everything together. Each order references a </a:t>
            </a:r>
            <a:r>
              <a:rPr lang="en-US" sz="1200" b="0" i="0" kern="1200" dirty="0" err="1">
                <a:solidFill>
                  <a:schemeClr val="tx1"/>
                </a:solidFill>
                <a:effectLst/>
                <a:latin typeface="+mn-lt"/>
                <a:ea typeface="+mn-ea"/>
                <a:cs typeface="+mn-cs"/>
              </a:rPr>
              <a:t>customer_id</a:t>
            </a:r>
            <a:r>
              <a:rPr lang="en-US" sz="1200" b="0" i="0" kern="1200" dirty="0">
                <a:solidFill>
                  <a:schemeClr val="tx1"/>
                </a:solidFill>
                <a:effectLst/>
                <a:latin typeface="+mn-lt"/>
                <a:ea typeface="+mn-ea"/>
                <a:cs typeface="+mn-cs"/>
              </a:rPr>
              <a:t>, stores an </a:t>
            </a:r>
            <a:r>
              <a:rPr lang="en-US" sz="1200" b="0" i="0" kern="1200" dirty="0" err="1">
                <a:solidFill>
                  <a:schemeClr val="tx1"/>
                </a:solidFill>
                <a:effectLst/>
                <a:latin typeface="+mn-lt"/>
                <a:ea typeface="+mn-ea"/>
                <a:cs typeface="+mn-cs"/>
              </a:rPr>
              <a:t>order_date</a:t>
            </a:r>
            <a:r>
              <a:rPr lang="en-US" sz="1200" b="0" i="0" kern="1200" dirty="0">
                <a:solidFill>
                  <a:schemeClr val="tx1"/>
                </a:solidFill>
                <a:effectLst/>
                <a:latin typeface="+mn-lt"/>
                <a:ea typeface="+mn-ea"/>
                <a:cs typeface="+mn-cs"/>
              </a:rPr>
              <a:t> as a YYYY‑MM‑DD string, and has an items array. Each item embeds product details like </a:t>
            </a:r>
            <a:r>
              <a:rPr lang="en-US" sz="1200" b="0" i="0" kern="1200" dirty="0" err="1">
                <a:solidFill>
                  <a:schemeClr val="tx1"/>
                </a:solidFill>
                <a:effectLst/>
                <a:latin typeface="+mn-lt"/>
                <a:ea typeface="+mn-ea"/>
                <a:cs typeface="+mn-cs"/>
              </a:rPr>
              <a:t>product_id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product_name</a:t>
            </a:r>
            <a:r>
              <a:rPr lang="en-US" sz="1200" b="0" i="0" kern="1200" dirty="0">
                <a:solidFill>
                  <a:schemeClr val="tx1"/>
                </a:solidFill>
                <a:effectLst/>
                <a:latin typeface="+mn-lt"/>
                <a:ea typeface="+mn-ea"/>
                <a:cs typeface="+mn-cs"/>
              </a:rPr>
              <a:t>, category, quantity, and price. We also store </a:t>
            </a:r>
            <a:r>
              <a:rPr lang="en-US" sz="1200" b="0" i="0" kern="1200" dirty="0" err="1">
                <a:solidFill>
                  <a:schemeClr val="tx1"/>
                </a:solidFill>
                <a:effectLst/>
                <a:latin typeface="+mn-lt"/>
                <a:ea typeface="+mn-ea"/>
                <a:cs typeface="+mn-cs"/>
              </a:rPr>
              <a:t>total_amount</a:t>
            </a:r>
            <a:r>
              <a:rPr lang="en-US" sz="1200" b="0" i="0" kern="1200" dirty="0">
                <a:solidFill>
                  <a:schemeClr val="tx1"/>
                </a:solidFill>
                <a:effectLst/>
                <a:latin typeface="+mn-lt"/>
                <a:ea typeface="+mn-ea"/>
                <a:cs typeface="+mn-cs"/>
              </a:rPr>
              <a:t>, which is pre‑computed in Python, and </a:t>
            </a:r>
            <a:r>
              <a:rPr lang="en-US" sz="1200" b="0" i="0" kern="1200" dirty="0" err="1">
                <a:solidFill>
                  <a:schemeClr val="tx1"/>
                </a:solidFill>
                <a:effectLst/>
                <a:latin typeface="+mn-lt"/>
                <a:ea typeface="+mn-ea"/>
                <a:cs typeface="+mn-cs"/>
              </a:rPr>
              <a:t>payment_status</a:t>
            </a:r>
            <a:r>
              <a:rPr lang="en-US" sz="1200" b="0" i="0" kern="1200" dirty="0">
                <a:solidFill>
                  <a:schemeClr val="tx1"/>
                </a:solidFill>
                <a:effectLst/>
                <a:latin typeface="+mn-lt"/>
                <a:ea typeface="+mn-ea"/>
                <a:cs typeface="+mn-cs"/>
              </a:rPr>
              <a:t>, which is normalized to pending, paid, or refunded. This structure highlights MongoDB’s strength for embedding related data, like order items, directly inside one document.</a:t>
            </a:r>
          </a:p>
          <a:p>
            <a:endParaRPr lang="en-US" dirty="0"/>
          </a:p>
        </p:txBody>
      </p:sp>
      <p:sp>
        <p:nvSpPr>
          <p:cNvPr id="4" name="Slide Number Placeholder 3"/>
          <p:cNvSpPr>
            <a:spLocks noGrp="1"/>
          </p:cNvSpPr>
          <p:nvPr>
            <p:ph type="sldNum" sz="quarter" idx="5"/>
          </p:nvPr>
        </p:nvSpPr>
        <p:spPr/>
        <p:txBody>
          <a:bodyPr/>
          <a:lstStyle/>
          <a:p>
            <a:fld id="{913B5C2C-6467-4EC1-BFDE-BADFDBCCA6EB}" type="slidenum">
              <a:rPr lang="en-US" smtClean="0"/>
              <a:t>4</a:t>
            </a:fld>
            <a:endParaRPr lang="en-US"/>
          </a:p>
        </p:txBody>
      </p:sp>
    </p:spTree>
    <p:extLst>
      <p:ext uri="{BB962C8B-B14F-4D97-AF65-F5344CB8AC3E}">
        <p14:creationId xmlns:p14="http://schemas.microsoft.com/office/powerpoint/2010/main" val="4132792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Before running the core MongoDB tasks, we needed to clean the data. When generating data with Python and Faker, we intentionally created a small number of imperfect records to make the prep tasks meaningful.</a:t>
            </a:r>
          </a:p>
          <a:p>
            <a:r>
              <a:rPr lang="en-US" sz="1200" b="0" i="0" kern="1200" dirty="0">
                <a:solidFill>
                  <a:schemeClr val="tx1"/>
                </a:solidFill>
                <a:effectLst/>
                <a:latin typeface="+mn-lt"/>
                <a:ea typeface="+mn-ea"/>
                <a:cs typeface="+mn-cs"/>
              </a:rPr>
              <a:t>For customers, some records had a missing or null email. In MongoDB, we fixed that by setting all missing emails to unknown@example.com. For products, some records had no category. We repaired those by setting the category to Misc. This means our final, cleaned dataset has a sixth category that only appears because of the repair step.</a:t>
            </a:r>
          </a:p>
          <a:p>
            <a:r>
              <a:rPr lang="en-US" sz="1200" b="0" i="0" kern="1200" dirty="0">
                <a:solidFill>
                  <a:schemeClr val="tx1"/>
                </a:solidFill>
                <a:effectLst/>
                <a:latin typeface="+mn-lt"/>
                <a:ea typeface="+mn-ea"/>
                <a:cs typeface="+mn-cs"/>
              </a:rPr>
              <a:t>For orders, some had an empty items array or invalid </a:t>
            </a:r>
            <a:r>
              <a:rPr lang="en-US" sz="1200" b="0" i="0" kern="1200" dirty="0" err="1">
                <a:solidFill>
                  <a:schemeClr val="tx1"/>
                </a:solidFill>
                <a:effectLst/>
                <a:latin typeface="+mn-lt"/>
                <a:ea typeface="+mn-ea"/>
                <a:cs typeface="+mn-cs"/>
              </a:rPr>
              <a:t>payment_status</a:t>
            </a:r>
            <a:r>
              <a:rPr lang="en-US" sz="1200" b="0" i="0" kern="1200" dirty="0">
                <a:solidFill>
                  <a:schemeClr val="tx1"/>
                </a:solidFill>
                <a:effectLst/>
                <a:latin typeface="+mn-lt"/>
                <a:ea typeface="+mn-ea"/>
                <a:cs typeface="+mn-cs"/>
              </a:rPr>
              <a:t> values. We deleted orders where items was an empty array, because those don’t represent real purchases. Then we normalized all invalid payment statuses by setting them to pending, so the later aggregation queries would only see pending, paid, and refunded.</a:t>
            </a:r>
          </a:p>
          <a:p>
            <a:r>
              <a:rPr lang="en-US" sz="1200" b="0" i="0" kern="1200" dirty="0">
                <a:solidFill>
                  <a:schemeClr val="tx1"/>
                </a:solidFill>
                <a:effectLst/>
                <a:latin typeface="+mn-lt"/>
                <a:ea typeface="+mn-ea"/>
                <a:cs typeface="+mn-cs"/>
              </a:rPr>
              <a:t>After these prep tasks, the collections were consistent and ready for the 11 core tasks and the timing experiments. Having this cleanup step made the later results easier to interpret.</a:t>
            </a:r>
          </a:p>
          <a:p>
            <a:endParaRPr lang="en-US" dirty="0"/>
          </a:p>
        </p:txBody>
      </p:sp>
      <p:sp>
        <p:nvSpPr>
          <p:cNvPr id="4" name="Slide Number Placeholder 3"/>
          <p:cNvSpPr>
            <a:spLocks noGrp="1"/>
          </p:cNvSpPr>
          <p:nvPr>
            <p:ph type="sldNum" sz="quarter" idx="5"/>
          </p:nvPr>
        </p:nvSpPr>
        <p:spPr/>
        <p:txBody>
          <a:bodyPr/>
          <a:lstStyle/>
          <a:p>
            <a:fld id="{913B5C2C-6467-4EC1-BFDE-BADFDBCCA6EB}" type="slidenum">
              <a:rPr lang="en-US" smtClean="0"/>
              <a:t>5</a:t>
            </a:fld>
            <a:endParaRPr lang="en-US"/>
          </a:p>
        </p:txBody>
      </p:sp>
    </p:spTree>
    <p:extLst>
      <p:ext uri="{BB962C8B-B14F-4D97-AF65-F5344CB8AC3E}">
        <p14:creationId xmlns:p14="http://schemas.microsoft.com/office/powerpoint/2010/main" val="1298218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shows Task 1: incrementing every customer’s age by one. Before each timed run, we reset the age field from a backup field called </a:t>
            </a:r>
            <a:r>
              <a:rPr lang="en-US" sz="1200" b="0" i="0" kern="1200" dirty="0" err="1">
                <a:solidFill>
                  <a:schemeClr val="tx1"/>
                </a:solidFill>
                <a:effectLst/>
                <a:latin typeface="+mn-lt"/>
                <a:ea typeface="+mn-ea"/>
                <a:cs typeface="+mn-cs"/>
              </a:rPr>
              <a:t>original_age</a:t>
            </a:r>
            <a:r>
              <a:rPr lang="en-US" sz="1200" b="0" i="0" kern="1200" dirty="0">
                <a:solidFill>
                  <a:schemeClr val="tx1"/>
                </a:solidFill>
                <a:effectLst/>
                <a:latin typeface="+mn-lt"/>
                <a:ea typeface="+mn-ea"/>
                <a:cs typeface="+mn-cs"/>
              </a:rPr>
              <a:t> using an aggregation‑style update. Then we run </a:t>
            </a:r>
            <a:r>
              <a:rPr lang="en-US" sz="1200" b="0" i="0" kern="1200" dirty="0" err="1">
                <a:solidFill>
                  <a:schemeClr val="tx1"/>
                </a:solidFill>
                <a:effectLst/>
                <a:latin typeface="+mn-lt"/>
                <a:ea typeface="+mn-ea"/>
                <a:cs typeface="+mn-cs"/>
              </a:rPr>
              <a:t>update_many</a:t>
            </a:r>
            <a:r>
              <a:rPr lang="en-US" sz="1200" b="0" i="0" kern="1200" dirty="0">
                <a:solidFill>
                  <a:schemeClr val="tx1"/>
                </a:solidFill>
                <a:effectLst/>
                <a:latin typeface="+mn-lt"/>
                <a:ea typeface="+mn-ea"/>
                <a:cs typeface="+mn-cs"/>
              </a:rPr>
              <a:t> with $</a:t>
            </a:r>
            <a:r>
              <a:rPr lang="en-US" sz="1200" b="0" i="0" kern="1200" dirty="0" err="1">
                <a:solidFill>
                  <a:schemeClr val="tx1"/>
                </a:solidFill>
                <a:effectLst/>
                <a:latin typeface="+mn-lt"/>
                <a:ea typeface="+mn-ea"/>
                <a:cs typeface="+mn-cs"/>
              </a:rPr>
              <a:t>inc</a:t>
            </a:r>
            <a:r>
              <a:rPr lang="en-US" sz="1200" b="0" i="0" kern="1200" dirty="0">
                <a:solidFill>
                  <a:schemeClr val="tx1"/>
                </a:solidFill>
                <a:effectLst/>
                <a:latin typeface="+mn-lt"/>
                <a:ea typeface="+mn-ea"/>
                <a:cs typeface="+mn-cs"/>
              </a:rPr>
              <a:t> to bump all ages. This pattern is useful when you want to test the same write workload repeatedly while keeping the dataset consistent. We’ll run this 10 times, collect timings, and compute an average execution time. The goal is to see how long a full‑collection update takes and how stable that time is across runs</a:t>
            </a:r>
            <a:endParaRPr lang="en-US" dirty="0"/>
          </a:p>
        </p:txBody>
      </p:sp>
      <p:sp>
        <p:nvSpPr>
          <p:cNvPr id="4" name="Slide Number Placeholder 3"/>
          <p:cNvSpPr>
            <a:spLocks noGrp="1"/>
          </p:cNvSpPr>
          <p:nvPr>
            <p:ph type="sldNum" sz="quarter" idx="5"/>
          </p:nvPr>
        </p:nvSpPr>
        <p:spPr/>
        <p:txBody>
          <a:bodyPr/>
          <a:lstStyle/>
          <a:p>
            <a:fld id="{913B5C2C-6467-4EC1-BFDE-BADFDBCCA6EB}" type="slidenum">
              <a:rPr lang="en-US" smtClean="0"/>
              <a:t>6</a:t>
            </a:fld>
            <a:endParaRPr lang="en-US"/>
          </a:p>
        </p:txBody>
      </p:sp>
    </p:spTree>
    <p:extLst>
      <p:ext uri="{BB962C8B-B14F-4D97-AF65-F5344CB8AC3E}">
        <p14:creationId xmlns:p14="http://schemas.microsoft.com/office/powerpoint/2010/main" val="7470301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Slide 3 – Task 2: Reduce a Product’s Stock After Purchase</a:t>
            </a:r>
          </a:p>
          <a:p>
            <a:r>
              <a:rPr lang="en-US" sz="1200" b="0" i="0" kern="1200" dirty="0">
                <a:solidFill>
                  <a:schemeClr val="tx1"/>
                </a:solidFill>
                <a:effectLst/>
                <a:latin typeface="+mn-lt"/>
                <a:ea typeface="+mn-ea"/>
                <a:cs typeface="+mn-cs"/>
              </a:rPr>
              <a:t>“Task 2 simulates a purchase: picking a single product with stock greater than zero and reducing its stock by one. First we use </a:t>
            </a:r>
            <a:r>
              <a:rPr lang="en-US" sz="1200" b="0" i="0" kern="1200" dirty="0" err="1">
                <a:solidFill>
                  <a:schemeClr val="tx1"/>
                </a:solidFill>
                <a:effectLst/>
                <a:latin typeface="+mn-lt"/>
                <a:ea typeface="+mn-ea"/>
                <a:cs typeface="+mn-cs"/>
              </a:rPr>
              <a:t>find_one</a:t>
            </a:r>
            <a:r>
              <a:rPr lang="en-US" sz="1200" b="0" i="0" kern="1200" dirty="0">
                <a:solidFill>
                  <a:schemeClr val="tx1"/>
                </a:solidFill>
                <a:effectLst/>
                <a:latin typeface="+mn-lt"/>
                <a:ea typeface="+mn-ea"/>
                <a:cs typeface="+mn-cs"/>
              </a:rPr>
              <a:t> to locate a suitable product; then we run </a:t>
            </a:r>
            <a:r>
              <a:rPr lang="en-US" sz="1200" b="0" i="0" kern="1200" dirty="0" err="1">
                <a:solidFill>
                  <a:schemeClr val="tx1"/>
                </a:solidFill>
                <a:effectLst/>
                <a:latin typeface="+mn-lt"/>
                <a:ea typeface="+mn-ea"/>
                <a:cs typeface="+mn-cs"/>
              </a:rPr>
              <a:t>update_one</a:t>
            </a:r>
            <a:r>
              <a:rPr lang="en-US" sz="1200" b="0" i="0" kern="1200" dirty="0">
                <a:solidFill>
                  <a:schemeClr val="tx1"/>
                </a:solidFill>
                <a:effectLst/>
                <a:latin typeface="+mn-lt"/>
                <a:ea typeface="+mn-ea"/>
                <a:cs typeface="+mn-cs"/>
              </a:rPr>
              <a:t> with $</a:t>
            </a:r>
            <a:r>
              <a:rPr lang="en-US" sz="1200" b="0" i="0" kern="1200" dirty="0" err="1">
                <a:solidFill>
                  <a:schemeClr val="tx1"/>
                </a:solidFill>
                <a:effectLst/>
                <a:latin typeface="+mn-lt"/>
                <a:ea typeface="+mn-ea"/>
                <a:cs typeface="+mn-cs"/>
              </a:rPr>
              <a:t>inc</a:t>
            </a:r>
            <a:r>
              <a:rPr lang="en-US" sz="1200" b="0" i="0" kern="1200" dirty="0">
                <a:solidFill>
                  <a:schemeClr val="tx1"/>
                </a:solidFill>
                <a:effectLst/>
                <a:latin typeface="+mn-lt"/>
                <a:ea typeface="+mn-ea"/>
                <a:cs typeface="+mn-cs"/>
              </a:rPr>
              <a:t>: {stock: -1} to decrease it. Before each new run we reset the stock to its original value, so the test repeats under the exact same conditions. This pattern mirrors real‑time inventory updates. We’ll time the whole sequence and measure how quickly a single product update finishes, including the reset phase.”</a:t>
            </a:r>
          </a:p>
          <a:p>
            <a:endParaRPr lang="en-US" dirty="0"/>
          </a:p>
        </p:txBody>
      </p:sp>
      <p:sp>
        <p:nvSpPr>
          <p:cNvPr id="4" name="Slide Number Placeholder 3"/>
          <p:cNvSpPr>
            <a:spLocks noGrp="1"/>
          </p:cNvSpPr>
          <p:nvPr>
            <p:ph type="sldNum" sz="quarter" idx="5"/>
          </p:nvPr>
        </p:nvSpPr>
        <p:spPr/>
        <p:txBody>
          <a:bodyPr/>
          <a:lstStyle/>
          <a:p>
            <a:fld id="{913B5C2C-6467-4EC1-BFDE-BADFDBCCA6EB}" type="slidenum">
              <a:rPr lang="en-US" smtClean="0"/>
              <a:t>7</a:t>
            </a:fld>
            <a:endParaRPr lang="en-US"/>
          </a:p>
        </p:txBody>
      </p:sp>
    </p:spTree>
    <p:extLst>
      <p:ext uri="{BB962C8B-B14F-4D97-AF65-F5344CB8AC3E}">
        <p14:creationId xmlns:p14="http://schemas.microsoft.com/office/powerpoint/2010/main" val="2682362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Task 3 moved to read‑only queries. The goal was to list the emails of premium customers. We filtered customers with </a:t>
            </a:r>
            <a:r>
              <a:rPr lang="en-US" sz="1200" b="0" i="0" kern="1200" dirty="0" err="1">
                <a:solidFill>
                  <a:schemeClr val="tx1"/>
                </a:solidFill>
                <a:effectLst/>
                <a:latin typeface="+mn-lt"/>
                <a:ea typeface="+mn-ea"/>
                <a:cs typeface="+mn-cs"/>
              </a:rPr>
              <a:t>is_premium</a:t>
            </a:r>
            <a:r>
              <a:rPr lang="en-US" sz="1200" b="0" i="0" kern="1200" dirty="0">
                <a:solidFill>
                  <a:schemeClr val="tx1"/>
                </a:solidFill>
                <a:effectLst/>
                <a:latin typeface="+mn-lt"/>
                <a:ea typeface="+mn-ea"/>
                <a:cs typeface="+mn-cs"/>
              </a:rPr>
              <a:t>: true and used a projection to return only the email field and hide _id. The command was find with { </a:t>
            </a:r>
            <a:r>
              <a:rPr lang="en-US" sz="1200" b="0" i="0" kern="1200" dirty="0" err="1">
                <a:solidFill>
                  <a:schemeClr val="tx1"/>
                </a:solidFill>
                <a:effectLst/>
                <a:latin typeface="+mn-lt"/>
                <a:ea typeface="+mn-ea"/>
                <a:cs typeface="+mn-cs"/>
              </a:rPr>
              <a:t>is_premium</a:t>
            </a:r>
            <a:r>
              <a:rPr lang="en-US" sz="1200" b="0" i="0" kern="1200" dirty="0">
                <a:solidFill>
                  <a:schemeClr val="tx1"/>
                </a:solidFill>
                <a:effectLst/>
                <a:latin typeface="+mn-lt"/>
                <a:ea typeface="+mn-ea"/>
                <a:cs typeface="+mn-cs"/>
              </a:rPr>
              <a:t>: true } as the filter and { _id: 0, email: 1 } as the projection. Again, we ran this query 10 times and measured the average execution time. This gave us a basic performance baseline for a simple read with projection.</a:t>
            </a:r>
            <a:endParaRPr lang="en-US" dirty="0"/>
          </a:p>
        </p:txBody>
      </p:sp>
      <p:sp>
        <p:nvSpPr>
          <p:cNvPr id="4" name="Slide Number Placeholder 3"/>
          <p:cNvSpPr>
            <a:spLocks noGrp="1"/>
          </p:cNvSpPr>
          <p:nvPr>
            <p:ph type="sldNum" sz="quarter" idx="5"/>
          </p:nvPr>
        </p:nvSpPr>
        <p:spPr/>
        <p:txBody>
          <a:bodyPr/>
          <a:lstStyle/>
          <a:p>
            <a:fld id="{913B5C2C-6467-4EC1-BFDE-BADFDBCCA6EB}" type="slidenum">
              <a:rPr lang="en-US" smtClean="0"/>
              <a:t>8</a:t>
            </a:fld>
            <a:endParaRPr lang="en-US"/>
          </a:p>
        </p:txBody>
      </p:sp>
    </p:spTree>
    <p:extLst>
      <p:ext uri="{BB962C8B-B14F-4D97-AF65-F5344CB8AC3E}">
        <p14:creationId xmlns:p14="http://schemas.microsoft.com/office/powerpoint/2010/main" val="40585005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Task 4 combined date logic and status filters. We used a fixed reference date of May 1st, 2025, and interpreted ‘last 30 days’ as the inclusive range from April 2nd to May 1st, 2025. Because </a:t>
            </a:r>
            <a:r>
              <a:rPr lang="en-US" sz="1200" b="0" i="0" kern="1200" dirty="0" err="1">
                <a:solidFill>
                  <a:schemeClr val="tx1"/>
                </a:solidFill>
                <a:effectLst/>
                <a:latin typeface="+mn-lt"/>
                <a:ea typeface="+mn-ea"/>
                <a:cs typeface="+mn-cs"/>
              </a:rPr>
              <a:t>order_date</a:t>
            </a:r>
            <a:r>
              <a:rPr lang="en-US" sz="1200" b="0" i="0" kern="1200" dirty="0">
                <a:solidFill>
                  <a:schemeClr val="tx1"/>
                </a:solidFill>
                <a:effectLst/>
                <a:latin typeface="+mn-lt"/>
                <a:ea typeface="+mn-ea"/>
                <a:cs typeface="+mn-cs"/>
              </a:rPr>
              <a:t> is stored as a YYYY‑MM‑DD string, string comparison with $</a:t>
            </a:r>
            <a:r>
              <a:rPr lang="en-US" sz="1200" b="0" i="0" kern="1200" dirty="0" err="1">
                <a:solidFill>
                  <a:schemeClr val="tx1"/>
                </a:solidFill>
                <a:effectLst/>
                <a:latin typeface="+mn-lt"/>
                <a:ea typeface="+mn-ea"/>
                <a:cs typeface="+mn-cs"/>
              </a:rPr>
              <a:t>gte</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lte</a:t>
            </a:r>
            <a:r>
              <a:rPr lang="en-US" sz="1200" b="0" i="0" kern="1200" dirty="0">
                <a:solidFill>
                  <a:schemeClr val="tx1"/>
                </a:solidFill>
                <a:effectLst/>
                <a:latin typeface="+mn-lt"/>
                <a:ea typeface="+mn-ea"/>
                <a:cs typeface="+mn-cs"/>
              </a:rPr>
              <a:t> works correctly for this range. So our query matched orders where </a:t>
            </a:r>
            <a:r>
              <a:rPr lang="en-US" sz="1200" b="0" i="0" kern="1200" dirty="0" err="1">
                <a:solidFill>
                  <a:schemeClr val="tx1"/>
                </a:solidFill>
                <a:effectLst/>
                <a:latin typeface="+mn-lt"/>
                <a:ea typeface="+mn-ea"/>
                <a:cs typeface="+mn-cs"/>
              </a:rPr>
              <a:t>order_date</a:t>
            </a:r>
            <a:r>
              <a:rPr lang="en-US" sz="1200" b="0" i="0" kern="1200" dirty="0">
                <a:solidFill>
                  <a:schemeClr val="tx1"/>
                </a:solidFill>
                <a:effectLst/>
                <a:latin typeface="+mn-lt"/>
                <a:ea typeface="+mn-ea"/>
                <a:cs typeface="+mn-cs"/>
              </a:rPr>
              <a:t> was between "2025-04-02" and "2025-05-01" and </a:t>
            </a:r>
            <a:r>
              <a:rPr lang="en-US" sz="1200" b="0" i="0" kern="1200" dirty="0" err="1">
                <a:solidFill>
                  <a:schemeClr val="tx1"/>
                </a:solidFill>
                <a:effectLst/>
                <a:latin typeface="+mn-lt"/>
                <a:ea typeface="+mn-ea"/>
                <a:cs typeface="+mn-cs"/>
              </a:rPr>
              <a:t>payment_status</a:t>
            </a:r>
            <a:r>
              <a:rPr lang="en-US" sz="1200" b="0" i="0" kern="1200" dirty="0">
                <a:solidFill>
                  <a:schemeClr val="tx1"/>
                </a:solidFill>
                <a:effectLst/>
                <a:latin typeface="+mn-lt"/>
                <a:ea typeface="+mn-ea"/>
                <a:cs typeface="+mn-cs"/>
              </a:rPr>
              <a:t> was "refunded". We ran this find with conditions 10 times and computed the average time to see how filtering by date range plus status performs on the orders collection.</a:t>
            </a:r>
            <a:endParaRPr lang="en-US" dirty="0"/>
          </a:p>
        </p:txBody>
      </p:sp>
      <p:sp>
        <p:nvSpPr>
          <p:cNvPr id="4" name="Slide Number Placeholder 3"/>
          <p:cNvSpPr>
            <a:spLocks noGrp="1"/>
          </p:cNvSpPr>
          <p:nvPr>
            <p:ph type="sldNum" sz="quarter" idx="5"/>
          </p:nvPr>
        </p:nvSpPr>
        <p:spPr/>
        <p:txBody>
          <a:bodyPr/>
          <a:lstStyle/>
          <a:p>
            <a:fld id="{913B5C2C-6467-4EC1-BFDE-BADFDBCCA6EB}" type="slidenum">
              <a:rPr lang="en-US" smtClean="0"/>
              <a:t>9</a:t>
            </a:fld>
            <a:endParaRPr lang="en-US"/>
          </a:p>
        </p:txBody>
      </p:sp>
    </p:spTree>
    <p:extLst>
      <p:ext uri="{BB962C8B-B14F-4D97-AF65-F5344CB8AC3E}">
        <p14:creationId xmlns:p14="http://schemas.microsoft.com/office/powerpoint/2010/main" val="40549194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Task 5 used an aggregation pipeline to count orders by payment status. We first matched orders where </a:t>
            </a:r>
            <a:r>
              <a:rPr lang="en-US" sz="1200" b="0" i="0" kern="1200" dirty="0" err="1">
                <a:solidFill>
                  <a:schemeClr val="tx1"/>
                </a:solidFill>
                <a:effectLst/>
                <a:latin typeface="+mn-lt"/>
                <a:ea typeface="+mn-ea"/>
                <a:cs typeface="+mn-cs"/>
              </a:rPr>
              <a:t>payment_status</a:t>
            </a:r>
            <a:r>
              <a:rPr lang="en-US" sz="1200" b="0" i="0" kern="1200" dirty="0">
                <a:solidFill>
                  <a:schemeClr val="tx1"/>
                </a:solidFill>
                <a:effectLst/>
                <a:latin typeface="+mn-lt"/>
                <a:ea typeface="+mn-ea"/>
                <a:cs typeface="+mn-cs"/>
              </a:rPr>
              <a:t> is in ["paid", "pending", "refunded"]. Then we grouped by </a:t>
            </a:r>
            <a:r>
              <a:rPr lang="en-US" sz="1200" b="0" i="0" kern="1200" dirty="0" err="1">
                <a:solidFill>
                  <a:schemeClr val="tx1"/>
                </a:solidFill>
                <a:effectLst/>
                <a:latin typeface="+mn-lt"/>
                <a:ea typeface="+mn-ea"/>
                <a:cs typeface="+mn-cs"/>
              </a:rPr>
              <a:t>payment_status</a:t>
            </a:r>
            <a:r>
              <a:rPr lang="en-US" sz="1200" b="0" i="0" kern="1200" dirty="0">
                <a:solidFill>
                  <a:schemeClr val="tx1"/>
                </a:solidFill>
                <a:effectLst/>
                <a:latin typeface="+mn-lt"/>
                <a:ea typeface="+mn-ea"/>
                <a:cs typeface="+mn-cs"/>
              </a:rPr>
              <a:t> and used $sum: 1 to count orders in each group. The output documents look like { _id: "paid", count: ... }, one document per status.</a:t>
            </a:r>
          </a:p>
          <a:p>
            <a:r>
              <a:rPr lang="en-US" sz="1200" b="0" i="0" kern="1200" dirty="0">
                <a:solidFill>
                  <a:schemeClr val="tx1"/>
                </a:solidFill>
                <a:effectLst/>
                <a:latin typeface="+mn-lt"/>
                <a:ea typeface="+mn-ea"/>
                <a:cs typeface="+mn-cs"/>
              </a:rPr>
              <a:t>As with the other tasks, we ran this aggregation 10 times and measured the execution time of each run. We then computed the average time to understand the cost of using aggregation operators compared to simple find queries. If we had more time, we could compare these timings with and without indexes on </a:t>
            </a:r>
            <a:r>
              <a:rPr lang="en-US" sz="1200" b="0" i="0" kern="1200" dirty="0" err="1">
                <a:solidFill>
                  <a:schemeClr val="tx1"/>
                </a:solidFill>
                <a:effectLst/>
                <a:latin typeface="+mn-lt"/>
                <a:ea typeface="+mn-ea"/>
                <a:cs typeface="+mn-cs"/>
              </a:rPr>
              <a:t>payment_status</a:t>
            </a:r>
            <a:r>
              <a:rPr lang="en-US" sz="1200" b="0" i="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913B5C2C-6467-4EC1-BFDE-BADFDBCCA6EB}" type="slidenum">
              <a:rPr lang="en-US" smtClean="0"/>
              <a:t>10</a:t>
            </a:fld>
            <a:endParaRPr lang="en-US"/>
          </a:p>
        </p:txBody>
      </p:sp>
    </p:spTree>
    <p:extLst>
      <p:ext uri="{BB962C8B-B14F-4D97-AF65-F5344CB8AC3E}">
        <p14:creationId xmlns:p14="http://schemas.microsoft.com/office/powerpoint/2010/main" val="18703696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query retrieves customers whose email addresses end with @gmail.com or @yahoo.com.</a:t>
            </a:r>
            <a:br>
              <a:rPr lang="en-US" dirty="0"/>
            </a:br>
            <a:r>
              <a:rPr lang="en-US" dirty="0"/>
              <a:t>A regular expression is used to match these domains at the end of the email string.</a:t>
            </a:r>
          </a:p>
        </p:txBody>
      </p:sp>
      <p:sp>
        <p:nvSpPr>
          <p:cNvPr id="4" name="Slide Number Placeholder 3"/>
          <p:cNvSpPr>
            <a:spLocks noGrp="1"/>
          </p:cNvSpPr>
          <p:nvPr>
            <p:ph type="sldNum" sz="quarter" idx="5"/>
          </p:nvPr>
        </p:nvSpPr>
        <p:spPr/>
        <p:txBody>
          <a:bodyPr/>
          <a:lstStyle/>
          <a:p>
            <a:fld id="{A405DD23-63A9-48EF-B727-3937F2419B9F}" type="slidenum">
              <a:rPr lang="en-US" smtClean="0"/>
              <a:t>17</a:t>
            </a:fld>
            <a:endParaRPr lang="en-US"/>
          </a:p>
        </p:txBody>
      </p:sp>
    </p:spTree>
    <p:extLst>
      <p:ext uri="{BB962C8B-B14F-4D97-AF65-F5344CB8AC3E}">
        <p14:creationId xmlns:p14="http://schemas.microsoft.com/office/powerpoint/2010/main" val="3923182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6208F-1E48-C248-E78F-2DEDEDA71878}"/>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6319428-B041-1510-E62A-86575950B5BD}"/>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75A4CE70-30BD-C146-5E67-55882C5EC75E}"/>
              </a:ext>
            </a:extLst>
          </p:cNvPr>
          <p:cNvSpPr>
            <a:spLocks noGrp="1"/>
          </p:cNvSpPr>
          <p:nvPr>
            <p:ph type="dt" sz="half" idx="10"/>
          </p:nvPr>
        </p:nvSpPr>
        <p:spPr/>
        <p:txBody>
          <a:bodyPr/>
          <a:lstStyle/>
          <a:p>
            <a:fld id="{241EB5C9-1307-BA42-ABA2-0BC069CD8E7F}" type="datetimeFigureOut">
              <a:rPr lang="en-US" smtClean="0"/>
              <a:t>4/28/2026</a:t>
            </a:fld>
            <a:endParaRPr lang="en-US"/>
          </a:p>
        </p:txBody>
      </p:sp>
      <p:sp>
        <p:nvSpPr>
          <p:cNvPr id="5" name="Footer Placeholder 4">
            <a:extLst>
              <a:ext uri="{FF2B5EF4-FFF2-40B4-BE49-F238E27FC236}">
                <a16:creationId xmlns:a16="http://schemas.microsoft.com/office/drawing/2014/main" id="{71230272-B9DF-9B69-ACC4-15B87304F1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62343B-13CB-80BC-602E-2CF33754AC40}"/>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778334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27825-9FD6-9277-DF5B-28BB4D3F79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23B6DA-A704-4B8C-7965-4664C2DE7E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F740C9-DF9B-436A-8174-A7D784417F74}"/>
              </a:ext>
            </a:extLst>
          </p:cNvPr>
          <p:cNvSpPr>
            <a:spLocks noGrp="1"/>
          </p:cNvSpPr>
          <p:nvPr>
            <p:ph type="dt" sz="half" idx="10"/>
          </p:nvPr>
        </p:nvSpPr>
        <p:spPr/>
        <p:txBody>
          <a:bodyPr/>
          <a:lstStyle/>
          <a:p>
            <a:fld id="{241EB5C9-1307-BA42-ABA2-0BC069CD8E7F}" type="datetimeFigureOut">
              <a:rPr lang="en-US" smtClean="0"/>
              <a:t>4/28/2026</a:t>
            </a:fld>
            <a:endParaRPr lang="en-US"/>
          </a:p>
        </p:txBody>
      </p:sp>
      <p:sp>
        <p:nvSpPr>
          <p:cNvPr id="5" name="Footer Placeholder 4">
            <a:extLst>
              <a:ext uri="{FF2B5EF4-FFF2-40B4-BE49-F238E27FC236}">
                <a16:creationId xmlns:a16="http://schemas.microsoft.com/office/drawing/2014/main" id="{9222C254-B17E-FBCE-77AD-8BEB9E5E34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DF3CB3-C686-97F2-3D3A-B72A9FE74ABD}"/>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775058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AAC8A-C895-63BC-5DB8-077CB80A5F61}"/>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FF0C7444-80FC-66C5-7D2A-F038C3A7E604}"/>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1BC908-9AC8-0306-4902-F751CEE0764F}"/>
              </a:ext>
            </a:extLst>
          </p:cNvPr>
          <p:cNvSpPr>
            <a:spLocks noGrp="1"/>
          </p:cNvSpPr>
          <p:nvPr>
            <p:ph type="dt" sz="half" idx="10"/>
          </p:nvPr>
        </p:nvSpPr>
        <p:spPr/>
        <p:txBody>
          <a:bodyPr/>
          <a:lstStyle/>
          <a:p>
            <a:fld id="{241EB5C9-1307-BA42-ABA2-0BC069CD8E7F}" type="datetimeFigureOut">
              <a:rPr lang="en-US" smtClean="0"/>
              <a:t>4/28/2026</a:t>
            </a:fld>
            <a:endParaRPr lang="en-US"/>
          </a:p>
        </p:txBody>
      </p:sp>
      <p:sp>
        <p:nvSpPr>
          <p:cNvPr id="5" name="Footer Placeholder 4">
            <a:extLst>
              <a:ext uri="{FF2B5EF4-FFF2-40B4-BE49-F238E27FC236}">
                <a16:creationId xmlns:a16="http://schemas.microsoft.com/office/drawing/2014/main" id="{83D28746-E233-8B89-B6C9-79F3507ACA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A0D2B2-338C-EFEA-A4C5-1B68C973706C}"/>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93607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6551B-30F7-043A-697E-12FBC55C2C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F0A650-77C0-ED0F-21E2-3F81C1790F05}"/>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E8EA9D5-D61C-74C7-8623-C06646EAED0D}"/>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4B7A2D-8BB4-0E66-2442-3A252C74073B}"/>
              </a:ext>
            </a:extLst>
          </p:cNvPr>
          <p:cNvSpPr>
            <a:spLocks noGrp="1"/>
          </p:cNvSpPr>
          <p:nvPr>
            <p:ph type="dt" sz="half" idx="10"/>
          </p:nvPr>
        </p:nvSpPr>
        <p:spPr/>
        <p:txBody>
          <a:bodyPr/>
          <a:lstStyle/>
          <a:p>
            <a:fld id="{241EB5C9-1307-BA42-ABA2-0BC069CD8E7F}" type="datetimeFigureOut">
              <a:rPr lang="en-US" smtClean="0"/>
              <a:t>4/28/2026</a:t>
            </a:fld>
            <a:endParaRPr lang="en-US"/>
          </a:p>
        </p:txBody>
      </p:sp>
      <p:sp>
        <p:nvSpPr>
          <p:cNvPr id="6" name="Footer Placeholder 5">
            <a:extLst>
              <a:ext uri="{FF2B5EF4-FFF2-40B4-BE49-F238E27FC236}">
                <a16:creationId xmlns:a16="http://schemas.microsoft.com/office/drawing/2014/main" id="{70212ADE-1CBF-49B7-FB70-4D6B5C765C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7092F2-E0FE-C8CB-E5AD-5AAC95385E96}"/>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84269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6E285-4418-758C-7138-38D0F435FB7B}"/>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466130-4678-9F33-38A0-6270193241F5}"/>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B5CB23A-9AD5-7F94-A867-D6E0E42B9D31}"/>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0E5E4E-FBD1-5CF2-42C0-F2221E2E46DC}"/>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697698C8-7AF0-B70C-758E-AA0C2FA95852}"/>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E39CC7F-6C3D-C756-3B5D-A421AD9123AD}"/>
              </a:ext>
            </a:extLst>
          </p:cNvPr>
          <p:cNvSpPr>
            <a:spLocks noGrp="1"/>
          </p:cNvSpPr>
          <p:nvPr>
            <p:ph type="dt" sz="half" idx="10"/>
          </p:nvPr>
        </p:nvSpPr>
        <p:spPr/>
        <p:txBody>
          <a:bodyPr/>
          <a:lstStyle/>
          <a:p>
            <a:fld id="{241EB5C9-1307-BA42-ABA2-0BC069CD8E7F}" type="datetimeFigureOut">
              <a:rPr lang="en-US" smtClean="0"/>
              <a:t>4/28/2026</a:t>
            </a:fld>
            <a:endParaRPr lang="en-US"/>
          </a:p>
        </p:txBody>
      </p:sp>
      <p:sp>
        <p:nvSpPr>
          <p:cNvPr id="8" name="Footer Placeholder 7">
            <a:extLst>
              <a:ext uri="{FF2B5EF4-FFF2-40B4-BE49-F238E27FC236}">
                <a16:creationId xmlns:a16="http://schemas.microsoft.com/office/drawing/2014/main" id="{34272047-874A-542D-ED84-17B7BD64E9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0752A8-0906-036E-154A-8B300D3CEA4C}"/>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224008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F0083-4149-BA77-9059-A9294A6055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91BC4B-CA0E-9279-EB66-73E2225178F4}"/>
              </a:ext>
            </a:extLst>
          </p:cNvPr>
          <p:cNvSpPr>
            <a:spLocks noGrp="1"/>
          </p:cNvSpPr>
          <p:nvPr>
            <p:ph type="dt" sz="half" idx="10"/>
          </p:nvPr>
        </p:nvSpPr>
        <p:spPr/>
        <p:txBody>
          <a:bodyPr/>
          <a:lstStyle/>
          <a:p>
            <a:fld id="{241EB5C9-1307-BA42-ABA2-0BC069CD8E7F}" type="datetimeFigureOut">
              <a:rPr lang="en-US" smtClean="0"/>
              <a:t>4/28/2026</a:t>
            </a:fld>
            <a:endParaRPr lang="en-US"/>
          </a:p>
        </p:txBody>
      </p:sp>
      <p:sp>
        <p:nvSpPr>
          <p:cNvPr id="4" name="Footer Placeholder 3">
            <a:extLst>
              <a:ext uri="{FF2B5EF4-FFF2-40B4-BE49-F238E27FC236}">
                <a16:creationId xmlns:a16="http://schemas.microsoft.com/office/drawing/2014/main" id="{C8FA0E67-8561-7D12-188A-B764193D94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2C4216-8515-296D-7717-651B0356F6E2}"/>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033124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07A6E7-8B85-E8C3-716A-DCA0D5C52941}"/>
              </a:ext>
            </a:extLst>
          </p:cNvPr>
          <p:cNvSpPr>
            <a:spLocks noGrp="1"/>
          </p:cNvSpPr>
          <p:nvPr>
            <p:ph type="dt" sz="half" idx="10"/>
          </p:nvPr>
        </p:nvSpPr>
        <p:spPr/>
        <p:txBody>
          <a:bodyPr/>
          <a:lstStyle/>
          <a:p>
            <a:fld id="{241EB5C9-1307-BA42-ABA2-0BC069CD8E7F}" type="datetimeFigureOut">
              <a:rPr lang="en-US" smtClean="0"/>
              <a:t>4/28/2026</a:t>
            </a:fld>
            <a:endParaRPr lang="en-US"/>
          </a:p>
        </p:txBody>
      </p:sp>
      <p:sp>
        <p:nvSpPr>
          <p:cNvPr id="3" name="Footer Placeholder 2">
            <a:extLst>
              <a:ext uri="{FF2B5EF4-FFF2-40B4-BE49-F238E27FC236}">
                <a16:creationId xmlns:a16="http://schemas.microsoft.com/office/drawing/2014/main" id="{9FE876D4-1C5D-8B00-4674-6001C78093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9EF726-1464-9CD9-1DA9-547ECB017382}"/>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4263194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360E1-06BC-61DB-EF94-43A16F688D9F}"/>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B887A41-B091-4405-4AC1-77A3CD2E7E46}"/>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FEBDBD-CBCB-D5CA-4F8E-743ABC396F45}"/>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589B093-D4E1-7F81-B8C3-88F2BDA850CF}"/>
              </a:ext>
            </a:extLst>
          </p:cNvPr>
          <p:cNvSpPr>
            <a:spLocks noGrp="1"/>
          </p:cNvSpPr>
          <p:nvPr>
            <p:ph type="dt" sz="half" idx="10"/>
          </p:nvPr>
        </p:nvSpPr>
        <p:spPr/>
        <p:txBody>
          <a:bodyPr/>
          <a:lstStyle/>
          <a:p>
            <a:fld id="{241EB5C9-1307-BA42-ABA2-0BC069CD8E7F}" type="datetimeFigureOut">
              <a:rPr lang="en-US" smtClean="0"/>
              <a:t>4/28/2026</a:t>
            </a:fld>
            <a:endParaRPr lang="en-US"/>
          </a:p>
        </p:txBody>
      </p:sp>
      <p:sp>
        <p:nvSpPr>
          <p:cNvPr id="6" name="Footer Placeholder 5">
            <a:extLst>
              <a:ext uri="{FF2B5EF4-FFF2-40B4-BE49-F238E27FC236}">
                <a16:creationId xmlns:a16="http://schemas.microsoft.com/office/drawing/2014/main" id="{4F673B0A-24FF-4EDC-23B2-7EC8A2E93C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E1A5A1-2AD8-3FB1-481B-B1E0A76A3DC8}"/>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4224590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DC815-D53E-676C-B6C0-7D5379112816}"/>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7F05B296-2B93-18B3-7628-3CA510E31419}"/>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4A14EF6-DE63-8EF1-53D4-D32251D0763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B59DBDE-E6CB-08D4-68EC-73408F52BCC1}"/>
              </a:ext>
            </a:extLst>
          </p:cNvPr>
          <p:cNvSpPr>
            <a:spLocks noGrp="1"/>
          </p:cNvSpPr>
          <p:nvPr>
            <p:ph type="dt" sz="half" idx="10"/>
          </p:nvPr>
        </p:nvSpPr>
        <p:spPr/>
        <p:txBody>
          <a:bodyPr/>
          <a:lstStyle/>
          <a:p>
            <a:fld id="{241EB5C9-1307-BA42-ABA2-0BC069CD8E7F}" type="datetimeFigureOut">
              <a:rPr lang="en-US" smtClean="0"/>
              <a:t>4/28/2026</a:t>
            </a:fld>
            <a:endParaRPr lang="en-US"/>
          </a:p>
        </p:txBody>
      </p:sp>
      <p:sp>
        <p:nvSpPr>
          <p:cNvPr id="6" name="Footer Placeholder 5">
            <a:extLst>
              <a:ext uri="{FF2B5EF4-FFF2-40B4-BE49-F238E27FC236}">
                <a16:creationId xmlns:a16="http://schemas.microsoft.com/office/drawing/2014/main" id="{7F05E645-2A57-FCD4-BB9A-6F3C360344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37C8FE-47CA-46DC-E713-B886D5C94B37}"/>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52664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CCA82-4B50-603B-C0E1-C7E3E257EC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3E6E81-D34D-B61E-C1A4-792440641E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788EBF-4A97-8BA7-EC57-FCBBE5B700EB}"/>
              </a:ext>
            </a:extLst>
          </p:cNvPr>
          <p:cNvSpPr>
            <a:spLocks noGrp="1"/>
          </p:cNvSpPr>
          <p:nvPr>
            <p:ph type="dt" sz="half" idx="10"/>
          </p:nvPr>
        </p:nvSpPr>
        <p:spPr/>
        <p:txBody>
          <a:bodyPr/>
          <a:lstStyle/>
          <a:p>
            <a:fld id="{241EB5C9-1307-BA42-ABA2-0BC069CD8E7F}" type="datetimeFigureOut">
              <a:rPr lang="en-US" smtClean="0"/>
              <a:t>4/28/2026</a:t>
            </a:fld>
            <a:endParaRPr lang="en-US"/>
          </a:p>
        </p:txBody>
      </p:sp>
      <p:sp>
        <p:nvSpPr>
          <p:cNvPr id="5" name="Footer Placeholder 4">
            <a:extLst>
              <a:ext uri="{FF2B5EF4-FFF2-40B4-BE49-F238E27FC236}">
                <a16:creationId xmlns:a16="http://schemas.microsoft.com/office/drawing/2014/main" id="{1E827B09-776B-1610-3375-7F4A7D28FB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8A4436-E059-E6D5-C5E4-642C6EC50365}"/>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229029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C7D414-9A9F-A3E0-B6D9-917EFE0BA078}"/>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1D83918-9210-1B34-16FF-CFDAC9040B1D}"/>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6CA267-8DF3-5E7F-6776-779567079F5E}"/>
              </a:ext>
            </a:extLst>
          </p:cNvPr>
          <p:cNvSpPr>
            <a:spLocks noGrp="1"/>
          </p:cNvSpPr>
          <p:nvPr>
            <p:ph type="dt" sz="half" idx="10"/>
          </p:nvPr>
        </p:nvSpPr>
        <p:spPr/>
        <p:txBody>
          <a:bodyPr/>
          <a:lstStyle/>
          <a:p>
            <a:fld id="{241EB5C9-1307-BA42-ABA2-0BC069CD8E7F}" type="datetimeFigureOut">
              <a:rPr lang="en-US" smtClean="0"/>
              <a:t>4/28/2026</a:t>
            </a:fld>
            <a:endParaRPr lang="en-US"/>
          </a:p>
        </p:txBody>
      </p:sp>
      <p:sp>
        <p:nvSpPr>
          <p:cNvPr id="5" name="Footer Placeholder 4">
            <a:extLst>
              <a:ext uri="{FF2B5EF4-FFF2-40B4-BE49-F238E27FC236}">
                <a16:creationId xmlns:a16="http://schemas.microsoft.com/office/drawing/2014/main" id="{86EC05AE-0EC8-CF9A-901E-0BD3C3B39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68971E-0E1B-9D59-D883-27E5CDDB0CF6}"/>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739008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0F5E75-ECEA-0BA2-5BEA-4A24CD0CC82F}"/>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F4F1A9-15F5-A8DC-F975-85E6E372193C}"/>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DAF8F8-254B-40CF-15D7-1456B3B8537A}"/>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241EB5C9-1307-BA42-ABA2-0BC069CD8E7F}" type="datetimeFigureOut">
              <a:rPr lang="en-US" smtClean="0"/>
              <a:t>4/28/2026</a:t>
            </a:fld>
            <a:endParaRPr lang="en-US"/>
          </a:p>
        </p:txBody>
      </p:sp>
      <p:sp>
        <p:nvSpPr>
          <p:cNvPr id="5" name="Footer Placeholder 4">
            <a:extLst>
              <a:ext uri="{FF2B5EF4-FFF2-40B4-BE49-F238E27FC236}">
                <a16:creationId xmlns:a16="http://schemas.microsoft.com/office/drawing/2014/main" id="{5EB80ABF-CEB9-2C89-BCDD-9B36B6C6BCA3}"/>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ACEC6D9-1452-9CC7-19A5-0705A2190492}"/>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147136245"/>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jpe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1946" y="111696"/>
            <a:ext cx="4920107" cy="492010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ctrTitle"/>
          </p:nvPr>
        </p:nvSpPr>
        <p:spPr>
          <a:xfrm>
            <a:off x="2486273" y="1035565"/>
            <a:ext cx="4171453" cy="1885137"/>
          </a:xfrm>
        </p:spPr>
        <p:txBody>
          <a:bodyPr>
            <a:normAutofit/>
          </a:bodyPr>
          <a:lstStyle/>
          <a:p>
            <a:pPr marL="0" lvl="0" indent="0">
              <a:buNone/>
            </a:pPr>
            <a:r>
              <a:rPr lang="en-US"/>
              <a:t>ShopDB</a:t>
            </a:r>
          </a:p>
        </p:txBody>
      </p:sp>
      <p:sp>
        <p:nvSpPr>
          <p:cNvPr id="3" name="Subtitle 2"/>
          <p:cNvSpPr>
            <a:spLocks noGrp="1"/>
          </p:cNvSpPr>
          <p:nvPr>
            <p:ph type="subTitle" idx="1"/>
          </p:nvPr>
        </p:nvSpPr>
        <p:spPr>
          <a:xfrm>
            <a:off x="2486273" y="3057601"/>
            <a:ext cx="4171453" cy="1150940"/>
          </a:xfrm>
        </p:spPr>
        <p:txBody>
          <a:bodyPr>
            <a:normAutofit lnSpcReduction="10000"/>
          </a:bodyPr>
          <a:lstStyle/>
          <a:p>
            <a:pPr marL="0" lvl="0" indent="0">
              <a:buNone/>
            </a:pPr>
            <a:r>
              <a:rPr lang="en-US"/>
              <a:t>MongoDB ShopDB</a:t>
            </a:r>
            <a:br>
              <a:rPr lang="en-US"/>
            </a:br>
            <a:br>
              <a:rPr lang="en-US"/>
            </a:br>
            <a:r>
              <a:rPr lang="en-US"/>
              <a:t>Data Warehouse Team</a:t>
            </a:r>
          </a:p>
          <a:p>
            <a:pPr marL="0" lvl="0" indent="0">
              <a:buNone/>
            </a:pPr>
            <a:r>
              <a:rPr lang="en-US"/>
              <a:t>Jael Rojas, Sophia Du</a:t>
            </a:r>
            <a:endParaRPr lang="en-US" dirty="0"/>
          </a:p>
        </p:txBody>
      </p:sp>
      <p:sp>
        <p:nvSpPr>
          <p:cNvPr id="4" name="Date Placeholder 3"/>
          <p:cNvSpPr>
            <a:spLocks noGrp="1"/>
          </p:cNvSpPr>
          <p:nvPr>
            <p:ph type="dt" sz="half" idx="10"/>
          </p:nvPr>
        </p:nvSpPr>
        <p:spPr>
          <a:xfrm>
            <a:off x="5793183" y="4767262"/>
            <a:ext cx="2057400" cy="273844"/>
          </a:xfrm>
        </p:spPr>
        <p:txBody>
          <a:bodyPr>
            <a:normAutofit/>
          </a:bodyPr>
          <a:lstStyle/>
          <a:p>
            <a:pPr marL="0" lvl="0" indent="0">
              <a:spcAft>
                <a:spcPts val="600"/>
              </a:spcAft>
              <a:buNone/>
            </a:pPr>
            <a:r>
              <a:rPr lang="en-US">
                <a:solidFill>
                  <a:srgbClr val="FFFFFF"/>
                </a:solidFill>
              </a:rPr>
              <a:t>2026-04-24</a:t>
            </a:r>
          </a:p>
        </p:txBody>
      </p:sp>
      <p:sp>
        <p:nvSpPr>
          <p:cNvPr id="17" name="Arc 16">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1870589" y="4627"/>
            <a:ext cx="5112196" cy="511219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9" name="Oval 18">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50746" y="3983229"/>
            <a:ext cx="529461" cy="51509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type="wd">
                                    <p:tmPct val="15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73202" y="371994"/>
            <a:ext cx="3146355" cy="4229123"/>
          </a:xfrm>
          <a:noFill/>
        </p:spPr>
        <p:txBody>
          <a:bodyPr anchor="ctr">
            <a:normAutofit/>
          </a:bodyPr>
          <a:lstStyle/>
          <a:p>
            <a:pPr marL="0" lvl="0" indent="0">
              <a:buNone/>
            </a:pPr>
            <a:r>
              <a:rPr lang="en-US" sz="3600"/>
              <a:t>Table of contents</a:t>
            </a:r>
          </a:p>
        </p:txBody>
      </p:sp>
      <p:graphicFrame>
        <p:nvGraphicFramePr>
          <p:cNvPr id="5" name="Content Placeholder 2">
            <a:extLst>
              <a:ext uri="{FF2B5EF4-FFF2-40B4-BE49-F238E27FC236}">
                <a16:creationId xmlns:a16="http://schemas.microsoft.com/office/drawing/2014/main" id="{FA4BB720-DC9F-7777-23F0-78AF59A4C2EC}"/>
              </a:ext>
            </a:extLst>
          </p:cNvPr>
          <p:cNvGraphicFramePr>
            <a:graphicFrameLocks noGrp="1"/>
          </p:cNvGraphicFramePr>
          <p:nvPr>
            <p:ph idx="1"/>
            <p:extLst>
              <p:ext uri="{D42A27DB-BD31-4B8C-83A1-F6EECF244321}">
                <p14:modId xmlns:p14="http://schemas.microsoft.com/office/powerpoint/2010/main" val="3512256662"/>
              </p:ext>
            </p:extLst>
          </p:nvPr>
        </p:nvGraphicFramePr>
        <p:xfrm>
          <a:off x="2781796" y="54191"/>
          <a:ext cx="6168240" cy="49149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005480C-B4EB-FEA7-9127-02382FFD1E0C}"/>
              </a:ext>
            </a:extLst>
          </p:cNvPr>
          <p:cNvPicPr>
            <a:picLocks noChangeAspect="1"/>
          </p:cNvPicPr>
          <p:nvPr/>
        </p:nvPicPr>
        <p:blipFill>
          <a:blip r:embed="rId3">
            <a:alphaModFix amt="35000"/>
          </a:blip>
          <a:srcRect l="2667" r="-1" b="-1"/>
          <a:stretch>
            <a:fillRect/>
          </a:stretch>
        </p:blipFill>
        <p:spPr>
          <a:xfrm>
            <a:off x="20" y="10"/>
            <a:ext cx="9143980" cy="5143490"/>
          </a:xfrm>
          <a:prstGeom prst="rect">
            <a:avLst/>
          </a:prstGeom>
        </p:spPr>
      </p:pic>
      <p:sp>
        <p:nvSpPr>
          <p:cNvPr id="2" name="Title 1"/>
          <p:cNvSpPr>
            <a:spLocks noGrp="1"/>
          </p:cNvSpPr>
          <p:nvPr>
            <p:ph type="title"/>
          </p:nvPr>
        </p:nvSpPr>
        <p:spPr>
          <a:xfrm>
            <a:off x="628650" y="273843"/>
            <a:ext cx="7886700" cy="994173"/>
          </a:xfrm>
        </p:spPr>
        <p:txBody>
          <a:bodyPr>
            <a:normAutofit/>
          </a:bodyPr>
          <a:lstStyle/>
          <a:p>
            <a:pPr marL="0" lvl="0" indent="0">
              <a:buNone/>
            </a:pPr>
            <a:r>
              <a:rPr lang="en-US">
                <a:solidFill>
                  <a:srgbClr val="FFFFFF"/>
                </a:solidFill>
              </a:rPr>
              <a:t>Project Overview</a:t>
            </a:r>
          </a:p>
        </p:txBody>
      </p:sp>
      <p:graphicFrame>
        <p:nvGraphicFramePr>
          <p:cNvPr id="5" name="Content Placeholder 2">
            <a:extLst>
              <a:ext uri="{FF2B5EF4-FFF2-40B4-BE49-F238E27FC236}">
                <a16:creationId xmlns:a16="http://schemas.microsoft.com/office/drawing/2014/main" id="{640F0D11-2E04-42B3-B24C-DF63B2FD93D7}"/>
              </a:ext>
            </a:extLst>
          </p:cNvPr>
          <p:cNvGraphicFramePr>
            <a:graphicFrameLocks noGrp="1"/>
          </p:cNvGraphicFramePr>
          <p:nvPr>
            <p:ph idx="1"/>
            <p:extLst>
              <p:ext uri="{D42A27DB-BD31-4B8C-83A1-F6EECF244321}">
                <p14:modId xmlns:p14="http://schemas.microsoft.com/office/powerpoint/2010/main" val="1929011980"/>
              </p:ext>
            </p:extLst>
          </p:nvPr>
        </p:nvGraphicFramePr>
        <p:xfrm>
          <a:off x="628650" y="1369218"/>
          <a:ext cx="7886700" cy="32635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a:t>Database Structure</a:t>
            </a:r>
          </a:p>
        </p:txBody>
      </p:sp>
      <p:graphicFrame>
        <p:nvGraphicFramePr>
          <p:cNvPr id="5" name="Content Placeholder 2">
            <a:extLst>
              <a:ext uri="{FF2B5EF4-FFF2-40B4-BE49-F238E27FC236}">
                <a16:creationId xmlns:a16="http://schemas.microsoft.com/office/drawing/2014/main" id="{56852CBB-0C82-0727-BF49-80FB67D3FC52}"/>
              </a:ext>
            </a:extLst>
          </p:cNvPr>
          <p:cNvGraphicFramePr>
            <a:graphicFrameLocks noGrp="1"/>
          </p:cNvGraphicFramePr>
          <p:nvPr>
            <p:ph idx="1"/>
          </p:nvPr>
        </p:nvGraphicFramePr>
        <p:xfrm>
          <a:off x="453292" y="1350537"/>
          <a:ext cx="8229600" cy="30858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13299" y="367902"/>
            <a:ext cx="3968748" cy="1221582"/>
          </a:xfrm>
        </p:spPr>
        <p:txBody>
          <a:bodyPr anchor="b">
            <a:normAutofit/>
          </a:bodyPr>
          <a:lstStyle/>
          <a:p>
            <a:pPr marL="0" lvl="0" indent="0">
              <a:buNone/>
            </a:pPr>
            <a:r>
              <a:rPr lang="en-US" sz="3000"/>
              <a:t>Prep Tasks</a:t>
            </a:r>
          </a:p>
        </p:txBody>
      </p:sp>
      <p:graphicFrame>
        <p:nvGraphicFramePr>
          <p:cNvPr id="5" name="Content Placeholder 2">
            <a:extLst>
              <a:ext uri="{FF2B5EF4-FFF2-40B4-BE49-F238E27FC236}">
                <a16:creationId xmlns:a16="http://schemas.microsoft.com/office/drawing/2014/main" id="{C863E364-C4DB-9639-3B07-2F2AD033B088}"/>
              </a:ext>
            </a:extLst>
          </p:cNvPr>
          <p:cNvGraphicFramePr>
            <a:graphicFrameLocks noGrp="1"/>
          </p:cNvGraphicFramePr>
          <p:nvPr>
            <p:ph idx="1"/>
            <p:extLst>
              <p:ext uri="{D42A27DB-BD31-4B8C-83A1-F6EECF244321}">
                <p14:modId xmlns:p14="http://schemas.microsoft.com/office/powerpoint/2010/main" val="3946456028"/>
              </p:ext>
            </p:extLst>
          </p:nvPr>
        </p:nvGraphicFramePr>
        <p:xfrm>
          <a:off x="4813300" y="1960959"/>
          <a:ext cx="3968747" cy="28146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a:extLst>
              <a:ext uri="{FF2B5EF4-FFF2-40B4-BE49-F238E27FC236}">
                <a16:creationId xmlns:a16="http://schemas.microsoft.com/office/drawing/2014/main" id="{8F4CC5FD-DD86-5C07-6179-CACAB84BC282}"/>
              </a:ext>
            </a:extLst>
          </p:cNvPr>
          <p:cNvPicPr>
            <a:picLocks noChangeAspect="1"/>
          </p:cNvPicPr>
          <p:nvPr/>
        </p:nvPicPr>
        <p:blipFill>
          <a:blip r:embed="rId8"/>
          <a:srcRect l="28346" r="21643" b="1"/>
          <a:stretch>
            <a:fillRect/>
          </a:stretch>
        </p:blipFill>
        <p:spPr>
          <a:xfrm>
            <a:off x="1" y="1190"/>
            <a:ext cx="4571999" cy="5142310"/>
          </a:xfrm>
          <a:custGeom>
            <a:avLst/>
            <a:gdLst/>
            <a:ahLst/>
            <a:cxnLst/>
            <a:rect l="l" t="t" r="r" b="b"/>
            <a:pathLst>
              <a:path w="6649908" h="6856413">
                <a:moveTo>
                  <a:pt x="0" y="0"/>
                </a:moveTo>
                <a:lnTo>
                  <a:pt x="6559859" y="0"/>
                </a:lnTo>
                <a:lnTo>
                  <a:pt x="6572145" y="79394"/>
                </a:lnTo>
                <a:cubicBezTo>
                  <a:pt x="6857782" y="2230562"/>
                  <a:pt x="6243159" y="4473353"/>
                  <a:pt x="6528796" y="6624522"/>
                </a:cubicBezTo>
                <a:lnTo>
                  <a:pt x="6564680" y="6856413"/>
                </a:lnTo>
                <a:lnTo>
                  <a:pt x="0" y="6856413"/>
                </a:lnTo>
                <a:close/>
              </a:path>
            </a:pathLst>
          </a:cu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51435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865179"/>
            <a:ext cx="2400300" cy="3345872"/>
          </a:xfrm>
        </p:spPr>
        <p:txBody>
          <a:bodyPr>
            <a:normAutofit/>
          </a:bodyPr>
          <a:lstStyle/>
          <a:p>
            <a:pPr marL="0" lvl="0" indent="0">
              <a:buNone/>
            </a:pPr>
            <a:r>
              <a:rPr lang="en-US">
                <a:solidFill>
                  <a:srgbClr val="FFFFFF"/>
                </a:solidFill>
              </a:rPr>
              <a:t>Task 1: Increase All Customers’ Age by 1</a:t>
            </a:r>
            <a:endParaRPr lang="en-US" dirty="0">
              <a:solidFill>
                <a:srgbClr val="FFFFFF"/>
              </a:solidFill>
            </a:endParaRPr>
          </a:p>
        </p:txBody>
      </p:sp>
      <p:sp>
        <p:nvSpPr>
          <p:cNvPr id="7" name="Arc 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1841609"/>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443508"/>
            <a:ext cx="5179868" cy="4189214"/>
          </a:xfrm>
        </p:spPr>
        <p:txBody>
          <a:bodyPr anchor="ctr">
            <a:normAutofit/>
          </a:bodyPr>
          <a:lstStyle/>
          <a:p>
            <a:pPr marL="0" lvl="0" indent="0">
              <a:buNone/>
            </a:pPr>
            <a:r>
              <a:rPr lang="en-US" sz="1300" b="1"/>
              <a:t>Goal</a:t>
            </a:r>
            <a:r>
              <a:rPr lang="en-US" sz="1300"/>
              <a:t> - Increment every customer’s </a:t>
            </a:r>
            <a:r>
              <a:rPr lang="en-US" sz="1300">
                <a:latin typeface="Courier"/>
              </a:rPr>
              <a:t>age</a:t>
            </a:r>
            <a:r>
              <a:rPr lang="en-US" sz="1300"/>
              <a:t> by 1. - Reset </a:t>
            </a:r>
            <a:r>
              <a:rPr lang="en-US" sz="1300">
                <a:latin typeface="Courier"/>
              </a:rPr>
              <a:t>age</a:t>
            </a:r>
            <a:r>
              <a:rPr lang="en-US" sz="1300"/>
              <a:t> to its original value before </a:t>
            </a:r>
            <a:r>
              <a:rPr lang="en-US" sz="1300" b="1"/>
              <a:t>each timed run</a:t>
            </a:r>
            <a:r>
              <a:rPr lang="en-US" sz="1300"/>
              <a:t>.</a:t>
            </a:r>
          </a:p>
          <a:p>
            <a:pPr marL="0" lvl="0" indent="0">
              <a:buNone/>
            </a:pPr>
            <a:r>
              <a:rPr lang="en-US" sz="1300" b="1"/>
              <a:t>1. Increase ages</a:t>
            </a:r>
          </a:p>
          <a:p>
            <a:pPr lvl="0" indent="0">
              <a:buNone/>
            </a:pPr>
            <a:r>
              <a:rPr lang="en-US" sz="1300">
                <a:latin typeface="Courier"/>
              </a:rPr>
              <a:t>use shopdb</a:t>
            </a:r>
            <a:br>
              <a:rPr lang="en-US" sz="1300"/>
            </a:br>
            <a:br>
              <a:rPr lang="en-US" sz="1300"/>
            </a:br>
            <a:r>
              <a:rPr lang="en-US" sz="1300">
                <a:latin typeface="Courier"/>
              </a:rPr>
              <a:t>db.customers.updateMany(</a:t>
            </a:r>
            <a:br>
              <a:rPr lang="en-US" sz="1300"/>
            </a:br>
            <a:r>
              <a:rPr lang="en-US" sz="1300">
                <a:latin typeface="Courier"/>
              </a:rPr>
              <a:t>  {},</a:t>
            </a:r>
            <a:br>
              <a:rPr lang="en-US" sz="1300"/>
            </a:br>
            <a:r>
              <a:rPr lang="en-US" sz="1300">
                <a:latin typeface="Courier"/>
              </a:rPr>
              <a:t>  { $inc: { age: 1 } }</a:t>
            </a:r>
            <a:br>
              <a:rPr lang="en-US" sz="1300"/>
            </a:br>
            <a:r>
              <a:rPr lang="en-US" sz="1300">
                <a:latin typeface="Courier"/>
              </a:rPr>
              <a:t>)</a:t>
            </a:r>
          </a:p>
          <a:p>
            <a:pPr marL="0" lvl="0" indent="0">
              <a:buNone/>
            </a:pPr>
            <a:r>
              <a:rPr lang="en-US" sz="1300" b="1"/>
              <a:t>2. Reset before next run (example)</a:t>
            </a:r>
            <a:br>
              <a:rPr lang="en-US" sz="1300"/>
            </a:br>
            <a:r>
              <a:rPr lang="en-US" sz="1300"/>
              <a:t>Assume ages were stored in a backup field </a:t>
            </a:r>
            <a:r>
              <a:rPr lang="en-US" sz="1300">
                <a:latin typeface="Courier"/>
              </a:rPr>
              <a:t>original_age</a:t>
            </a:r>
            <a:r>
              <a:rPr lang="en-US" sz="1300"/>
              <a:t>:</a:t>
            </a:r>
          </a:p>
          <a:p>
            <a:pPr lvl="0" indent="0">
              <a:buNone/>
            </a:pPr>
            <a:r>
              <a:rPr lang="en-US" sz="1300">
                <a:latin typeface="Courier"/>
              </a:rPr>
              <a:t>db.customers.updateMany(</a:t>
            </a:r>
            <a:br>
              <a:rPr lang="en-US" sz="1300"/>
            </a:br>
            <a:r>
              <a:rPr lang="en-US" sz="1300">
                <a:latin typeface="Courier"/>
              </a:rPr>
              <a:t>  {},</a:t>
            </a:r>
            <a:br>
              <a:rPr lang="en-US" sz="1300"/>
            </a:br>
            <a:r>
              <a:rPr lang="en-US" sz="1300">
                <a:latin typeface="Courier"/>
              </a:rPr>
              <a:t>  { $set: { age: "$original_age" } }</a:t>
            </a:r>
            <a:br>
              <a:rPr lang="en-US" sz="1300"/>
            </a:br>
            <a:r>
              <a:rPr lang="en-US" sz="1300">
                <a:latin typeface="Courier"/>
              </a:rPr>
              <a:t>)</a:t>
            </a:r>
          </a:p>
          <a:p>
            <a:pPr marL="0" lvl="0" indent="0">
              <a:buNone/>
            </a:pPr>
            <a:r>
              <a:rPr lang="en-US" sz="1300" b="1"/>
              <a:t>Timing note</a:t>
            </a:r>
            <a:r>
              <a:rPr lang="en-US" sz="1300"/>
              <a:t> - Ran this </a:t>
            </a:r>
            <a:r>
              <a:rPr lang="en-US" sz="1300">
                <a:latin typeface="Courier"/>
              </a:rPr>
              <a:t>updateMany</a:t>
            </a:r>
            <a:r>
              <a:rPr lang="en-US" sz="1300"/>
              <a:t> 10 times, computed the </a:t>
            </a:r>
            <a:r>
              <a:rPr lang="en-US" sz="1300" b="1"/>
              <a:t>average execution time</a:t>
            </a:r>
            <a:r>
              <a:rPr lang="en-US" sz="1300"/>
              <a:t> to observe how bulk updates scale on 100K+ documents. time (s): 2.2852902500191705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lang="en-US"/>
              <a:t>Task 2: Reduce a Product’s Stock After Purchase</a:t>
            </a:r>
          </a:p>
        </p:txBody>
      </p:sp>
      <p:graphicFrame>
        <p:nvGraphicFramePr>
          <p:cNvPr id="5" name="Content Placeholder 2">
            <a:extLst>
              <a:ext uri="{FF2B5EF4-FFF2-40B4-BE49-F238E27FC236}">
                <a16:creationId xmlns:a16="http://schemas.microsoft.com/office/drawing/2014/main" id="{150D9A15-2DA5-C32E-54AE-696080F6ABFC}"/>
              </a:ext>
            </a:extLst>
          </p:cNvPr>
          <p:cNvGraphicFramePr>
            <a:graphicFrameLocks noGrp="1"/>
          </p:cNvGraphicFramePr>
          <p:nvPr>
            <p:ph idx="1"/>
          </p:nvPr>
        </p:nvGraphicFramePr>
        <p:xfrm>
          <a:off x="457200" y="1081232"/>
          <a:ext cx="8229600" cy="37339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6891" y="839273"/>
            <a:ext cx="3464954" cy="346495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8305" y="1047514"/>
            <a:ext cx="2430380" cy="3048471"/>
          </a:xfrm>
        </p:spPr>
        <p:txBody>
          <a:bodyPr>
            <a:normAutofit/>
          </a:bodyPr>
          <a:lstStyle/>
          <a:p>
            <a:pPr marL="0" lvl="0" indent="0">
              <a:buNone/>
            </a:pPr>
            <a:r>
              <a:rPr lang="en-US">
                <a:solidFill>
                  <a:srgbClr val="FFFFFF"/>
                </a:solidFill>
              </a:rPr>
              <a:t>Task 3: Premium Customer Emails</a:t>
            </a:r>
          </a:p>
        </p:txBody>
      </p:sp>
      <p:sp>
        <p:nvSpPr>
          <p:cNvPr id="20" name="Arc 19">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6512790" y="705861"/>
            <a:ext cx="2240924" cy="2240924"/>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536" y="3585744"/>
            <a:ext cx="409575" cy="40957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4027614" y="1144524"/>
            <a:ext cx="4152298" cy="2951461"/>
          </a:xfrm>
        </p:spPr>
        <p:txBody>
          <a:bodyPr>
            <a:normAutofit/>
          </a:bodyPr>
          <a:lstStyle/>
          <a:p>
            <a:pPr marL="0" lvl="0" indent="0">
              <a:buNone/>
            </a:pPr>
            <a:r>
              <a:rPr lang="en-US" sz="1600" b="1"/>
              <a:t>Goal</a:t>
            </a:r>
            <a:r>
              <a:rPr lang="en-US" sz="1600"/>
              <a:t> - Return only the </a:t>
            </a:r>
            <a:r>
              <a:rPr lang="en-US" sz="1600">
                <a:latin typeface="Courier"/>
              </a:rPr>
              <a:t>email</a:t>
            </a:r>
            <a:r>
              <a:rPr lang="en-US" sz="1600"/>
              <a:t> field for customers where </a:t>
            </a:r>
            <a:r>
              <a:rPr lang="en-US" sz="1600">
                <a:latin typeface="Courier"/>
              </a:rPr>
              <a:t>is_premium</a:t>
            </a:r>
            <a:r>
              <a:rPr lang="en-US" sz="1600"/>
              <a:t> is </a:t>
            </a:r>
            <a:r>
              <a:rPr lang="en-US" sz="1600">
                <a:latin typeface="Courier"/>
              </a:rPr>
              <a:t>true</a:t>
            </a:r>
            <a:r>
              <a:rPr lang="en-US" sz="1600"/>
              <a:t>. - Project without </a:t>
            </a:r>
            <a:r>
              <a:rPr lang="en-US" sz="1600">
                <a:latin typeface="Courier"/>
              </a:rPr>
              <a:t>_id</a:t>
            </a:r>
            <a:r>
              <a:rPr lang="en-US" sz="1600"/>
              <a:t>.</a:t>
            </a:r>
          </a:p>
          <a:p>
            <a:pPr lvl="0" indent="0">
              <a:buNone/>
            </a:pPr>
            <a:r>
              <a:rPr lang="en-US" sz="1600">
                <a:latin typeface="Courier"/>
              </a:rPr>
              <a:t>db.customers.find(</a:t>
            </a:r>
            <a:br>
              <a:rPr lang="en-US" sz="1600"/>
            </a:br>
            <a:r>
              <a:rPr lang="en-US" sz="1600">
                <a:latin typeface="Courier"/>
              </a:rPr>
              <a:t>  { is_premium: </a:t>
            </a:r>
            <a:r>
              <a:rPr lang="en-US" sz="1600" b="1">
                <a:latin typeface="Courier"/>
              </a:rPr>
              <a:t>true</a:t>
            </a:r>
            <a:r>
              <a:rPr lang="en-US" sz="1600">
                <a:latin typeface="Courier"/>
              </a:rPr>
              <a:t> },</a:t>
            </a:r>
            <a:br>
              <a:rPr lang="en-US" sz="1600"/>
            </a:br>
            <a:r>
              <a:rPr lang="en-US" sz="1600">
                <a:latin typeface="Courier"/>
              </a:rPr>
              <a:t>  { _id: 0, email: 1 }</a:t>
            </a:r>
            <a:br>
              <a:rPr lang="en-US" sz="1600"/>
            </a:br>
            <a:r>
              <a:rPr lang="en-US" sz="1600">
                <a:latin typeface="Courier"/>
              </a:rPr>
              <a:t>)</a:t>
            </a:r>
          </a:p>
          <a:p>
            <a:pPr marL="0" lvl="0" indent="0">
              <a:buNone/>
            </a:pPr>
            <a:r>
              <a:rPr lang="en-US" sz="1600" b="1"/>
              <a:t>Timing note</a:t>
            </a:r>
            <a:r>
              <a:rPr lang="en-US" sz="1600"/>
              <a:t> - Ran this read‑only </a:t>
            </a:r>
            <a:r>
              <a:rPr lang="en-US" sz="1600">
                <a:latin typeface="Courier"/>
              </a:rPr>
              <a:t>find</a:t>
            </a:r>
            <a:r>
              <a:rPr lang="en-US" sz="1600"/>
              <a:t> projection 10 times and recorded the </a:t>
            </a:r>
            <a:r>
              <a:rPr lang="en-US" sz="1600" b="1"/>
              <a:t>average execution time</a:t>
            </a:r>
            <a:r>
              <a:rPr lang="en-US" sz="1600"/>
              <a:t> as a baseline for read‑only queries. time (s): 0.14587286000605673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51435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865179"/>
            <a:ext cx="2400300" cy="3345872"/>
          </a:xfrm>
        </p:spPr>
        <p:txBody>
          <a:bodyPr>
            <a:normAutofit/>
          </a:bodyPr>
          <a:lstStyle/>
          <a:p>
            <a:pPr marL="0" lvl="0" indent="0">
              <a:buNone/>
            </a:pPr>
            <a:r>
              <a:rPr lang="en-US">
                <a:solidFill>
                  <a:srgbClr val="FFFFFF"/>
                </a:solidFill>
              </a:rPr>
              <a:t>Task 4: Refunded Orders in Last 30 Days</a:t>
            </a:r>
          </a:p>
        </p:txBody>
      </p:sp>
      <p:sp>
        <p:nvSpPr>
          <p:cNvPr id="7" name="Arc 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1841609"/>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443508"/>
            <a:ext cx="5179868" cy="4189214"/>
          </a:xfrm>
        </p:spPr>
        <p:txBody>
          <a:bodyPr anchor="ctr">
            <a:normAutofit/>
          </a:bodyPr>
          <a:lstStyle/>
          <a:p>
            <a:pPr marL="0" lvl="0" indent="0">
              <a:buNone/>
            </a:pPr>
            <a:r>
              <a:rPr lang="en-US" sz="1300" b="1"/>
              <a:t>Goal</a:t>
            </a:r>
            <a:r>
              <a:rPr lang="en-US" sz="1300"/>
              <a:t> - Using fixed reference date </a:t>
            </a:r>
            <a:r>
              <a:rPr lang="en-US" sz="1300">
                <a:latin typeface="Courier"/>
              </a:rPr>
              <a:t>2025‑05‑01</a:t>
            </a:r>
            <a:r>
              <a:rPr lang="en-US" sz="1300"/>
              <a:t>, treat “last 30 days” as the </a:t>
            </a:r>
            <a:r>
              <a:rPr lang="en-US" sz="1300" b="1"/>
              <a:t>inclusive</a:t>
            </a:r>
            <a:r>
              <a:rPr lang="en-US" sz="1300"/>
              <a:t> range </a:t>
            </a:r>
            <a:r>
              <a:rPr lang="en-US" sz="1300">
                <a:latin typeface="Courier"/>
              </a:rPr>
              <a:t>2025‑04‑02</a:t>
            </a:r>
            <a:r>
              <a:rPr lang="en-US" sz="1300"/>
              <a:t> to </a:t>
            </a:r>
            <a:r>
              <a:rPr lang="en-US" sz="1300">
                <a:latin typeface="Courier"/>
              </a:rPr>
              <a:t>2025‑05‑01</a:t>
            </a:r>
            <a:r>
              <a:rPr lang="en-US" sz="1300"/>
              <a:t>. - Since </a:t>
            </a:r>
            <a:r>
              <a:rPr lang="en-US" sz="1300">
                <a:latin typeface="Courier"/>
              </a:rPr>
              <a:t>order_date</a:t>
            </a:r>
            <a:r>
              <a:rPr lang="en-US" sz="1300"/>
              <a:t> is stored as </a:t>
            </a:r>
            <a:r>
              <a:rPr lang="en-US" sz="1300">
                <a:latin typeface="Courier"/>
              </a:rPr>
              <a:t>"YYYY‑MM‑DD"</a:t>
            </a:r>
            <a:r>
              <a:rPr lang="en-US" sz="1300"/>
              <a:t> strings, </a:t>
            </a:r>
            <a:r>
              <a:rPr lang="en-US" sz="1300">
                <a:latin typeface="Courier"/>
              </a:rPr>
              <a:t>$gte</a:t>
            </a:r>
            <a:r>
              <a:rPr lang="en-US" sz="1300"/>
              <a:t>/</a:t>
            </a:r>
            <a:r>
              <a:rPr lang="en-US" sz="1300">
                <a:latin typeface="Courier"/>
              </a:rPr>
              <a:t>$lte</a:t>
            </a:r>
            <a:r>
              <a:rPr lang="en-US" sz="1300"/>
              <a:t> comparisons work correctly.</a:t>
            </a:r>
          </a:p>
          <a:p>
            <a:pPr marL="0" lvl="0" indent="0">
              <a:buNone/>
            </a:pPr>
            <a:r>
              <a:rPr lang="en-US" sz="1300" b="1"/>
              <a:t>Solution text</a:t>
            </a:r>
            <a:r>
              <a:rPr lang="en-US" sz="1300"/>
              <a:t> &gt; I interpret “last 30 days” as the inclusive date range from 2025‑04‑02 to 2025‑05‑01. Because </a:t>
            </a:r>
            <a:r>
              <a:rPr lang="en-US" sz="1300">
                <a:latin typeface="Courier"/>
              </a:rPr>
              <a:t>order_date</a:t>
            </a:r>
            <a:r>
              <a:rPr lang="en-US" sz="1300"/>
              <a:t> is stored as an ISO‑like string, standard </a:t>
            </a:r>
            <a:r>
              <a:rPr lang="en-US" sz="1300">
                <a:latin typeface="Courier"/>
              </a:rPr>
              <a:t>$gte</a:t>
            </a:r>
            <a:r>
              <a:rPr lang="en-US" sz="1300"/>
              <a:t> and </a:t>
            </a:r>
            <a:r>
              <a:rPr lang="en-US" sz="1300">
                <a:latin typeface="Courier"/>
              </a:rPr>
              <a:t>$lte</a:t>
            </a:r>
            <a:r>
              <a:rPr lang="en-US" sz="1300"/>
              <a:t> queries safely handle this range without needing </a:t>
            </a:r>
            <a:r>
              <a:rPr lang="en-US" sz="1300">
                <a:latin typeface="Courier"/>
              </a:rPr>
              <a:t>ISODate</a:t>
            </a:r>
            <a:r>
              <a:rPr lang="en-US" sz="1300"/>
              <a:t>.</a:t>
            </a:r>
          </a:p>
          <a:p>
            <a:pPr lvl="0" indent="0">
              <a:buNone/>
            </a:pPr>
            <a:r>
              <a:rPr lang="en-US" sz="1300">
                <a:latin typeface="Courier"/>
              </a:rPr>
              <a:t>db.orders.find({</a:t>
            </a:r>
            <a:br>
              <a:rPr lang="en-US" sz="1300"/>
            </a:br>
            <a:r>
              <a:rPr lang="en-US" sz="1300">
                <a:latin typeface="Courier"/>
              </a:rPr>
              <a:t>  order_date: {</a:t>
            </a:r>
            <a:br>
              <a:rPr lang="en-US" sz="1300"/>
            </a:br>
            <a:r>
              <a:rPr lang="en-US" sz="1300">
                <a:latin typeface="Courier"/>
              </a:rPr>
              <a:t>    $gte: "2025-04-02",</a:t>
            </a:r>
            <a:br>
              <a:rPr lang="en-US" sz="1300"/>
            </a:br>
            <a:r>
              <a:rPr lang="en-US" sz="1300">
                <a:latin typeface="Courier"/>
              </a:rPr>
              <a:t>    $lte: "2025-05-01"</a:t>
            </a:r>
            <a:br>
              <a:rPr lang="en-US" sz="1300"/>
            </a:br>
            <a:r>
              <a:rPr lang="en-US" sz="1300">
                <a:latin typeface="Courier"/>
              </a:rPr>
              <a:t>  },</a:t>
            </a:r>
            <a:br>
              <a:rPr lang="en-US" sz="1300"/>
            </a:br>
            <a:r>
              <a:rPr lang="en-US" sz="1300">
                <a:latin typeface="Courier"/>
              </a:rPr>
              <a:t>  payment_status: "refunded"</a:t>
            </a:r>
            <a:br>
              <a:rPr lang="en-US" sz="1300"/>
            </a:br>
            <a:r>
              <a:rPr lang="en-US" sz="1300">
                <a:latin typeface="Courier"/>
              </a:rPr>
              <a:t>})</a:t>
            </a:r>
          </a:p>
          <a:p>
            <a:pPr marL="0" lvl="0" indent="0">
              <a:buNone/>
            </a:pPr>
            <a:r>
              <a:rPr lang="en-US" sz="1300" b="1"/>
              <a:t>Timing note</a:t>
            </a:r>
            <a:r>
              <a:rPr lang="en-US" sz="1300"/>
              <a:t> - Ran this filtered </a:t>
            </a:r>
            <a:r>
              <a:rPr lang="en-US" sz="1300">
                <a:latin typeface="Courier"/>
              </a:rPr>
              <a:t>find</a:t>
            </a:r>
            <a:r>
              <a:rPr lang="en-US" sz="1300"/>
              <a:t> 10 times and averaged the execution time to see how range + status filters affect performance. time (s): 2.2852902500191705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3219"/>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3125451" cy="51435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443508"/>
            <a:ext cx="2400300" cy="4189214"/>
          </a:xfrm>
        </p:spPr>
        <p:txBody>
          <a:bodyPr>
            <a:normAutofit/>
          </a:bodyPr>
          <a:lstStyle/>
          <a:p>
            <a:pPr marL="0" lvl="0" indent="0">
              <a:buNone/>
            </a:pPr>
            <a:r>
              <a:rPr lang="en-US">
                <a:solidFill>
                  <a:srgbClr val="FFFFFF"/>
                </a:solidFill>
              </a:rPr>
              <a:t>Task 5: Count Orders by Payment Status</a:t>
            </a:r>
          </a:p>
        </p:txBody>
      </p:sp>
      <p:sp>
        <p:nvSpPr>
          <p:cNvPr id="7" name="Arc 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1841609"/>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443508"/>
            <a:ext cx="5179868" cy="4189214"/>
          </a:xfrm>
        </p:spPr>
        <p:txBody>
          <a:bodyPr anchor="ctr">
            <a:normAutofit/>
          </a:bodyPr>
          <a:lstStyle/>
          <a:p>
            <a:pPr marL="0" lvl="0" indent="0">
              <a:buNone/>
            </a:pPr>
            <a:r>
              <a:rPr lang="en-US" sz="900" b="1"/>
              <a:t>Goal</a:t>
            </a:r>
            <a:r>
              <a:rPr lang="en-US" sz="900"/>
              <a:t> - Use aggregation to count orders with </a:t>
            </a:r>
            <a:r>
              <a:rPr lang="en-US" sz="900">
                <a:latin typeface="Courier"/>
              </a:rPr>
              <a:t>payment_status</a:t>
            </a:r>
            <a:r>
              <a:rPr lang="en-US" sz="900"/>
              <a:t> equal to </a:t>
            </a:r>
            <a:r>
              <a:rPr lang="en-US" sz="900">
                <a:latin typeface="Courier"/>
              </a:rPr>
              <a:t>"paid"</a:t>
            </a:r>
            <a:r>
              <a:rPr lang="en-US" sz="900"/>
              <a:t>, </a:t>
            </a:r>
            <a:r>
              <a:rPr lang="en-US" sz="900">
                <a:latin typeface="Courier"/>
              </a:rPr>
              <a:t>"pending"</a:t>
            </a:r>
            <a:r>
              <a:rPr lang="en-US" sz="900"/>
              <a:t>, or </a:t>
            </a:r>
            <a:r>
              <a:rPr lang="en-US" sz="900">
                <a:latin typeface="Courier"/>
              </a:rPr>
              <a:t>"refunded"</a:t>
            </a:r>
            <a:r>
              <a:rPr lang="en-US" sz="900"/>
              <a:t>.</a:t>
            </a:r>
          </a:p>
          <a:p>
            <a:pPr lvl="0" indent="0">
              <a:buNone/>
            </a:pPr>
            <a:r>
              <a:rPr lang="en-US" sz="900">
                <a:latin typeface="Courier"/>
              </a:rPr>
              <a:t>db.orders.aggregate([</a:t>
            </a:r>
            <a:br>
              <a:rPr lang="en-US" sz="900"/>
            </a:br>
            <a:r>
              <a:rPr lang="en-US" sz="900">
                <a:latin typeface="Courier"/>
              </a:rPr>
              <a:t>  {</a:t>
            </a:r>
            <a:br>
              <a:rPr lang="en-US" sz="900"/>
            </a:br>
            <a:r>
              <a:rPr lang="en-US" sz="900">
                <a:latin typeface="Courier"/>
              </a:rPr>
              <a:t>    $match: {</a:t>
            </a:r>
            <a:br>
              <a:rPr lang="en-US" sz="900"/>
            </a:br>
            <a:r>
              <a:rPr lang="en-US" sz="900">
                <a:latin typeface="Courier"/>
              </a:rPr>
              <a:t>      payment_status: {</a:t>
            </a:r>
            <a:br>
              <a:rPr lang="en-US" sz="900"/>
            </a:br>
            <a:r>
              <a:rPr lang="en-US" sz="900">
                <a:latin typeface="Courier"/>
              </a:rPr>
              <a:t>        $in: ["paid", "pending", "refunded"]</a:t>
            </a:r>
            <a:br>
              <a:rPr lang="en-US" sz="900"/>
            </a:br>
            <a:r>
              <a:rPr lang="en-US" sz="900">
                <a:latin typeface="Courier"/>
              </a:rPr>
              <a:t>      }</a:t>
            </a:r>
            <a:br>
              <a:rPr lang="en-US" sz="900"/>
            </a:br>
            <a:r>
              <a:rPr lang="en-US" sz="900">
                <a:latin typeface="Courier"/>
              </a:rPr>
              <a:t>    }</a:t>
            </a:r>
            <a:br>
              <a:rPr lang="en-US" sz="900"/>
            </a:br>
            <a:r>
              <a:rPr lang="en-US" sz="900">
                <a:latin typeface="Courier"/>
              </a:rPr>
              <a:t>  },</a:t>
            </a:r>
            <a:br>
              <a:rPr lang="en-US" sz="900"/>
            </a:br>
            <a:r>
              <a:rPr lang="en-US" sz="900">
                <a:latin typeface="Courier"/>
              </a:rPr>
              <a:t>  {</a:t>
            </a:r>
            <a:br>
              <a:rPr lang="en-US" sz="900"/>
            </a:br>
            <a:r>
              <a:rPr lang="en-US" sz="900">
                <a:latin typeface="Courier"/>
              </a:rPr>
              <a:t>    $group: {</a:t>
            </a:r>
            <a:br>
              <a:rPr lang="en-US" sz="900"/>
            </a:br>
            <a:r>
              <a:rPr lang="en-US" sz="900">
                <a:latin typeface="Courier"/>
              </a:rPr>
              <a:t>      _id: "$payment_status",</a:t>
            </a:r>
            <a:br>
              <a:rPr lang="en-US" sz="900"/>
            </a:br>
            <a:r>
              <a:rPr lang="en-US" sz="900">
                <a:latin typeface="Courier"/>
              </a:rPr>
              <a:t>      count: { $sum: 1 }</a:t>
            </a:r>
            <a:br>
              <a:rPr lang="en-US" sz="900"/>
            </a:br>
            <a:r>
              <a:rPr lang="en-US" sz="900">
                <a:latin typeface="Courier"/>
              </a:rPr>
              <a:t>    }</a:t>
            </a:r>
            <a:br>
              <a:rPr lang="en-US" sz="900"/>
            </a:br>
            <a:r>
              <a:rPr lang="en-US" sz="900">
                <a:latin typeface="Courier"/>
              </a:rPr>
              <a:t>  }</a:t>
            </a:r>
            <a:br>
              <a:rPr lang="en-US" sz="900"/>
            </a:br>
            <a:r>
              <a:rPr lang="en-US" sz="900">
                <a:latin typeface="Courier"/>
              </a:rPr>
              <a:t>])</a:t>
            </a:r>
          </a:p>
          <a:p>
            <a:pPr lvl="0"/>
            <a:r>
              <a:rPr lang="en-US" sz="900"/>
              <a:t>Returns results like:</a:t>
            </a:r>
          </a:p>
          <a:p>
            <a:pPr lvl="1" indent="0">
              <a:buNone/>
            </a:pPr>
            <a:r>
              <a:rPr lang="en-US" sz="900">
                <a:latin typeface="Courier"/>
              </a:rPr>
              <a:t>{ "_id": "paid", </a:t>
            </a:r>
            <a:r>
              <a:rPr lang="en-US" sz="900" b="1">
                <a:latin typeface="Courier"/>
              </a:rPr>
              <a:t>count</a:t>
            </a:r>
            <a:r>
              <a:rPr lang="en-US" sz="900">
                <a:latin typeface="Courier"/>
              </a:rPr>
              <a:t>: 32000 }</a:t>
            </a:r>
            <a:br>
              <a:rPr lang="en-US" sz="900"/>
            </a:br>
            <a:r>
              <a:rPr lang="en-US" sz="900">
                <a:latin typeface="Courier"/>
              </a:rPr>
              <a:t>{ "_id": "pending", </a:t>
            </a:r>
            <a:r>
              <a:rPr lang="en-US" sz="900" b="1">
                <a:latin typeface="Courier"/>
              </a:rPr>
              <a:t>count</a:t>
            </a:r>
            <a:r>
              <a:rPr lang="en-US" sz="900">
                <a:latin typeface="Courier"/>
              </a:rPr>
              <a:t>: 1500 }</a:t>
            </a:r>
            <a:br>
              <a:rPr lang="en-US" sz="900"/>
            </a:br>
            <a:r>
              <a:rPr lang="en-US" sz="900">
                <a:latin typeface="Courier"/>
              </a:rPr>
              <a:t>{ "_id": "refunded", </a:t>
            </a:r>
            <a:r>
              <a:rPr lang="en-US" sz="900" b="1">
                <a:latin typeface="Courier"/>
              </a:rPr>
              <a:t>count</a:t>
            </a:r>
            <a:r>
              <a:rPr lang="en-US" sz="900">
                <a:latin typeface="Courier"/>
              </a:rPr>
              <a:t>: 800 }</a:t>
            </a:r>
          </a:p>
          <a:p>
            <a:pPr marL="0" lvl="0" indent="0">
              <a:buNone/>
            </a:pPr>
            <a:r>
              <a:rPr lang="en-US" sz="900" b="1"/>
              <a:t>Timing note</a:t>
            </a:r>
            <a:r>
              <a:rPr lang="en-US" sz="900"/>
              <a:t> - Ran this pipeline 10 times and computed the </a:t>
            </a:r>
            <a:r>
              <a:rPr lang="en-US" sz="900" b="1"/>
              <a:t>average execution time</a:t>
            </a:r>
            <a:r>
              <a:rPr lang="en-US" sz="900"/>
              <a:t> for an agg regation‑based counting task. time (s): 0.09079674001550302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51435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990F6C-D919-F947-C942-7B37EB90746C}"/>
              </a:ext>
            </a:extLst>
          </p:cNvPr>
          <p:cNvSpPr>
            <a:spLocks noGrp="1"/>
          </p:cNvSpPr>
          <p:nvPr>
            <p:ph type="title"/>
          </p:nvPr>
        </p:nvSpPr>
        <p:spPr>
          <a:xfrm>
            <a:off x="515125" y="865179"/>
            <a:ext cx="2400300" cy="3345872"/>
          </a:xfrm>
        </p:spPr>
        <p:txBody>
          <a:bodyPr>
            <a:normAutofit/>
          </a:bodyPr>
          <a:lstStyle/>
          <a:p>
            <a:r>
              <a:rPr lang="en-US" b="1" dirty="0">
                <a:solidFill>
                  <a:srgbClr val="FFFFFF"/>
                </a:solidFill>
              </a:rPr>
              <a:t>Task 6:</a:t>
            </a:r>
            <a:r>
              <a:rPr lang="zh-CN" altLang="en-US" b="1" dirty="0">
                <a:solidFill>
                  <a:srgbClr val="FFFFFF"/>
                </a:solidFill>
              </a:rPr>
              <a:t> </a:t>
            </a:r>
            <a:r>
              <a:rPr lang="en-US" b="1" dirty="0">
                <a:solidFill>
                  <a:srgbClr val="FFFFFF"/>
                </a:solidFill>
              </a:rPr>
              <a:t>Promote high-activity customers to premium</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1841609"/>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217C9D1-A0E5-66F1-A56B-02BF591B80D6}"/>
              </a:ext>
            </a:extLst>
          </p:cNvPr>
          <p:cNvSpPr>
            <a:spLocks noGrp="1"/>
          </p:cNvSpPr>
          <p:nvPr>
            <p:ph idx="1"/>
          </p:nvPr>
        </p:nvSpPr>
        <p:spPr>
          <a:xfrm>
            <a:off x="3335481" y="443508"/>
            <a:ext cx="5179868" cy="4189214"/>
          </a:xfrm>
        </p:spPr>
        <p:txBody>
          <a:bodyPr anchor="ctr">
            <a:normAutofit/>
          </a:bodyPr>
          <a:lstStyle/>
          <a:p>
            <a:r>
              <a:rPr lang="en-US" dirty="0"/>
              <a:t>Compute total orders and total spending per customer </a:t>
            </a:r>
          </a:p>
          <a:p>
            <a:r>
              <a:rPr lang="en-US" dirty="0"/>
              <a:t>Mark as premium if: orders &gt; 5 OR spending &gt; 1000</a:t>
            </a:r>
          </a:p>
          <a:p>
            <a:r>
              <a:rPr lang="en-US" dirty="0"/>
              <a:t>Code:</a:t>
            </a:r>
          </a:p>
          <a:p>
            <a:pPr marL="342900" lvl="1" indent="0">
              <a:buNone/>
            </a:pPr>
            <a:r>
              <a:rPr lang="en-US" dirty="0"/>
              <a:t>const </a:t>
            </a:r>
            <a:r>
              <a:rPr lang="en-US" dirty="0" err="1"/>
              <a:t>prem_id</a:t>
            </a:r>
            <a:r>
              <a:rPr lang="en-US" dirty="0"/>
              <a:t> = </a:t>
            </a:r>
            <a:r>
              <a:rPr lang="en-US" dirty="0" err="1"/>
              <a:t>db.orders.aggregate</a:t>
            </a:r>
            <a:r>
              <a:rPr lang="en-US" dirty="0"/>
              <a:t>([{$group:</a:t>
            </a:r>
          </a:p>
          <a:p>
            <a:pPr marL="342900" lvl="1" indent="0">
              <a:buNone/>
            </a:pPr>
            <a:r>
              <a:rPr lang="en-US" dirty="0"/>
              <a:t>{_id:"$customer_id",</a:t>
            </a:r>
            <a:r>
              <a:rPr lang="en-US" dirty="0" err="1"/>
              <a:t>total_orders</a:t>
            </a:r>
            <a:r>
              <a:rPr lang="en-US" dirty="0"/>
              <a:t>:{$sum:1},</a:t>
            </a:r>
            <a:r>
              <a:rPr lang="en-US" dirty="0" err="1"/>
              <a:t>total_spending</a:t>
            </a:r>
            <a:r>
              <a:rPr lang="en-US" dirty="0"/>
              <a:t>:{$sum:"$</a:t>
            </a:r>
            <a:r>
              <a:rPr lang="en-US" dirty="0" err="1"/>
              <a:t>total_amount</a:t>
            </a:r>
            <a:r>
              <a:rPr lang="en-US" dirty="0"/>
              <a:t>"}}},{$match:{$or:[{</a:t>
            </a:r>
            <a:r>
              <a:rPr lang="en-US" dirty="0" err="1"/>
              <a:t>total_orders</a:t>
            </a:r>
            <a:r>
              <a:rPr lang="en-US" dirty="0"/>
              <a:t>:{$gt:5}},{</a:t>
            </a:r>
            <a:r>
              <a:rPr lang="en-US" dirty="0" err="1"/>
              <a:t>total_spending</a:t>
            </a:r>
            <a:r>
              <a:rPr lang="en-US" dirty="0"/>
              <a:t>:{$gt:1000}}]}}]).</a:t>
            </a:r>
            <a:r>
              <a:rPr lang="en-US" dirty="0" err="1"/>
              <a:t>toArray</a:t>
            </a:r>
            <a:r>
              <a:rPr lang="en-US" dirty="0"/>
              <a:t>().map(d=&gt;</a:t>
            </a:r>
            <a:r>
              <a:rPr lang="en-US" dirty="0" err="1"/>
              <a:t>d._id</a:t>
            </a:r>
            <a:r>
              <a:rPr lang="en-US" dirty="0"/>
              <a:t>);</a:t>
            </a:r>
          </a:p>
          <a:p>
            <a:pPr marL="342900" lvl="1" indent="0">
              <a:buNone/>
            </a:pPr>
            <a:r>
              <a:rPr lang="en-US" dirty="0" err="1"/>
              <a:t>db.customers.updateMany</a:t>
            </a:r>
            <a:r>
              <a:rPr lang="en-US" dirty="0"/>
              <a:t>({_id:{$</a:t>
            </a:r>
            <a:r>
              <a:rPr lang="en-US" dirty="0" err="1"/>
              <a:t>in:prem_id</a:t>
            </a:r>
            <a:r>
              <a:rPr lang="en-US" dirty="0"/>
              <a:t>}},</a:t>
            </a:r>
          </a:p>
          <a:p>
            <a:pPr marL="342900" lvl="1" indent="0">
              <a:buNone/>
            </a:pPr>
            <a:r>
              <a:rPr lang="en-US" dirty="0"/>
              <a:t>{$set:{</a:t>
            </a:r>
            <a:r>
              <a:rPr lang="en-US" dirty="0" err="1"/>
              <a:t>is_premium:true</a:t>
            </a:r>
            <a:r>
              <a:rPr lang="en-US" dirty="0"/>
              <a:t>}}});</a:t>
            </a:r>
          </a:p>
        </p:txBody>
      </p:sp>
    </p:spTree>
    <p:extLst>
      <p:ext uri="{BB962C8B-B14F-4D97-AF65-F5344CB8AC3E}">
        <p14:creationId xmlns:p14="http://schemas.microsoft.com/office/powerpoint/2010/main" val="1635408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6891" y="839273"/>
            <a:ext cx="3464954" cy="346495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11916F-ACB1-F178-970E-E6FAB5EE4CE5}"/>
              </a:ext>
            </a:extLst>
          </p:cNvPr>
          <p:cNvSpPr>
            <a:spLocks noGrp="1"/>
          </p:cNvSpPr>
          <p:nvPr>
            <p:ph type="title"/>
          </p:nvPr>
        </p:nvSpPr>
        <p:spPr>
          <a:xfrm>
            <a:off x="878305" y="1047514"/>
            <a:ext cx="2430380" cy="3048471"/>
          </a:xfrm>
        </p:spPr>
        <p:txBody>
          <a:bodyPr>
            <a:normAutofit/>
          </a:bodyPr>
          <a:lstStyle/>
          <a:p>
            <a:r>
              <a:rPr lang="en-US" b="1">
                <a:solidFill>
                  <a:srgbClr val="FFFFFF"/>
                </a:solidFill>
              </a:rPr>
              <a:t>Task 6:</a:t>
            </a:r>
            <a:r>
              <a:rPr lang="zh-CN" altLang="en-US" b="1">
                <a:solidFill>
                  <a:srgbClr val="FFFFFF"/>
                </a:solidFill>
              </a:rPr>
              <a:t> </a:t>
            </a:r>
            <a:r>
              <a:rPr lang="en-US" b="1">
                <a:solidFill>
                  <a:srgbClr val="FFFFFF"/>
                </a:solidFill>
              </a:rPr>
              <a:t>Promote high-activity customers to premium</a:t>
            </a:r>
          </a:p>
        </p:txBody>
      </p:sp>
      <p:sp>
        <p:nvSpPr>
          <p:cNvPr id="7" name="Arc 6">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6512790" y="705861"/>
            <a:ext cx="2240924" cy="2240924"/>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536" y="3585744"/>
            <a:ext cx="409575" cy="40957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82770EF-2572-99FF-0C2F-0962FB91A574}"/>
              </a:ext>
            </a:extLst>
          </p:cNvPr>
          <p:cNvSpPr>
            <a:spLocks noGrp="1"/>
          </p:cNvSpPr>
          <p:nvPr>
            <p:ph idx="1"/>
          </p:nvPr>
        </p:nvSpPr>
        <p:spPr>
          <a:xfrm>
            <a:off x="4027614" y="1144524"/>
            <a:ext cx="4152298" cy="2951461"/>
          </a:xfrm>
        </p:spPr>
        <p:txBody>
          <a:bodyPr>
            <a:normAutofit/>
          </a:bodyPr>
          <a:lstStyle/>
          <a:p>
            <a:r>
              <a:rPr lang="en-US" dirty="0"/>
              <a:t>Approach:</a:t>
            </a:r>
          </a:p>
          <a:p>
            <a:pPr lvl="1"/>
            <a:r>
              <a:rPr lang="en-US" dirty="0"/>
              <a:t>Step 1: $group orders → compute metrics </a:t>
            </a:r>
          </a:p>
          <a:p>
            <a:pPr lvl="1"/>
            <a:r>
              <a:rPr lang="en-US" dirty="0"/>
              <a:t>Step 2: $match → filter high-value customers </a:t>
            </a:r>
          </a:p>
          <a:p>
            <a:pPr lvl="1"/>
            <a:r>
              <a:rPr lang="en-US" dirty="0"/>
              <a:t>Step 3: Extract IDs </a:t>
            </a:r>
          </a:p>
          <a:p>
            <a:pPr lvl="1"/>
            <a:r>
              <a:rPr lang="en-US" dirty="0"/>
              <a:t>Step 4: </a:t>
            </a:r>
            <a:r>
              <a:rPr lang="en-US" dirty="0" err="1"/>
              <a:t>updateMany</a:t>
            </a:r>
            <a:r>
              <a:rPr lang="en-US" dirty="0"/>
              <a:t> → update customers </a:t>
            </a:r>
          </a:p>
          <a:p>
            <a:pPr lvl="1"/>
            <a:endParaRPr lang="en-US" dirty="0"/>
          </a:p>
        </p:txBody>
      </p:sp>
    </p:spTree>
    <p:extLst>
      <p:ext uri="{BB962C8B-B14F-4D97-AF65-F5344CB8AC3E}">
        <p14:creationId xmlns:p14="http://schemas.microsoft.com/office/powerpoint/2010/main" val="2143905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544" y="635700"/>
            <a:ext cx="3464954" cy="346495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EFD97E-BD31-C30D-F023-1D26913F8644}"/>
              </a:ext>
            </a:extLst>
          </p:cNvPr>
          <p:cNvSpPr>
            <a:spLocks noGrp="1"/>
          </p:cNvSpPr>
          <p:nvPr>
            <p:ph type="title"/>
          </p:nvPr>
        </p:nvSpPr>
        <p:spPr>
          <a:xfrm>
            <a:off x="1041958" y="924930"/>
            <a:ext cx="2430380" cy="3048471"/>
          </a:xfrm>
        </p:spPr>
        <p:txBody>
          <a:bodyPr>
            <a:normAutofit/>
          </a:bodyPr>
          <a:lstStyle/>
          <a:p>
            <a:r>
              <a:rPr lang="en-US" b="1" dirty="0">
                <a:solidFill>
                  <a:srgbClr val="FFFFFF"/>
                </a:solidFill>
              </a:rPr>
              <a:t>Task 7: Products costing more than $200</a:t>
            </a:r>
          </a:p>
        </p:txBody>
      </p:sp>
      <p:sp>
        <p:nvSpPr>
          <p:cNvPr id="26" name="Freeform: Shape 25">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7896" y="0"/>
            <a:ext cx="866357" cy="443256"/>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971133" y="0"/>
            <a:ext cx="1303051" cy="719651"/>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202623"/>
            <a:ext cx="119805" cy="414747"/>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A6A3159B-5425-8499-B3EA-B96158CB7F31}"/>
              </a:ext>
            </a:extLst>
          </p:cNvPr>
          <p:cNvSpPr>
            <a:spLocks noGrp="1"/>
          </p:cNvSpPr>
          <p:nvPr>
            <p:ph idx="1"/>
          </p:nvPr>
        </p:nvSpPr>
        <p:spPr>
          <a:xfrm>
            <a:off x="4572000" y="615660"/>
            <a:ext cx="3943349" cy="3667012"/>
          </a:xfrm>
        </p:spPr>
        <p:txBody>
          <a:bodyPr anchor="t">
            <a:normAutofit/>
          </a:bodyPr>
          <a:lstStyle/>
          <a:p>
            <a:r>
              <a:rPr lang="en-US" dirty="0"/>
              <a:t>Code: </a:t>
            </a:r>
          </a:p>
          <a:p>
            <a:pPr marL="342900" lvl="1" indent="0">
              <a:buNone/>
            </a:pPr>
            <a:r>
              <a:rPr lang="en-US" dirty="0" err="1"/>
              <a:t>db.products.find</a:t>
            </a:r>
            <a:r>
              <a:rPr lang="en-US" dirty="0"/>
              <a:t>({price:{$gt:200}},</a:t>
            </a:r>
            <a:br>
              <a:rPr lang="en-US" dirty="0"/>
            </a:br>
            <a:r>
              <a:rPr lang="en-US" dirty="0"/>
              <a:t>{name:1, category:1, price:1, _id:0})</a:t>
            </a:r>
          </a:p>
          <a:p>
            <a:r>
              <a:rPr lang="en-US" dirty="0"/>
              <a:t>Approach:</a:t>
            </a:r>
          </a:p>
          <a:p>
            <a:pPr lvl="1"/>
            <a:r>
              <a:rPr lang="en-US" dirty="0"/>
              <a:t>Simple $find query</a:t>
            </a:r>
          </a:p>
          <a:p>
            <a:pPr lvl="1"/>
            <a:r>
              <a:rPr lang="en-US" dirty="0"/>
              <a:t>Filter by condition</a:t>
            </a:r>
          </a:p>
          <a:p>
            <a:pPr lvl="1"/>
            <a:r>
              <a:rPr lang="en-US" dirty="0"/>
              <a:t>Projection: name, category, price, hide _id</a:t>
            </a:r>
          </a:p>
        </p:txBody>
      </p:sp>
      <p:sp>
        <p:nvSpPr>
          <p:cNvPr id="29" name="Freeform: Shape 28">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376736"/>
            <a:ext cx="1161135" cy="766764"/>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553792" y="4288428"/>
            <a:ext cx="1328706" cy="855072"/>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99729" y="4694066"/>
            <a:ext cx="1174455" cy="449434"/>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322662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51435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1EC9E2-E522-8A8E-80D2-2CB1A5073287}"/>
              </a:ext>
            </a:extLst>
          </p:cNvPr>
          <p:cNvSpPr>
            <a:spLocks noGrp="1"/>
          </p:cNvSpPr>
          <p:nvPr>
            <p:ph type="title"/>
          </p:nvPr>
        </p:nvSpPr>
        <p:spPr>
          <a:xfrm>
            <a:off x="515125" y="865179"/>
            <a:ext cx="2400300" cy="3345872"/>
          </a:xfrm>
        </p:spPr>
        <p:txBody>
          <a:bodyPr>
            <a:normAutofit/>
          </a:bodyPr>
          <a:lstStyle/>
          <a:p>
            <a:r>
              <a:rPr lang="en-US" b="1" dirty="0">
                <a:solidFill>
                  <a:srgbClr val="FFFFFF"/>
                </a:solidFill>
              </a:rPr>
              <a:t>Task 8: Orders including a specific product</a:t>
            </a:r>
          </a:p>
        </p:txBody>
      </p:sp>
      <p:sp>
        <p:nvSpPr>
          <p:cNvPr id="7" name="Arc 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1841609"/>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139AEF1-4484-4285-A027-2584748EF262}"/>
              </a:ext>
            </a:extLst>
          </p:cNvPr>
          <p:cNvSpPr>
            <a:spLocks noGrp="1"/>
          </p:cNvSpPr>
          <p:nvPr>
            <p:ph idx="1"/>
          </p:nvPr>
        </p:nvSpPr>
        <p:spPr>
          <a:xfrm>
            <a:off x="3335481" y="443508"/>
            <a:ext cx="5179868" cy="4189214"/>
          </a:xfrm>
        </p:spPr>
        <p:txBody>
          <a:bodyPr anchor="ctr">
            <a:normAutofit/>
          </a:bodyPr>
          <a:lstStyle/>
          <a:p>
            <a:r>
              <a:rPr lang="en-US" dirty="0"/>
              <a:t>Code: </a:t>
            </a:r>
          </a:p>
          <a:p>
            <a:pPr marL="0" indent="0">
              <a:buNone/>
            </a:pPr>
            <a:r>
              <a:rPr lang="en-US" dirty="0" err="1"/>
              <a:t>db.orders.aggregate</a:t>
            </a:r>
            <a:r>
              <a:rPr lang="en-US" dirty="0"/>
              <a:t>([{$match: {"</a:t>
            </a:r>
            <a:r>
              <a:rPr lang="en-US" dirty="0" err="1"/>
              <a:t>items.product_id</a:t>
            </a:r>
            <a:r>
              <a:rPr lang="en-US" dirty="0"/>
              <a:t>": 1}},</a:t>
            </a:r>
          </a:p>
          <a:p>
            <a:pPr marL="0" indent="0">
              <a:buNone/>
            </a:pPr>
            <a:r>
              <a:rPr lang="en-US" dirty="0"/>
              <a:t>{$project: {_id: 1,customer_id: 1,items: {$filter:{input: "$</a:t>
            </a:r>
            <a:r>
              <a:rPr lang="en-US" dirty="0" err="1"/>
              <a:t>items“,as</a:t>
            </a:r>
            <a:r>
              <a:rPr lang="en-US" dirty="0"/>
              <a:t>: "item",</a:t>
            </a:r>
            <a:r>
              <a:rPr lang="en-US" dirty="0" err="1"/>
              <a:t>cond</a:t>
            </a:r>
            <a:r>
              <a:rPr lang="en-US" dirty="0"/>
              <a:t>: {$eq: ["$$</a:t>
            </a:r>
            <a:r>
              <a:rPr lang="en-US" dirty="0" err="1"/>
              <a:t>item.product_id</a:t>
            </a:r>
            <a:r>
              <a:rPr lang="en-US" dirty="0"/>
              <a:t>", 1]}}}}}])</a:t>
            </a:r>
          </a:p>
          <a:p>
            <a:r>
              <a:rPr lang="en-US" dirty="0"/>
              <a:t>Approach:</a:t>
            </a:r>
          </a:p>
          <a:p>
            <a:pPr lvl="1"/>
            <a:r>
              <a:rPr lang="en-US" dirty="0"/>
              <a:t>$match to find relevant orders</a:t>
            </a:r>
          </a:p>
          <a:p>
            <a:pPr lvl="1"/>
            <a:r>
              <a:rPr lang="en-US" dirty="0"/>
              <a:t>$filter to extract matching items in array</a:t>
            </a:r>
          </a:p>
          <a:p>
            <a:pPr lvl="1"/>
            <a:endParaRPr lang="en-US" dirty="0"/>
          </a:p>
        </p:txBody>
      </p:sp>
    </p:spTree>
    <p:extLst>
      <p:ext uri="{BB962C8B-B14F-4D97-AF65-F5344CB8AC3E}">
        <p14:creationId xmlns:p14="http://schemas.microsoft.com/office/powerpoint/2010/main" val="2223304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51435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48889D-27D6-80A0-3DA2-1172E883298B}"/>
              </a:ext>
            </a:extLst>
          </p:cNvPr>
          <p:cNvSpPr>
            <a:spLocks noGrp="1"/>
          </p:cNvSpPr>
          <p:nvPr>
            <p:ph type="title"/>
          </p:nvPr>
        </p:nvSpPr>
        <p:spPr>
          <a:xfrm>
            <a:off x="515125" y="865179"/>
            <a:ext cx="2400300" cy="3345872"/>
          </a:xfrm>
        </p:spPr>
        <p:txBody>
          <a:bodyPr>
            <a:normAutofit/>
          </a:bodyPr>
          <a:lstStyle/>
          <a:p>
            <a:r>
              <a:rPr lang="en-US" b="1" dirty="0">
                <a:solidFill>
                  <a:srgbClr val="FFFFFF"/>
                </a:solidFill>
              </a:rPr>
              <a:t>Task 9: Delete customers never placed an order</a:t>
            </a:r>
          </a:p>
        </p:txBody>
      </p:sp>
      <p:sp>
        <p:nvSpPr>
          <p:cNvPr id="23" name="Arc 2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1841609"/>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E219C2E-E6DA-6BE4-0378-3560F7DA4F76}"/>
              </a:ext>
            </a:extLst>
          </p:cNvPr>
          <p:cNvSpPr>
            <a:spLocks noGrp="1"/>
          </p:cNvSpPr>
          <p:nvPr>
            <p:ph idx="1"/>
          </p:nvPr>
        </p:nvSpPr>
        <p:spPr>
          <a:xfrm>
            <a:off x="3335481" y="443508"/>
            <a:ext cx="5485246" cy="4189214"/>
          </a:xfrm>
        </p:spPr>
        <p:txBody>
          <a:bodyPr anchor="ctr">
            <a:normAutofit/>
          </a:bodyPr>
          <a:lstStyle/>
          <a:p>
            <a:r>
              <a:rPr lang="en-US" dirty="0"/>
              <a:t>Code:</a:t>
            </a:r>
          </a:p>
          <a:p>
            <a:pPr marL="0" indent="0">
              <a:buNone/>
            </a:pPr>
            <a:r>
              <a:rPr lang="en-US" dirty="0"/>
              <a:t>const ids=</a:t>
            </a:r>
            <a:r>
              <a:rPr lang="en-US" dirty="0" err="1"/>
              <a:t>db.orders.distinct</a:t>
            </a:r>
            <a:r>
              <a:rPr lang="en-US" dirty="0"/>
              <a:t>("</a:t>
            </a:r>
            <a:r>
              <a:rPr lang="en-US" dirty="0" err="1"/>
              <a:t>customer_id</a:t>
            </a:r>
            <a:r>
              <a:rPr lang="en-US" dirty="0"/>
              <a:t>");</a:t>
            </a:r>
            <a:br>
              <a:rPr lang="en-US" dirty="0"/>
            </a:br>
            <a:r>
              <a:rPr lang="en-US" dirty="0" err="1"/>
              <a:t>db.customers.deleteMany</a:t>
            </a:r>
            <a:r>
              <a:rPr lang="en-US" dirty="0"/>
              <a:t>({_id: {$</a:t>
            </a:r>
            <a:r>
              <a:rPr lang="en-US" dirty="0" err="1"/>
              <a:t>nin</a:t>
            </a:r>
            <a:r>
              <a:rPr lang="en-US" dirty="0"/>
              <a:t>: ids}})</a:t>
            </a:r>
          </a:p>
          <a:p>
            <a:r>
              <a:rPr lang="en-US" dirty="0"/>
              <a:t>Approach:</a:t>
            </a:r>
          </a:p>
          <a:p>
            <a:pPr lvl="1"/>
            <a:r>
              <a:rPr lang="en-US" dirty="0"/>
              <a:t>Step 1: distinct → find active customers </a:t>
            </a:r>
          </a:p>
          <a:p>
            <a:pPr lvl="1"/>
            <a:r>
              <a:rPr lang="en-US" dirty="0"/>
              <a:t>Step 2: delete others</a:t>
            </a:r>
          </a:p>
          <a:p>
            <a:endParaRPr lang="en-US" dirty="0"/>
          </a:p>
        </p:txBody>
      </p:sp>
    </p:spTree>
    <p:extLst>
      <p:ext uri="{BB962C8B-B14F-4D97-AF65-F5344CB8AC3E}">
        <p14:creationId xmlns:p14="http://schemas.microsoft.com/office/powerpoint/2010/main" val="3410338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3219"/>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3125451" cy="51435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A8D68F-42DE-F873-902F-8132359EF772}"/>
              </a:ext>
            </a:extLst>
          </p:cNvPr>
          <p:cNvSpPr>
            <a:spLocks noGrp="1"/>
          </p:cNvSpPr>
          <p:nvPr>
            <p:ph type="title"/>
          </p:nvPr>
        </p:nvSpPr>
        <p:spPr>
          <a:xfrm>
            <a:off x="515125" y="443508"/>
            <a:ext cx="2400300" cy="4189214"/>
          </a:xfrm>
        </p:spPr>
        <p:txBody>
          <a:bodyPr>
            <a:normAutofit/>
          </a:bodyPr>
          <a:lstStyle/>
          <a:p>
            <a:r>
              <a:rPr lang="en-US" b="1" dirty="0">
                <a:solidFill>
                  <a:srgbClr val="FFFFFF"/>
                </a:solidFill>
              </a:rPr>
              <a:t>Task 10: Categories preferred by customers under 25</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1841609"/>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D517E96-4EF1-F566-ED57-2C5BF37E1EC8}"/>
              </a:ext>
            </a:extLst>
          </p:cNvPr>
          <p:cNvSpPr>
            <a:spLocks noGrp="1"/>
          </p:cNvSpPr>
          <p:nvPr>
            <p:ph idx="1"/>
          </p:nvPr>
        </p:nvSpPr>
        <p:spPr>
          <a:xfrm>
            <a:off x="3335480" y="443508"/>
            <a:ext cx="5808519" cy="4189214"/>
          </a:xfrm>
        </p:spPr>
        <p:txBody>
          <a:bodyPr anchor="ctr">
            <a:normAutofit/>
          </a:bodyPr>
          <a:lstStyle/>
          <a:p>
            <a:r>
              <a:rPr lang="en-US" sz="1700" dirty="0"/>
              <a:t>Code:</a:t>
            </a:r>
          </a:p>
          <a:p>
            <a:pPr marL="0" indent="0">
              <a:buNone/>
            </a:pPr>
            <a:r>
              <a:rPr lang="en-US" sz="1700" dirty="0"/>
              <a:t>const </a:t>
            </a:r>
            <a:r>
              <a:rPr lang="en-US" sz="1700" dirty="0" err="1"/>
              <a:t>youngids</a:t>
            </a:r>
            <a:r>
              <a:rPr lang="en-US" sz="1700" dirty="0"/>
              <a:t>=</a:t>
            </a:r>
            <a:r>
              <a:rPr lang="en-US" sz="1700" dirty="0" err="1"/>
              <a:t>db.customers.find</a:t>
            </a:r>
            <a:r>
              <a:rPr lang="en-US" sz="1700" dirty="0"/>
              <a:t>({age:{$lt:25}})</a:t>
            </a:r>
          </a:p>
          <a:p>
            <a:pPr marL="0" indent="0">
              <a:buNone/>
            </a:pPr>
            <a:r>
              <a:rPr lang="en-US" sz="1700" dirty="0"/>
              <a:t>.</a:t>
            </a:r>
            <a:r>
              <a:rPr lang="en-US" sz="1700" dirty="0" err="1"/>
              <a:t>toArray</a:t>
            </a:r>
            <a:r>
              <a:rPr lang="en-US" sz="1700" dirty="0"/>
              <a:t>().map(d=&gt;</a:t>
            </a:r>
            <a:r>
              <a:rPr lang="en-US" sz="1700" dirty="0" err="1"/>
              <a:t>d._id</a:t>
            </a:r>
            <a:r>
              <a:rPr lang="en-US" sz="1700" dirty="0"/>
              <a:t>);</a:t>
            </a:r>
          </a:p>
          <a:p>
            <a:pPr marL="0" indent="0">
              <a:buNone/>
            </a:pPr>
            <a:r>
              <a:rPr lang="en-US" sz="1700" dirty="0" err="1"/>
              <a:t>db.orders.aggregate</a:t>
            </a:r>
            <a:r>
              <a:rPr lang="en-US" sz="1700" dirty="0"/>
              <a:t>([{$match:{</a:t>
            </a:r>
            <a:r>
              <a:rPr lang="en-US" sz="1700" dirty="0" err="1"/>
              <a:t>customer_id</a:t>
            </a:r>
            <a:r>
              <a:rPr lang="en-US" sz="1700" dirty="0"/>
              <a:t>:{$</a:t>
            </a:r>
            <a:r>
              <a:rPr lang="en-US" sz="1700" dirty="0" err="1"/>
              <a:t>in:youngids</a:t>
            </a:r>
            <a:r>
              <a:rPr lang="en-US" sz="1700" dirty="0"/>
              <a:t>}}},</a:t>
            </a:r>
          </a:p>
          <a:p>
            <a:pPr marL="0" indent="0">
              <a:buNone/>
            </a:pPr>
            <a:r>
              <a:rPr lang="en-US" sz="1700" dirty="0"/>
              <a:t>{$unwind:"$items"},{$group:{_id:"$</a:t>
            </a:r>
            <a:r>
              <a:rPr lang="en-US" sz="1700" dirty="0" err="1"/>
              <a:t>items.category</a:t>
            </a:r>
            <a:r>
              <a:rPr lang="en-US" sz="1700" dirty="0"/>
              <a:t>"}}])</a:t>
            </a:r>
          </a:p>
          <a:p>
            <a:r>
              <a:rPr lang="en-US" sz="1700" dirty="0"/>
              <a:t>Approach:</a:t>
            </a:r>
          </a:p>
          <a:p>
            <a:pPr lvl="1"/>
            <a:r>
              <a:rPr lang="en-US" sz="1700" dirty="0"/>
              <a:t>Find young customers</a:t>
            </a:r>
          </a:p>
          <a:p>
            <a:pPr lvl="1"/>
            <a:r>
              <a:rPr lang="en-US" sz="1700" dirty="0"/>
              <a:t>Filter their orders</a:t>
            </a:r>
          </a:p>
          <a:p>
            <a:pPr lvl="1"/>
            <a:r>
              <a:rPr lang="en-US" sz="1700" dirty="0"/>
              <a:t>$unwind items → expand data</a:t>
            </a:r>
          </a:p>
          <a:p>
            <a:pPr lvl="1"/>
            <a:r>
              <a:rPr lang="en-US" sz="1700" dirty="0"/>
              <a:t>$group categories</a:t>
            </a:r>
          </a:p>
          <a:p>
            <a:endParaRPr lang="en-US" sz="1700" dirty="0"/>
          </a:p>
        </p:txBody>
      </p:sp>
    </p:spTree>
    <p:extLst>
      <p:ext uri="{BB962C8B-B14F-4D97-AF65-F5344CB8AC3E}">
        <p14:creationId xmlns:p14="http://schemas.microsoft.com/office/powerpoint/2010/main" val="2962412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6891" y="839273"/>
            <a:ext cx="3464954" cy="346495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0C42EE-D6E5-3619-3EDE-FB85672C9380}"/>
              </a:ext>
            </a:extLst>
          </p:cNvPr>
          <p:cNvSpPr>
            <a:spLocks noGrp="1"/>
          </p:cNvSpPr>
          <p:nvPr>
            <p:ph type="title"/>
          </p:nvPr>
        </p:nvSpPr>
        <p:spPr>
          <a:xfrm>
            <a:off x="878305" y="1047514"/>
            <a:ext cx="2430380" cy="3048471"/>
          </a:xfrm>
        </p:spPr>
        <p:txBody>
          <a:bodyPr>
            <a:normAutofit/>
          </a:bodyPr>
          <a:lstStyle/>
          <a:p>
            <a:r>
              <a:rPr lang="en-US" altLang="zh-CN" sz="2800" b="1" dirty="0">
                <a:solidFill>
                  <a:srgbClr val="FFFFFF"/>
                </a:solidFill>
              </a:rPr>
              <a:t>Task 11:</a:t>
            </a:r>
            <a:br>
              <a:rPr lang="en-US" altLang="zh-CN" sz="2800" b="1" dirty="0">
                <a:solidFill>
                  <a:srgbClr val="FFFFFF"/>
                </a:solidFill>
              </a:rPr>
            </a:br>
            <a:r>
              <a:rPr lang="en-US" sz="2800" b="1" dirty="0">
                <a:solidFill>
                  <a:srgbClr val="FFFFFF"/>
                </a:solidFill>
              </a:rPr>
              <a:t>Customers with emails from Yahoo/Gmail</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6512790" y="705861"/>
            <a:ext cx="2240924" cy="2240924"/>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536" y="3585744"/>
            <a:ext cx="409575" cy="40957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98F10A7-3F25-7AC1-18CD-9693F18A3492}"/>
              </a:ext>
            </a:extLst>
          </p:cNvPr>
          <p:cNvSpPr>
            <a:spLocks noGrp="1"/>
          </p:cNvSpPr>
          <p:nvPr>
            <p:ph idx="1"/>
          </p:nvPr>
        </p:nvSpPr>
        <p:spPr>
          <a:xfrm>
            <a:off x="4027614" y="1144524"/>
            <a:ext cx="4152298" cy="2951461"/>
          </a:xfrm>
        </p:spPr>
        <p:txBody>
          <a:bodyPr>
            <a:normAutofit/>
          </a:bodyPr>
          <a:lstStyle/>
          <a:p>
            <a:r>
              <a:rPr lang="en-US" sz="1700"/>
              <a:t>Code: </a:t>
            </a:r>
          </a:p>
          <a:p>
            <a:pPr marL="0" indent="0">
              <a:buNone/>
            </a:pPr>
            <a:r>
              <a:rPr lang="en-US" sz="1700" err="1"/>
              <a:t>db.customers.find</a:t>
            </a:r>
            <a:r>
              <a:rPr lang="en-US" sz="1700"/>
              <a:t>({$or:[{email:{$regex:"@</a:t>
            </a:r>
            <a:r>
              <a:rPr lang="en-US" sz="1700" err="1"/>
              <a:t>gmail</a:t>
            </a:r>
            <a:r>
              <a:rPr lang="en-US" sz="1700"/>
              <a:t>\\.com$"}},</a:t>
            </a:r>
          </a:p>
          <a:p>
            <a:pPr marL="0" indent="0">
              <a:buNone/>
            </a:pPr>
            <a:r>
              <a:rPr lang="en-US" sz="1700"/>
              <a:t>{email:{$regex: "@yahoo\\.com$"}}]})</a:t>
            </a:r>
          </a:p>
          <a:p>
            <a:r>
              <a:rPr lang="en-US" sz="1700"/>
              <a:t>Approach:</a:t>
            </a:r>
          </a:p>
          <a:p>
            <a:pPr lvl="1"/>
            <a:r>
              <a:rPr lang="en-US" sz="1700"/>
              <a:t>Use Regex to match email domain</a:t>
            </a:r>
          </a:p>
          <a:p>
            <a:pPr lvl="1"/>
            <a:r>
              <a:rPr lang="en-US" sz="1700"/>
              <a:t>Pattern matching instead of exact match</a:t>
            </a:r>
          </a:p>
        </p:txBody>
      </p:sp>
    </p:spTree>
    <p:extLst>
      <p:ext uri="{BB962C8B-B14F-4D97-AF65-F5344CB8AC3E}">
        <p14:creationId xmlns:p14="http://schemas.microsoft.com/office/powerpoint/2010/main" val="10733560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c 15">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6131316" y="343463"/>
            <a:ext cx="2240924" cy="2240924"/>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2031C50-8CBB-21B0-A501-D24722D430BB}"/>
              </a:ext>
            </a:extLst>
          </p:cNvPr>
          <p:cNvSpPr>
            <a:spLocks noGrp="1"/>
          </p:cNvSpPr>
          <p:nvPr>
            <p:ph type="title"/>
          </p:nvPr>
        </p:nvSpPr>
        <p:spPr>
          <a:xfrm>
            <a:off x="628650" y="273843"/>
            <a:ext cx="7886700" cy="994173"/>
          </a:xfrm>
        </p:spPr>
        <p:txBody>
          <a:bodyPr>
            <a:normAutofit/>
          </a:bodyPr>
          <a:lstStyle/>
          <a:p>
            <a:pPr algn="ctr"/>
            <a:r>
              <a:rPr lang="en-US" b="1" dirty="0"/>
              <a:t>Measure the Execution Time</a:t>
            </a:r>
          </a:p>
        </p:txBody>
      </p:sp>
      <p:graphicFrame>
        <p:nvGraphicFramePr>
          <p:cNvPr id="4" name="Content Placeholder 3">
            <a:extLst>
              <a:ext uri="{FF2B5EF4-FFF2-40B4-BE49-F238E27FC236}">
                <a16:creationId xmlns:a16="http://schemas.microsoft.com/office/drawing/2014/main" id="{2883EBE2-CD07-89AF-3979-2F4023218FA0}"/>
              </a:ext>
            </a:extLst>
          </p:cNvPr>
          <p:cNvGraphicFramePr>
            <a:graphicFrameLocks noGrp="1"/>
          </p:cNvGraphicFramePr>
          <p:nvPr>
            <p:ph idx="1"/>
            <p:extLst>
              <p:ext uri="{D42A27DB-BD31-4B8C-83A1-F6EECF244321}">
                <p14:modId xmlns:p14="http://schemas.microsoft.com/office/powerpoint/2010/main" val="2679912053"/>
              </p:ext>
            </p:extLst>
          </p:nvPr>
        </p:nvGraphicFramePr>
        <p:xfrm>
          <a:off x="1036320" y="1369218"/>
          <a:ext cx="6795563" cy="3263506"/>
        </p:xfrm>
        <a:graphic>
          <a:graphicData uri="http://schemas.openxmlformats.org/drawingml/2006/table">
            <a:tbl>
              <a:tblPr firstRow="1" bandRow="1">
                <a:tableStyleId>{5C22544A-7EE6-4342-B048-85BDC9FD1C3A}</a:tableStyleId>
              </a:tblPr>
              <a:tblGrid>
                <a:gridCol w="3429771">
                  <a:extLst>
                    <a:ext uri="{9D8B030D-6E8A-4147-A177-3AD203B41FA5}">
                      <a16:colId xmlns:a16="http://schemas.microsoft.com/office/drawing/2014/main" val="1710616256"/>
                    </a:ext>
                  </a:extLst>
                </a:gridCol>
                <a:gridCol w="1652182">
                  <a:extLst>
                    <a:ext uri="{9D8B030D-6E8A-4147-A177-3AD203B41FA5}">
                      <a16:colId xmlns:a16="http://schemas.microsoft.com/office/drawing/2014/main" val="453631013"/>
                    </a:ext>
                  </a:extLst>
                </a:gridCol>
                <a:gridCol w="1713610">
                  <a:extLst>
                    <a:ext uri="{9D8B030D-6E8A-4147-A177-3AD203B41FA5}">
                      <a16:colId xmlns:a16="http://schemas.microsoft.com/office/drawing/2014/main" val="3361658462"/>
                    </a:ext>
                  </a:extLst>
                </a:gridCol>
              </a:tblGrid>
              <a:tr h="753395">
                <a:tc>
                  <a:txBody>
                    <a:bodyPr/>
                    <a:lstStyle/>
                    <a:p>
                      <a:pPr algn="ctr"/>
                      <a:r>
                        <a:rPr lang="en-US" sz="1100"/>
                        <a:t>Task</a:t>
                      </a:r>
                    </a:p>
                  </a:txBody>
                  <a:tcPr marL="72442" marR="72442" marT="36221" marB="36221"/>
                </a:tc>
                <a:tc>
                  <a:txBody>
                    <a:bodyPr/>
                    <a:lstStyle/>
                    <a:p>
                      <a:pPr algn="ctr"/>
                      <a:r>
                        <a:rPr lang="en-US" sz="1100"/>
                        <a:t>Operation Type</a:t>
                      </a:r>
                    </a:p>
                  </a:txBody>
                  <a:tcPr marL="72442" marR="72442" marT="36221" marB="36221"/>
                </a:tc>
                <a:tc>
                  <a:txBody>
                    <a:bodyPr/>
                    <a:lstStyle/>
                    <a:p>
                      <a:r>
                        <a:rPr lang="en-US" sz="1100"/>
                        <a:t>Execution Time </a:t>
                      </a:r>
                    </a:p>
                    <a:p>
                      <a:r>
                        <a:rPr lang="en-US" sz="1100"/>
                        <a:t>(10 Times Avg. in seconds)</a:t>
                      </a:r>
                    </a:p>
                  </a:txBody>
                  <a:tcPr marL="72442" marR="72442" marT="36221" marB="36221"/>
                </a:tc>
                <a:extLst>
                  <a:ext uri="{0D108BD9-81ED-4DB2-BD59-A6C34878D82A}">
                    <a16:rowId xmlns:a16="http://schemas.microsoft.com/office/drawing/2014/main" val="3539843873"/>
                  </a:ext>
                </a:extLst>
              </a:tr>
              <a:tr h="318744">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sz="1100"/>
                        <a:t>Task 1: </a:t>
                      </a:r>
                      <a:r>
                        <a:rPr lang="en-US" sz="1100" b="1" i="0" kern="1200">
                          <a:solidFill>
                            <a:schemeClr val="dk1"/>
                          </a:solidFill>
                          <a:effectLst/>
                          <a:latin typeface="+mn-lt"/>
                          <a:ea typeface="+mn-ea"/>
                          <a:cs typeface="+mn-cs"/>
                        </a:rPr>
                        <a:t>Increase customers’ age by 1</a:t>
                      </a:r>
                    </a:p>
                  </a:txBody>
                  <a:tcPr marL="72442" marR="72442" marT="36221" marB="36221"/>
                </a:tc>
                <a:tc>
                  <a:txBody>
                    <a:bodyPr/>
                    <a:lstStyle/>
                    <a:p>
                      <a:r>
                        <a:rPr lang="en-US" sz="1100"/>
                        <a:t>Bulk Update</a:t>
                      </a:r>
                    </a:p>
                  </a:txBody>
                  <a:tcPr marL="72442" marR="72442" marT="36221" marB="36221"/>
                </a:tc>
                <a:tc>
                  <a:txBody>
                    <a:bodyPr/>
                    <a:lstStyle/>
                    <a:p>
                      <a:r>
                        <a:rPr lang="en-US" sz="1100"/>
                        <a:t>1.129</a:t>
                      </a:r>
                    </a:p>
                  </a:txBody>
                  <a:tcPr marL="72442" marR="72442" marT="36221" marB="36221"/>
                </a:tc>
                <a:extLst>
                  <a:ext uri="{0D108BD9-81ED-4DB2-BD59-A6C34878D82A}">
                    <a16:rowId xmlns:a16="http://schemas.microsoft.com/office/drawing/2014/main" val="230145803"/>
                  </a:ext>
                </a:extLst>
              </a:tr>
              <a:tr h="481739">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sz="1100"/>
                        <a:t>Task 2: </a:t>
                      </a:r>
                      <a:r>
                        <a:rPr lang="en-US" sz="1100" b="1" i="0" kern="1200">
                          <a:solidFill>
                            <a:schemeClr val="dk1"/>
                          </a:solidFill>
                          <a:effectLst/>
                          <a:latin typeface="+mn-lt"/>
                          <a:ea typeface="+mn-ea"/>
                          <a:cs typeface="+mn-cs"/>
                        </a:rPr>
                        <a:t>Reduce a product’s stock after purchase</a:t>
                      </a:r>
                    </a:p>
                  </a:txBody>
                  <a:tcPr marL="72442" marR="72442" marT="36221" marB="36221"/>
                </a:tc>
                <a:tc>
                  <a:txBody>
                    <a:bodyPr/>
                    <a:lstStyle/>
                    <a:p>
                      <a:r>
                        <a:rPr lang="en-US" sz="1100"/>
                        <a:t>Single Update</a:t>
                      </a:r>
                    </a:p>
                  </a:txBody>
                  <a:tcPr marL="72442" marR="72442" marT="36221" marB="36221"/>
                </a:tc>
                <a:tc>
                  <a:txBody>
                    <a:bodyPr/>
                    <a:lstStyle/>
                    <a:p>
                      <a:r>
                        <a:rPr lang="en-US" sz="1100"/>
                        <a:t>0.00056</a:t>
                      </a:r>
                    </a:p>
                  </a:txBody>
                  <a:tcPr marL="72442" marR="72442" marT="36221" marB="36221"/>
                </a:tc>
                <a:extLst>
                  <a:ext uri="{0D108BD9-81ED-4DB2-BD59-A6C34878D82A}">
                    <a16:rowId xmlns:a16="http://schemas.microsoft.com/office/drawing/2014/main" val="3053061918"/>
                  </a:ext>
                </a:extLst>
              </a:tr>
              <a:tr h="318744">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sz="1100"/>
                        <a:t>Task 3: </a:t>
                      </a:r>
                      <a:r>
                        <a:rPr lang="en-US" sz="1100" b="1" i="0" kern="1200">
                          <a:solidFill>
                            <a:schemeClr val="dk1"/>
                          </a:solidFill>
                          <a:effectLst/>
                          <a:latin typeface="+mn-lt"/>
                          <a:ea typeface="+mn-ea"/>
                          <a:cs typeface="+mn-cs"/>
                        </a:rPr>
                        <a:t>List emails of premium customers</a:t>
                      </a:r>
                    </a:p>
                  </a:txBody>
                  <a:tcPr marL="72442" marR="72442" marT="36221" marB="36221"/>
                </a:tc>
                <a:tc>
                  <a:txBody>
                    <a:bodyPr/>
                    <a:lstStyle/>
                    <a:p>
                      <a:r>
                        <a:rPr lang="en-US" sz="1100"/>
                        <a:t>Simple Find</a:t>
                      </a:r>
                    </a:p>
                  </a:txBody>
                  <a:tcPr marL="72442" marR="72442" marT="36221" marB="36221"/>
                </a:tc>
                <a:tc>
                  <a:txBody>
                    <a:bodyPr/>
                    <a:lstStyle/>
                    <a:p>
                      <a:r>
                        <a:rPr lang="en-US" sz="1100"/>
                        <a:t>0.108</a:t>
                      </a:r>
                    </a:p>
                  </a:txBody>
                  <a:tcPr marL="72442" marR="72442" marT="36221" marB="36221"/>
                </a:tc>
                <a:extLst>
                  <a:ext uri="{0D108BD9-81ED-4DB2-BD59-A6C34878D82A}">
                    <a16:rowId xmlns:a16="http://schemas.microsoft.com/office/drawing/2014/main" val="318836770"/>
                  </a:ext>
                </a:extLst>
              </a:tr>
              <a:tr h="318744">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sz="1100"/>
                        <a:t>Task 4: </a:t>
                      </a:r>
                      <a:r>
                        <a:rPr lang="en-US" sz="1100" b="1" i="0" kern="1200">
                          <a:solidFill>
                            <a:schemeClr val="dk1"/>
                          </a:solidFill>
                          <a:effectLst/>
                          <a:latin typeface="+mn-lt"/>
                          <a:ea typeface="+mn-ea"/>
                          <a:cs typeface="+mn-cs"/>
                        </a:rPr>
                        <a:t>Refunded orders in the last 30 days</a:t>
                      </a:r>
                    </a:p>
                  </a:txBody>
                  <a:tcPr marL="72442" marR="72442" marT="36221" marB="36221"/>
                </a:tc>
                <a:tc>
                  <a:txBody>
                    <a:bodyPr/>
                    <a:lstStyle/>
                    <a:p>
                      <a:r>
                        <a:rPr lang="en-US" sz="1100"/>
                        <a:t>Conditional Find</a:t>
                      </a:r>
                    </a:p>
                  </a:txBody>
                  <a:tcPr marL="72442" marR="72442" marT="36221" marB="36221"/>
                </a:tc>
                <a:tc>
                  <a:txBody>
                    <a:bodyPr/>
                    <a:lstStyle/>
                    <a:p>
                      <a:r>
                        <a:rPr lang="en-US" sz="1100"/>
                        <a:t>0.080</a:t>
                      </a:r>
                    </a:p>
                  </a:txBody>
                  <a:tcPr marL="72442" marR="72442" marT="36221" marB="36221"/>
                </a:tc>
                <a:extLst>
                  <a:ext uri="{0D108BD9-81ED-4DB2-BD59-A6C34878D82A}">
                    <a16:rowId xmlns:a16="http://schemas.microsoft.com/office/drawing/2014/main" val="3766480362"/>
                  </a:ext>
                </a:extLst>
              </a:tr>
              <a:tr h="536070">
                <a:tc>
                  <a:txBody>
                    <a:bodyPr/>
                    <a:lstStyle/>
                    <a:p>
                      <a:r>
                        <a:rPr lang="en-US" sz="1100"/>
                        <a:t>Task 5: </a:t>
                      </a:r>
                      <a:r>
                        <a:rPr lang="en-US" sz="1100" b="1" i="0" kern="1200">
                          <a:solidFill>
                            <a:schemeClr val="dk1"/>
                          </a:solidFill>
                          <a:effectLst/>
                          <a:latin typeface="+mn-lt"/>
                          <a:ea typeface="+mn-ea"/>
                          <a:cs typeface="+mn-cs"/>
                        </a:rPr>
                        <a:t>Count orders by payment status</a:t>
                      </a:r>
                    </a:p>
                  </a:txBody>
                  <a:tcPr marL="72442" marR="72442" marT="36221" marB="36221"/>
                </a:tc>
                <a:tc>
                  <a:txBody>
                    <a:bodyPr/>
                    <a:lstStyle/>
                    <a:p>
                      <a:r>
                        <a:rPr lang="en-US" sz="1100"/>
                        <a:t>Aggregation ($group)</a:t>
                      </a:r>
                    </a:p>
                  </a:txBody>
                  <a:tcPr marL="72442" marR="72442" marT="36221" marB="36221"/>
                </a:tc>
                <a:tc>
                  <a:txBody>
                    <a:bodyPr/>
                    <a:lstStyle/>
                    <a:p>
                      <a:r>
                        <a:rPr lang="en-US" sz="1100"/>
                        <a:t>0.073</a:t>
                      </a:r>
                    </a:p>
                  </a:txBody>
                  <a:tcPr marL="72442" marR="72442" marT="36221" marB="36221"/>
                </a:tc>
                <a:extLst>
                  <a:ext uri="{0D108BD9-81ED-4DB2-BD59-A6C34878D82A}">
                    <a16:rowId xmlns:a16="http://schemas.microsoft.com/office/drawing/2014/main" val="296858435"/>
                  </a:ext>
                </a:extLst>
              </a:tr>
              <a:tr h="536070">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sz="1100" dirty="0"/>
                        <a:t>Task 6: </a:t>
                      </a:r>
                      <a:r>
                        <a:rPr lang="en-US" sz="1100" b="1" i="0" kern="1200" dirty="0">
                          <a:solidFill>
                            <a:schemeClr val="dk1"/>
                          </a:solidFill>
                          <a:effectLst/>
                          <a:latin typeface="+mn-lt"/>
                          <a:ea typeface="+mn-ea"/>
                          <a:cs typeface="+mn-cs"/>
                        </a:rPr>
                        <a:t>Promote high-activity customers to premium</a:t>
                      </a:r>
                    </a:p>
                  </a:txBody>
                  <a:tcPr marL="72442" marR="72442" marT="36221" marB="36221"/>
                </a:tc>
                <a:tc>
                  <a:txBody>
                    <a:bodyPr/>
                    <a:lstStyle/>
                    <a:p>
                      <a:r>
                        <a:rPr lang="en-US" sz="1100"/>
                        <a:t>Aggregation + Update</a:t>
                      </a:r>
                    </a:p>
                  </a:txBody>
                  <a:tcPr marL="72442" marR="72442" marT="36221" marB="36221"/>
                </a:tc>
                <a:tc>
                  <a:txBody>
                    <a:bodyPr/>
                    <a:lstStyle/>
                    <a:p>
                      <a:r>
                        <a:rPr lang="en-US" sz="1100" dirty="0"/>
                        <a:t>1.738</a:t>
                      </a:r>
                    </a:p>
                  </a:txBody>
                  <a:tcPr marL="72442" marR="72442" marT="36221" marB="36221"/>
                </a:tc>
                <a:extLst>
                  <a:ext uri="{0D108BD9-81ED-4DB2-BD59-A6C34878D82A}">
                    <a16:rowId xmlns:a16="http://schemas.microsoft.com/office/drawing/2014/main" val="3213624426"/>
                  </a:ext>
                </a:extLst>
              </a:tr>
            </a:tbl>
          </a:graphicData>
        </a:graphic>
      </p:graphicFrame>
    </p:spTree>
    <p:extLst>
      <p:ext uri="{BB962C8B-B14F-4D97-AF65-F5344CB8AC3E}">
        <p14:creationId xmlns:p14="http://schemas.microsoft.com/office/powerpoint/2010/main" val="26176687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07B60-49FE-9BFC-E7A2-E386E5FEA739}"/>
              </a:ext>
            </a:extLst>
          </p:cNvPr>
          <p:cNvSpPr>
            <a:spLocks noGrp="1"/>
          </p:cNvSpPr>
          <p:nvPr>
            <p:ph type="title"/>
          </p:nvPr>
        </p:nvSpPr>
        <p:spPr/>
        <p:txBody>
          <a:bodyPr/>
          <a:lstStyle/>
          <a:p>
            <a:pPr algn="l"/>
            <a:r>
              <a:rPr lang="en-US" b="1" dirty="0"/>
              <a:t>Measure the Execution Time</a:t>
            </a:r>
          </a:p>
        </p:txBody>
      </p:sp>
      <p:graphicFrame>
        <p:nvGraphicFramePr>
          <p:cNvPr id="4" name="Content Placeholder 3">
            <a:extLst>
              <a:ext uri="{FF2B5EF4-FFF2-40B4-BE49-F238E27FC236}">
                <a16:creationId xmlns:a16="http://schemas.microsoft.com/office/drawing/2014/main" id="{5CC2CA9C-39C3-353F-35C8-850F278EC8B0}"/>
              </a:ext>
            </a:extLst>
          </p:cNvPr>
          <p:cNvGraphicFramePr>
            <a:graphicFrameLocks noGrp="1"/>
          </p:cNvGraphicFramePr>
          <p:nvPr>
            <p:ph idx="1"/>
          </p:nvPr>
        </p:nvGraphicFramePr>
        <p:xfrm>
          <a:off x="457200" y="1200150"/>
          <a:ext cx="8229600" cy="2885440"/>
        </p:xfrm>
        <a:graphic>
          <a:graphicData uri="http://schemas.openxmlformats.org/drawingml/2006/table">
            <a:tbl>
              <a:tblPr firstRow="1" bandRow="1">
                <a:tableStyleId>{5C22544A-7EE6-4342-B048-85BDC9FD1C3A}</a:tableStyleId>
              </a:tblPr>
              <a:tblGrid>
                <a:gridCol w="4029242">
                  <a:extLst>
                    <a:ext uri="{9D8B030D-6E8A-4147-A177-3AD203B41FA5}">
                      <a16:colId xmlns:a16="http://schemas.microsoft.com/office/drawing/2014/main" val="71103570"/>
                    </a:ext>
                  </a:extLst>
                </a:gridCol>
                <a:gridCol w="1989221">
                  <a:extLst>
                    <a:ext uri="{9D8B030D-6E8A-4147-A177-3AD203B41FA5}">
                      <a16:colId xmlns:a16="http://schemas.microsoft.com/office/drawing/2014/main" val="1187963737"/>
                    </a:ext>
                  </a:extLst>
                </a:gridCol>
                <a:gridCol w="2211137">
                  <a:extLst>
                    <a:ext uri="{9D8B030D-6E8A-4147-A177-3AD203B41FA5}">
                      <a16:colId xmlns:a16="http://schemas.microsoft.com/office/drawing/2014/main" val="3244213523"/>
                    </a:ext>
                  </a:extLst>
                </a:gridCol>
              </a:tblGrid>
              <a:tr h="370840">
                <a:tc>
                  <a:txBody>
                    <a:bodyPr/>
                    <a:lstStyle/>
                    <a:p>
                      <a:pPr algn="ctr"/>
                      <a:r>
                        <a:rPr lang="en-US" dirty="0"/>
                        <a:t>Task</a:t>
                      </a:r>
                    </a:p>
                  </a:txBody>
                  <a:tcPr/>
                </a:tc>
                <a:tc>
                  <a:txBody>
                    <a:bodyPr/>
                    <a:lstStyle/>
                    <a:p>
                      <a:pPr algn="ctr"/>
                      <a:r>
                        <a:rPr lang="en-US" dirty="0"/>
                        <a:t>Operation Type</a:t>
                      </a:r>
                    </a:p>
                  </a:txBody>
                  <a:tcPr/>
                </a:tc>
                <a:tc>
                  <a:txBody>
                    <a:bodyPr/>
                    <a:lstStyle/>
                    <a:p>
                      <a:r>
                        <a:rPr lang="en-US" dirty="0"/>
                        <a:t>Execution Time</a:t>
                      </a:r>
                    </a:p>
                    <a:p>
                      <a:r>
                        <a:rPr lang="en-US" dirty="0"/>
                        <a:t>(10 times avg. in seconds)</a:t>
                      </a:r>
                    </a:p>
                  </a:txBody>
                  <a:tcPr/>
                </a:tc>
                <a:extLst>
                  <a:ext uri="{0D108BD9-81ED-4DB2-BD59-A6C34878D82A}">
                    <a16:rowId xmlns:a16="http://schemas.microsoft.com/office/drawing/2014/main" val="3220129753"/>
                  </a:ext>
                </a:extLst>
              </a:tr>
              <a:tr h="370840">
                <a:tc>
                  <a:txBody>
                    <a:bodyPr/>
                    <a:lstStyle/>
                    <a:p>
                      <a:r>
                        <a:rPr lang="en-US" dirty="0"/>
                        <a:t>Task 7: </a:t>
                      </a:r>
                      <a:r>
                        <a:rPr lang="en-US" sz="1350" b="1" i="0" kern="1200" dirty="0">
                          <a:solidFill>
                            <a:schemeClr val="dk1"/>
                          </a:solidFill>
                          <a:effectLst/>
                          <a:latin typeface="+mn-lt"/>
                          <a:ea typeface="+mn-ea"/>
                          <a:cs typeface="+mn-cs"/>
                        </a:rPr>
                        <a:t>Products costing more than $200</a:t>
                      </a:r>
                    </a:p>
                  </a:txBody>
                  <a:tcPr/>
                </a:tc>
                <a:tc>
                  <a:txBody>
                    <a:bodyPr/>
                    <a:lstStyle/>
                    <a:p>
                      <a:r>
                        <a:rPr lang="en-US" dirty="0"/>
                        <a:t>Simple Find</a:t>
                      </a:r>
                    </a:p>
                  </a:txBody>
                  <a:tcPr/>
                </a:tc>
                <a:tc>
                  <a:txBody>
                    <a:bodyPr/>
                    <a:lstStyle/>
                    <a:p>
                      <a:r>
                        <a:rPr lang="en-US" dirty="0"/>
                        <a:t>0.071</a:t>
                      </a:r>
                    </a:p>
                  </a:txBody>
                  <a:tcPr/>
                </a:tc>
                <a:extLst>
                  <a:ext uri="{0D108BD9-81ED-4DB2-BD59-A6C34878D82A}">
                    <a16:rowId xmlns:a16="http://schemas.microsoft.com/office/drawing/2014/main" val="2690558400"/>
                  </a:ext>
                </a:extLst>
              </a:tr>
              <a:tr h="370840">
                <a:tc>
                  <a:txBody>
                    <a:bodyPr/>
                    <a:lstStyle/>
                    <a:p>
                      <a:r>
                        <a:rPr lang="en-US" dirty="0"/>
                        <a:t>Task 8: </a:t>
                      </a:r>
                      <a:r>
                        <a:rPr lang="en-US" sz="1350" b="1" i="0" kern="1200" dirty="0">
                          <a:solidFill>
                            <a:schemeClr val="dk1"/>
                          </a:solidFill>
                          <a:effectLst/>
                          <a:latin typeface="+mn-lt"/>
                          <a:ea typeface="+mn-ea"/>
                          <a:cs typeface="+mn-cs"/>
                        </a:rPr>
                        <a:t>Orders including a specific product</a:t>
                      </a:r>
                    </a:p>
                  </a:txBody>
                  <a:tcPr/>
                </a:tc>
                <a:tc>
                  <a:txBody>
                    <a:bodyPr/>
                    <a:lstStyle/>
                    <a:p>
                      <a:r>
                        <a:rPr lang="en-US" dirty="0"/>
                        <a:t>Aggregation + Array Filter</a:t>
                      </a:r>
                    </a:p>
                  </a:txBody>
                  <a:tcPr/>
                </a:tc>
                <a:tc>
                  <a:txBody>
                    <a:bodyPr/>
                    <a:lstStyle/>
                    <a:p>
                      <a:r>
                        <a:rPr lang="en-US" dirty="0"/>
                        <a:t>0.122</a:t>
                      </a:r>
                    </a:p>
                  </a:txBody>
                  <a:tcPr/>
                </a:tc>
                <a:extLst>
                  <a:ext uri="{0D108BD9-81ED-4DB2-BD59-A6C34878D82A}">
                    <a16:rowId xmlns:a16="http://schemas.microsoft.com/office/drawing/2014/main" val="1282120921"/>
                  </a:ext>
                </a:extLst>
              </a:tr>
              <a:tr h="370840">
                <a:tc>
                  <a:txBody>
                    <a:bodyPr/>
                    <a:lstStyle/>
                    <a:p>
                      <a:r>
                        <a:rPr lang="en-US" dirty="0"/>
                        <a:t>Task 9:</a:t>
                      </a:r>
                      <a:r>
                        <a:rPr lang="zh-CN" altLang="en-US" dirty="0"/>
                        <a:t> </a:t>
                      </a:r>
                      <a:r>
                        <a:rPr lang="en-US" sz="1350" b="1" i="0" kern="1200" dirty="0">
                          <a:solidFill>
                            <a:schemeClr val="dk1"/>
                          </a:solidFill>
                          <a:effectLst/>
                          <a:latin typeface="+mn-lt"/>
                          <a:ea typeface="+mn-ea"/>
                          <a:cs typeface="+mn-cs"/>
                        </a:rPr>
                        <a:t>Delete customers who never placed an order</a:t>
                      </a:r>
                    </a:p>
                  </a:txBody>
                  <a:tcPr/>
                </a:tc>
                <a:tc>
                  <a:txBody>
                    <a:bodyPr/>
                    <a:lstStyle/>
                    <a:p>
                      <a:r>
                        <a:rPr lang="en-US" dirty="0"/>
                        <a:t>Distinct + Delete</a:t>
                      </a:r>
                    </a:p>
                  </a:txBody>
                  <a:tcPr/>
                </a:tc>
                <a:tc>
                  <a:txBody>
                    <a:bodyPr/>
                    <a:lstStyle/>
                    <a:p>
                      <a:r>
                        <a:rPr lang="en-US" dirty="0"/>
                        <a:t>0.487</a:t>
                      </a:r>
                    </a:p>
                  </a:txBody>
                  <a:tcPr/>
                </a:tc>
                <a:extLst>
                  <a:ext uri="{0D108BD9-81ED-4DB2-BD59-A6C34878D82A}">
                    <a16:rowId xmlns:a16="http://schemas.microsoft.com/office/drawing/2014/main" val="298111754"/>
                  </a:ext>
                </a:extLst>
              </a:tr>
              <a:tr h="370840">
                <a:tc>
                  <a:txBody>
                    <a:bodyPr/>
                    <a:lstStyle/>
                    <a:p>
                      <a:r>
                        <a:rPr lang="en-US" dirty="0"/>
                        <a:t>Task 10: </a:t>
                      </a:r>
                      <a:r>
                        <a:rPr lang="en-US" sz="1350" b="1" i="0" kern="1200" dirty="0">
                          <a:solidFill>
                            <a:schemeClr val="dk1"/>
                          </a:solidFill>
                          <a:effectLst/>
                          <a:latin typeface="+mn-lt"/>
                          <a:ea typeface="+mn-ea"/>
                          <a:cs typeface="+mn-cs"/>
                        </a:rPr>
                        <a:t>Categories preferred by customers under 25</a:t>
                      </a:r>
                    </a:p>
                  </a:txBody>
                  <a:tcPr/>
                </a:tc>
                <a:tc>
                  <a:txBody>
                    <a:bodyPr/>
                    <a:lstStyle/>
                    <a:p>
                      <a:r>
                        <a:rPr lang="en-US" dirty="0"/>
                        <a:t>Unwind + group</a:t>
                      </a:r>
                    </a:p>
                  </a:txBody>
                  <a:tcPr/>
                </a:tc>
                <a:tc>
                  <a:txBody>
                    <a:bodyPr/>
                    <a:lstStyle/>
                    <a:p>
                      <a:r>
                        <a:rPr lang="en-US" dirty="0"/>
                        <a:t>0.040</a:t>
                      </a:r>
                    </a:p>
                  </a:txBody>
                  <a:tcPr/>
                </a:tc>
                <a:extLst>
                  <a:ext uri="{0D108BD9-81ED-4DB2-BD59-A6C34878D82A}">
                    <a16:rowId xmlns:a16="http://schemas.microsoft.com/office/drawing/2014/main" val="115608100"/>
                  </a:ext>
                </a:extLst>
              </a:tr>
              <a:tr h="370840">
                <a:tc>
                  <a:txBody>
                    <a:bodyPr/>
                    <a:lstStyle/>
                    <a:p>
                      <a:r>
                        <a:rPr lang="en-US" dirty="0"/>
                        <a:t>Task 11: </a:t>
                      </a:r>
                      <a:r>
                        <a:rPr lang="en-US" sz="1350" b="1" i="0" kern="1200" dirty="0">
                          <a:solidFill>
                            <a:schemeClr val="dk1"/>
                          </a:solidFill>
                          <a:effectLst/>
                          <a:latin typeface="+mn-lt"/>
                          <a:ea typeface="+mn-ea"/>
                          <a:cs typeface="+mn-cs"/>
                        </a:rPr>
                        <a:t>Customers with emails from Yahoo or Gmail</a:t>
                      </a:r>
                    </a:p>
                  </a:txBody>
                  <a:tcPr/>
                </a:tc>
                <a:tc>
                  <a:txBody>
                    <a:bodyPr/>
                    <a:lstStyle/>
                    <a:p>
                      <a:r>
                        <a:rPr lang="en-US" dirty="0"/>
                        <a:t>Regex Find</a:t>
                      </a:r>
                    </a:p>
                  </a:txBody>
                  <a:tcPr/>
                </a:tc>
                <a:tc>
                  <a:txBody>
                    <a:bodyPr/>
                    <a:lstStyle/>
                    <a:p>
                      <a:r>
                        <a:rPr lang="en-US" dirty="0"/>
                        <a:t>0.148</a:t>
                      </a:r>
                    </a:p>
                  </a:txBody>
                  <a:tcPr/>
                </a:tc>
                <a:extLst>
                  <a:ext uri="{0D108BD9-81ED-4DB2-BD59-A6C34878D82A}">
                    <a16:rowId xmlns:a16="http://schemas.microsoft.com/office/drawing/2014/main" val="786130147"/>
                  </a:ext>
                </a:extLst>
              </a:tr>
            </a:tbl>
          </a:graphicData>
        </a:graphic>
      </p:graphicFrame>
    </p:spTree>
    <p:extLst>
      <p:ext uri="{BB962C8B-B14F-4D97-AF65-F5344CB8AC3E}">
        <p14:creationId xmlns:p14="http://schemas.microsoft.com/office/powerpoint/2010/main" val="3925908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5409" y="758283"/>
            <a:ext cx="3277394" cy="3277395"/>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36C7B3-48EA-0C37-B836-FB05B31ED1F2}"/>
              </a:ext>
            </a:extLst>
          </p:cNvPr>
          <p:cNvSpPr>
            <a:spLocks noGrp="1"/>
          </p:cNvSpPr>
          <p:nvPr>
            <p:ph type="title"/>
          </p:nvPr>
        </p:nvSpPr>
        <p:spPr>
          <a:xfrm>
            <a:off x="717619" y="834726"/>
            <a:ext cx="2952974" cy="3124508"/>
          </a:xfrm>
        </p:spPr>
        <p:txBody>
          <a:bodyPr>
            <a:normAutofit/>
          </a:bodyPr>
          <a:lstStyle/>
          <a:p>
            <a:r>
              <a:rPr lang="en-US" b="1" dirty="0">
                <a:solidFill>
                  <a:srgbClr val="FFFFFF"/>
                </a:solidFill>
              </a:rPr>
              <a:t>Execution Time Ranking</a:t>
            </a:r>
            <a:br>
              <a:rPr lang="en-US" b="1" dirty="0">
                <a:solidFill>
                  <a:srgbClr val="FFFFFF"/>
                </a:solidFill>
              </a:rPr>
            </a:br>
            <a:r>
              <a:rPr lang="en-US" b="1" dirty="0">
                <a:solidFill>
                  <a:srgbClr val="FFFFFF"/>
                </a:solidFill>
              </a:rPr>
              <a:t>(Slowest to Fastest)</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7896" y="0"/>
            <a:ext cx="866357" cy="443256"/>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971133" y="0"/>
            <a:ext cx="1303051" cy="719651"/>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202623"/>
            <a:ext cx="119805" cy="414747"/>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DB8CD174-D8C1-5B45-CFCA-31C9E1E3D21E}"/>
              </a:ext>
            </a:extLst>
          </p:cNvPr>
          <p:cNvSpPr>
            <a:spLocks noGrp="1"/>
          </p:cNvSpPr>
          <p:nvPr>
            <p:ph idx="1"/>
          </p:nvPr>
        </p:nvSpPr>
        <p:spPr>
          <a:xfrm>
            <a:off x="4572000" y="615660"/>
            <a:ext cx="3943349" cy="3667012"/>
          </a:xfrm>
        </p:spPr>
        <p:txBody>
          <a:bodyPr anchor="t">
            <a:normAutofit/>
          </a:bodyPr>
          <a:lstStyle/>
          <a:p>
            <a:r>
              <a:rPr lang="en-US" dirty="0"/>
              <a:t>Task 6 (Aggregation + Update)</a:t>
            </a:r>
          </a:p>
          <a:p>
            <a:r>
              <a:rPr lang="en-US" dirty="0"/>
              <a:t>Task 1 (Bulk update)</a:t>
            </a:r>
          </a:p>
          <a:p>
            <a:r>
              <a:rPr lang="en-US" dirty="0"/>
              <a:t>Task 9 (Delete + Distinct)</a:t>
            </a:r>
          </a:p>
          <a:p>
            <a:r>
              <a:rPr lang="en-US" dirty="0"/>
              <a:t>Task 11 (Regex)</a:t>
            </a:r>
          </a:p>
          <a:p>
            <a:r>
              <a:rPr lang="en-US" dirty="0"/>
              <a:t>Task 8 (Array filter)</a:t>
            </a:r>
          </a:p>
          <a:p>
            <a:r>
              <a:rPr lang="en-US" dirty="0"/>
              <a:t>Task 3 / 4 / 5 / 7 (medium)</a:t>
            </a:r>
          </a:p>
          <a:p>
            <a:r>
              <a:rPr lang="en-US" dirty="0"/>
              <a:t>Task 2 (fastest)</a:t>
            </a:r>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376736"/>
            <a:ext cx="1161135" cy="766764"/>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563731" y="4288428"/>
            <a:ext cx="1328706" cy="855072"/>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99729" y="4694066"/>
            <a:ext cx="1174455" cy="449434"/>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0640922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F3D93-0711-D1DC-2AC3-4AFAC6B23B1F}"/>
              </a:ext>
            </a:extLst>
          </p:cNvPr>
          <p:cNvSpPr>
            <a:spLocks noGrp="1"/>
          </p:cNvSpPr>
          <p:nvPr>
            <p:ph type="title"/>
          </p:nvPr>
        </p:nvSpPr>
        <p:spPr/>
        <p:txBody>
          <a:bodyPr/>
          <a:lstStyle/>
          <a:p>
            <a:pPr algn="l"/>
            <a:r>
              <a:rPr lang="en-US" b="1" dirty="0"/>
              <a:t>MongoDB Performance Summary</a:t>
            </a:r>
          </a:p>
        </p:txBody>
      </p:sp>
      <p:graphicFrame>
        <p:nvGraphicFramePr>
          <p:cNvPr id="12" name="Content Placeholder 2">
            <a:extLst>
              <a:ext uri="{FF2B5EF4-FFF2-40B4-BE49-F238E27FC236}">
                <a16:creationId xmlns:a16="http://schemas.microsoft.com/office/drawing/2014/main" id="{41B2F627-E39B-E110-12A1-6A77D01E15D1}"/>
              </a:ext>
            </a:extLst>
          </p:cNvPr>
          <p:cNvGraphicFramePr>
            <a:graphicFrameLocks noGrp="1"/>
          </p:cNvGraphicFramePr>
          <p:nvPr>
            <p:ph idx="1"/>
          </p:nvPr>
        </p:nvGraphicFramePr>
        <p:xfrm>
          <a:off x="628650" y="1369219"/>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413374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77107" y="165147"/>
            <a:ext cx="7066893" cy="4978354"/>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57350" y="1574772"/>
            <a:ext cx="1456680" cy="141716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3" name="Arc 22">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209872" y="1119429"/>
            <a:ext cx="2240924" cy="2240924"/>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7C3787B-33E2-4D7D-09F5-841DE3C8C83E}"/>
              </a:ext>
            </a:extLst>
          </p:cNvPr>
          <p:cNvSpPr>
            <a:spLocks noGrp="1"/>
          </p:cNvSpPr>
          <p:nvPr>
            <p:ph type="title"/>
          </p:nvPr>
        </p:nvSpPr>
        <p:spPr>
          <a:xfrm>
            <a:off x="3028950" y="1454369"/>
            <a:ext cx="5733470" cy="2063314"/>
          </a:xfrm>
        </p:spPr>
        <p:txBody>
          <a:bodyPr vert="horz" lIns="91440" tIns="45720" rIns="91440" bIns="45720" rtlCol="0" anchor="b">
            <a:normAutofit/>
          </a:bodyPr>
          <a:lstStyle/>
          <a:p>
            <a:pPr algn="r" defTabSz="914400"/>
            <a:r>
              <a:rPr lang="en-US" sz="6000" kern="1200" dirty="0">
                <a:solidFill>
                  <a:schemeClr val="tx1"/>
                </a:solidFill>
                <a:latin typeface="+mj-lt"/>
                <a:ea typeface="+mj-ea"/>
                <a:cs typeface="+mj-cs"/>
              </a:rPr>
              <a:t>Thank You!</a:t>
            </a:r>
            <a:br>
              <a:rPr lang="en-US" sz="6000" kern="1200" dirty="0">
                <a:solidFill>
                  <a:schemeClr val="tx1"/>
                </a:solidFill>
                <a:latin typeface="+mj-lt"/>
                <a:ea typeface="+mj-ea"/>
                <a:cs typeface="+mj-cs"/>
              </a:rPr>
            </a:br>
            <a:r>
              <a:rPr lang="en-US" sz="2000" kern="1200" dirty="0">
                <a:solidFill>
                  <a:schemeClr val="tx1"/>
                </a:solidFill>
                <a:latin typeface="+mj-lt"/>
                <a:ea typeface="+mj-ea"/>
                <a:cs typeface="+mj-cs"/>
              </a:rPr>
              <a:t>Questions?</a:t>
            </a:r>
            <a:endParaRPr lang="en-US" sz="6000" kern="1200" dirty="0">
              <a:solidFill>
                <a:schemeClr val="tx1"/>
              </a:solidFill>
              <a:latin typeface="+mj-lt"/>
              <a:ea typeface="+mj-ea"/>
              <a:cs typeface="+mj-cs"/>
            </a:endParaRPr>
          </a:p>
        </p:txBody>
      </p:sp>
    </p:spTree>
    <p:extLst>
      <p:ext uri="{BB962C8B-B14F-4D97-AF65-F5344CB8AC3E}">
        <p14:creationId xmlns:p14="http://schemas.microsoft.com/office/powerpoint/2010/main" val="28811250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391</TotalTime>
  <Words>3260</Words>
  <Application>Microsoft Office PowerPoint</Application>
  <PresentationFormat>On-screen Show (16:9)</PresentationFormat>
  <Paragraphs>208</Paragraphs>
  <Slides>22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Aptos Display</vt:lpstr>
      <vt:lpstr>Arial</vt:lpstr>
      <vt:lpstr>Calibri</vt:lpstr>
      <vt:lpstr>Courier</vt:lpstr>
      <vt:lpstr>Office Theme</vt:lpstr>
      <vt:lpstr>ShopDB</vt:lpstr>
      <vt:lpstr>Table of contents</vt:lpstr>
      <vt:lpstr>Project Overview</vt:lpstr>
      <vt:lpstr>Database Structure</vt:lpstr>
      <vt:lpstr>Prep Tasks</vt:lpstr>
      <vt:lpstr>Task 1: Increase All Customers’ Age by 1</vt:lpstr>
      <vt:lpstr>Task 2: Reduce a Product’s Stock After Purchase</vt:lpstr>
      <vt:lpstr>Task 3: Premium Customer Emails</vt:lpstr>
      <vt:lpstr>Task 4: Refunded Orders in Last 30 Days</vt:lpstr>
      <vt:lpstr>Task 5: Count Orders by Payment Status</vt:lpstr>
      <vt:lpstr>Task 6: Promote high-activity customers to premium</vt:lpstr>
      <vt:lpstr>Task 6: Promote high-activity customers to premium</vt:lpstr>
      <vt:lpstr>Task 7: Products costing more than $200</vt:lpstr>
      <vt:lpstr>Task 8: Orders including a specific product</vt:lpstr>
      <vt:lpstr>Task 9: Delete customers never placed an order</vt:lpstr>
      <vt:lpstr>Task 10: Categories preferred by customers under 25</vt:lpstr>
      <vt:lpstr>Task 11: Customers with emails from Yahoo/Gmail</vt:lpstr>
      <vt:lpstr>Measure the Execution Time</vt:lpstr>
      <vt:lpstr>Measure the Execution Time</vt:lpstr>
      <vt:lpstr>Execution Time Ranking (Slowest to Fastest)</vt:lpstr>
      <vt:lpstr>MongoDB Performance Summary</vt:lpstr>
      <vt:lpstr>Thank You! Questions?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ShopDB</dc:title>
  <dc:creator>Data Warehouse Team</dc:creator>
  <cp:keywords/>
  <cp:lastModifiedBy>Rojas, Jael</cp:lastModifiedBy>
  <cp:revision>3</cp:revision>
  <dcterms:created xsi:type="dcterms:W3CDTF">2026-04-28T20:32:26Z</dcterms:created>
  <dcterms:modified xsi:type="dcterms:W3CDTF">2026-04-29T03:46:03Z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2026-04-24</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slide-number-format">
    <vt:lpwstr>| %d |</vt:lpwstr>
  </property>
  <property fmtid="{D5CDD505-2E9C-101B-9397-08002B2CF9AE}" pid="11" name="subtitle">
    <vt:lpwstr>MongoDB ShopDB</vt:lpwstr>
  </property>
  <property fmtid="{D5CDD505-2E9C-101B-9397-08002B2CF9AE}" pid="12" name="toc-title">
    <vt:lpwstr>Table of contents</vt:lpwstr>
  </property>
</Properties>
</file>