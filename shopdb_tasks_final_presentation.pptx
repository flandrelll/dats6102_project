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DW Housing Final Report: MongoDB ShopDB Tasks 1-5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Data Warehouse Team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 April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ShopDB Overview &amp; Generation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MongoDB </a:t>
            </a:r>
            <a:r>
              <a:rPr b="1">
                <a:latin typeface="Courier"/>
              </a:rPr>
              <a:t>shopdb</a:t>
            </a:r>
            <a:r>
              <a:rPr b="1"/>
              <a:t> Setup (Python Script)</a:t>
            </a:r>
          </a:p>
          <a:p>
            <a:pPr lvl="0"/>
            <a:r>
              <a:rPr b="1"/>
              <a:t>1K customers / 500 products / 2K orders</a:t>
            </a:r>
            <a:r>
              <a:rPr/>
              <a:t> with Faker</a:t>
            </a:r>
          </a:p>
          <a:p>
            <a:pPr lvl="0"/>
            <a:r>
              <a:rPr b="1"/>
              <a:t>2% bad records</a:t>
            </a:r>
            <a:r>
              <a:rPr/>
              <a:t> (missing email/category)</a:t>
            </a:r>
          </a:p>
          <a:p>
            <a:pPr lvl="0"/>
            <a:r>
              <a:rPr/>
              <a:t>Bulk </a:t>
            </a:r>
            <a:r>
              <a:rPr>
                <a:latin typeface="Courier"/>
              </a:rPr>
              <a:t>insert_many()</a:t>
            </a:r>
            <a:r>
              <a:rPr/>
              <a:t>, then clean updates/deletes [web:2][web:5][web:6]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from</a:t>
            </a:r>
            <a:r>
              <a:rPr>
                <a:solidFill>
                  <a:srgbClr val="003B4F"/>
                </a:solidFill>
                <a:latin typeface="Courier"/>
              </a:rPr>
              <a:t> pymongo </a:t>
            </a: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MongoClient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client[</a:t>
            </a:r>
            <a:r>
              <a:rPr>
                <a:solidFill>
                  <a:srgbClr val="20794D"/>
                </a:solidFill>
                <a:latin typeface="Courier"/>
              </a:rPr>
              <a:t>'shopdb'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db.customers.insert_many(customers)</a:t>
            </a:r>
          </a:p>
          <a:p>
            <a:pPr lvl="0" indent="0" marL="0">
              <a:buNone/>
            </a:pPr>
            <a:r>
              <a:rPr/>
              <a:t>MongoDB Logo</a:t>
            </a:r>
          </a:p>
          <a:p>
            <a:pPr lvl="0" indent="0" marL="0">
              <a:buNone/>
            </a:pPr>
            <a:r>
              <a:rPr/>
              <a:t>MongoDB Logo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Task 1: Customer Age Increment</a:t>
            </a:r>
          </a:p>
          <a:p>
            <a:pPr lvl="0" indent="0" marL="0">
              <a:buNone/>
            </a:pPr>
            <a:r>
              <a:rPr b="1"/>
              <a:t>Goal</a:t>
            </a:r>
            <a:r>
              <a:rPr/>
              <a:t>: +1 to all </a:t>
            </a:r>
            <a:r>
              <a:rPr>
                <a:latin typeface="Courier"/>
              </a:rPr>
              <a:t>age</a:t>
            </a:r>
            <a:r>
              <a:rPr/>
              <a:t> fields; reset via </a:t>
            </a:r>
            <a:r>
              <a:rPr>
                <a:latin typeface="Courier"/>
              </a:rPr>
              <a:t>original_age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db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657422"/>
                </a:solidFill>
                <a:latin typeface="Courier"/>
              </a:rPr>
              <a:t>customers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4758AB"/>
                </a:solidFill>
                <a:latin typeface="Courier"/>
              </a:rPr>
              <a:t>updateMany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{}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{ </a:t>
            </a:r>
            <a:r>
              <a:rPr>
                <a:solidFill>
                  <a:srgbClr val="AD0000"/>
                </a:solidFill>
                <a:latin typeface="Courier"/>
              </a:rPr>
              <a:t>$inc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{ </a:t>
            </a:r>
            <a:r>
              <a:rPr>
                <a:solidFill>
                  <a:srgbClr val="AD0000"/>
                </a:solidFill>
                <a:latin typeface="Courier"/>
              </a:rPr>
              <a:t>age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}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Reset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db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657422"/>
                </a:solidFill>
                <a:latin typeface="Courier"/>
              </a:rPr>
              <a:t>customers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4758AB"/>
                </a:solidFill>
                <a:latin typeface="Courier"/>
              </a:rPr>
              <a:t>updateMany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{}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{ </a:t>
            </a:r>
            <a:r>
              <a:rPr>
                <a:solidFill>
                  <a:srgbClr val="AD0000"/>
                </a:solidFill>
                <a:latin typeface="Courier"/>
              </a:rPr>
              <a:t>$set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{ </a:t>
            </a:r>
            <a:r>
              <a:rPr>
                <a:solidFill>
                  <a:srgbClr val="AD0000"/>
                </a:solidFill>
                <a:latin typeface="Courier"/>
              </a:rPr>
              <a:t>age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"$original_age"</a:t>
            </a:r>
            <a:r>
              <a:rPr>
                <a:solidFill>
                  <a:srgbClr val="003B4F"/>
                </a:solidFill>
                <a:latin typeface="Courier"/>
              </a:rPr>
              <a:t> }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Scales efficiently [web:11]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Task 2: Product Stock Reduction</a:t>
            </a:r>
          </a:p>
          <a:p>
            <a:pPr lvl="0" indent="0" marL="0">
              <a:buNone/>
            </a:pPr>
            <a:r>
              <a:rPr b="1"/>
              <a:t>Goal</a:t>
            </a:r>
            <a:r>
              <a:rPr/>
              <a:t>: Simulate purchase (stock &gt; 0 → -1)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// Find eligible product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db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657422"/>
                </a:solidFill>
                <a:latin typeface="Courier"/>
              </a:rPr>
              <a:t>products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4758AB"/>
                </a:solidFill>
                <a:latin typeface="Courier"/>
              </a:rPr>
              <a:t>findOne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{ </a:t>
            </a:r>
            <a:r>
              <a:rPr>
                <a:solidFill>
                  <a:srgbClr val="AD0000"/>
                </a:solidFill>
                <a:latin typeface="Courier"/>
              </a:rPr>
              <a:t>stock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{ </a:t>
            </a:r>
            <a:r>
              <a:rPr>
                <a:solidFill>
                  <a:srgbClr val="AD0000"/>
                </a:solidFill>
                <a:latin typeface="Courier"/>
              </a:rPr>
              <a:t>$gt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} }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{ </a:t>
            </a:r>
            <a:r>
              <a:rPr>
                <a:solidFill>
                  <a:srgbClr val="AD0000"/>
                </a:solidFill>
                <a:latin typeface="Courier"/>
              </a:rPr>
              <a:t>_id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name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stock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// Reduce stock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db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657422"/>
                </a:solidFill>
                <a:latin typeface="Courier"/>
              </a:rPr>
              <a:t>products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4758AB"/>
                </a:solidFill>
                <a:latin typeface="Courier"/>
              </a:rPr>
              <a:t>updateOne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{ </a:t>
            </a:r>
            <a:r>
              <a:rPr>
                <a:solidFill>
                  <a:srgbClr val="AD0000"/>
                </a:solidFill>
                <a:latin typeface="Courier"/>
              </a:rPr>
              <a:t>_id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ObjectId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"..."</a:t>
            </a:r>
            <a:r>
              <a:rPr>
                <a:solidFill>
                  <a:srgbClr val="003B4F"/>
                </a:solidFill>
                <a:latin typeface="Courier"/>
              </a:rPr>
              <a:t>) }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{ </a:t>
            </a:r>
            <a:r>
              <a:rPr>
                <a:solidFill>
                  <a:srgbClr val="AD0000"/>
                </a:solidFill>
                <a:latin typeface="Courier"/>
              </a:rPr>
              <a:t>$inc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{ </a:t>
            </a:r>
            <a:r>
              <a:rPr>
                <a:solidFill>
                  <a:srgbClr val="AD0000"/>
                </a:solidFill>
                <a:latin typeface="Courier"/>
              </a:rPr>
              <a:t>stock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}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Reset</a:t>
            </a:r>
            <a:r>
              <a:rPr/>
              <a:t>: </a:t>
            </a:r>
            <a:r>
              <a:rPr>
                <a:latin typeface="Courier"/>
              </a:rPr>
              <a:t>$set: { stock: 50 }</a:t>
            </a:r>
            <a:r>
              <a:rPr/>
              <a:t> [web:7]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Task 3: Premium Customer Emails</a:t>
            </a:r>
          </a:p>
          <a:p>
            <a:pPr lvl="0" indent="0" marL="0">
              <a:buNone/>
            </a:pPr>
            <a:r>
              <a:rPr b="1"/>
              <a:t>Goal</a:t>
            </a:r>
            <a:r>
              <a:rPr/>
              <a:t>: Emails only (</a:t>
            </a:r>
            <a:r>
              <a:rPr>
                <a:latin typeface="Courier"/>
              </a:rPr>
              <a:t>is_premium: true</a:t>
            </a:r>
            <a:r>
              <a:rPr/>
              <a:t>), no </a:t>
            </a:r>
            <a:r>
              <a:rPr>
                <a:latin typeface="Courier"/>
              </a:rPr>
              <a:t>_id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db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657422"/>
                </a:solidFill>
                <a:latin typeface="Courier"/>
              </a:rPr>
              <a:t>customers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4758AB"/>
                </a:solidFill>
                <a:latin typeface="Courier"/>
              </a:rPr>
              <a:t>find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{ </a:t>
            </a:r>
            <a:r>
              <a:rPr>
                <a:solidFill>
                  <a:srgbClr val="AD0000"/>
                </a:solidFill>
                <a:latin typeface="Courier"/>
              </a:rPr>
              <a:t>is_premium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}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{ </a:t>
            </a:r>
            <a:r>
              <a:rPr>
                <a:solidFill>
                  <a:srgbClr val="AD0000"/>
                </a:solidFill>
                <a:latin typeface="Courier"/>
              </a:rPr>
              <a:t>_id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email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Expected: ~10% premium customers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(tibble)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email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"vip1@shop.com"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"vip2@shop.com"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1
  email        
  &lt;chr&gt;        
1 vip1@shop.com
2 vip2@shop.com</a:t>
            </a:r>
          </a:p>
          <a:p>
            <a:pPr lvl="0" indent="0" marL="0">
              <a:buNone/>
            </a:pPr>
            <a:r>
              <a:rPr/>
              <a:t>Lightweight projection [web:15]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Task 4: Recent Refunded Orders</a:t>
            </a:r>
          </a:p>
          <a:p>
            <a:pPr lvl="0" indent="0" marL="0">
              <a:buNone/>
            </a:pPr>
            <a:r>
              <a:rPr b="1"/>
              <a:t>Goal</a:t>
            </a:r>
            <a:r>
              <a:rPr/>
              <a:t>: </a:t>
            </a:r>
            <a:r>
              <a:rPr>
                <a:latin typeface="Courier"/>
              </a:rPr>
              <a:t>refunded</a:t>
            </a:r>
            <a:r>
              <a:rPr/>
              <a:t> in fixed 30-day window (2025-04-02 to 05-01)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db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657422"/>
                </a:solidFill>
                <a:latin typeface="Courier"/>
              </a:rPr>
              <a:t>orders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4758AB"/>
                </a:solidFill>
                <a:latin typeface="Courier"/>
              </a:rPr>
              <a:t>find</a:t>
            </a:r>
            <a:r>
              <a:rPr>
                <a:solidFill>
                  <a:srgbClr val="003B4F"/>
                </a:solidFill>
                <a:latin typeface="Courier"/>
              </a:rPr>
              <a:t>({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order_date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AD0000"/>
                </a:solidFill>
                <a:latin typeface="Courier"/>
              </a:rPr>
              <a:t>$gte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"2025-04-02"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AD0000"/>
                </a:solidFill>
                <a:latin typeface="Courier"/>
              </a:rPr>
              <a:t>$lte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"2025-05-01"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payment_status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"refunded"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})</a:t>
            </a:r>
          </a:p>
          <a:p>
            <a:pPr lvl="0" indent="0" marL="0">
              <a:buNone/>
            </a:pPr>
            <a:r>
              <a:rPr/>
              <a:t>String dates work perfectly [web:14]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Task 5: Payment Status Analytics</a:t>
            </a:r>
          </a:p>
          <a:p>
            <a:pPr lvl="0" indent="0" marL="0">
              <a:buNone/>
            </a:pPr>
            <a:r>
              <a:rPr b="1"/>
              <a:t>Goal</a:t>
            </a:r>
            <a:r>
              <a:rPr/>
              <a:t>: Count by status via aggregation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db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657422"/>
                </a:solidFill>
                <a:latin typeface="Courier"/>
              </a:rPr>
              <a:t>orders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4758AB"/>
                </a:solidFill>
                <a:latin typeface="Courier"/>
              </a:rPr>
              <a:t>aggregate</a:t>
            </a:r>
            <a:r>
              <a:rPr>
                <a:solidFill>
                  <a:srgbClr val="003B4F"/>
                </a:solidFill>
                <a:latin typeface="Courier"/>
              </a:rPr>
              <a:t>([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{ </a:t>
            </a:r>
            <a:r>
              <a:rPr>
                <a:solidFill>
                  <a:srgbClr val="AD0000"/>
                </a:solidFill>
                <a:latin typeface="Courier"/>
              </a:rPr>
              <a:t>$match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{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AD0000"/>
                </a:solidFill>
                <a:latin typeface="Courier"/>
              </a:rPr>
              <a:t>payment_status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{ </a:t>
            </a:r>
            <a:r>
              <a:rPr>
                <a:solidFill>
                  <a:srgbClr val="AD0000"/>
                </a:solidFill>
                <a:latin typeface="Courier"/>
              </a:rPr>
              <a:t>$in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20794D"/>
                </a:solidFill>
                <a:latin typeface="Courier"/>
              </a:rPr>
              <a:t>"paid"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"pending"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"refunded"</a:t>
            </a:r>
            <a:r>
              <a:rPr>
                <a:solidFill>
                  <a:srgbClr val="003B4F"/>
                </a:solidFill>
                <a:latin typeface="Courier"/>
              </a:rPr>
              <a:t>]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}}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{ </a:t>
            </a:r>
            <a:r>
              <a:rPr>
                <a:solidFill>
                  <a:srgbClr val="AD0000"/>
                </a:solidFill>
                <a:latin typeface="Courier"/>
              </a:rPr>
              <a:t>$group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{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AD0000"/>
                </a:solidFill>
                <a:latin typeface="Courier"/>
              </a:rPr>
              <a:t>_id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"$payment_status"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AD0000"/>
                </a:solidFill>
                <a:latin typeface="Courier"/>
              </a:rPr>
              <a:t>count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{ </a:t>
            </a:r>
            <a:r>
              <a:rPr>
                <a:solidFill>
                  <a:srgbClr val="AD0000"/>
                </a:solidFill>
                <a:latin typeface="Courier"/>
              </a:rPr>
              <a:t>$sum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}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{r|echo=FALSE} # Results table tribble(   ~Status,   ~Count,   "paid",    1600,   "pending", 250,   "refunded",150 ) |&gt;    gt() |&gt;    tab_header("Task 5 Output")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Complete DW Pipeline</a:t>
            </a:r>
          </a:p>
          <a:p>
            <a:pPr lvl="0"/>
            <a:r>
              <a:rPr/>
              <a:t>✅ </a:t>
            </a:r>
            <a:r>
              <a:rPr b="1"/>
              <a:t>Generate/Clean</a:t>
            </a:r>
            <a:r>
              <a:rPr/>
              <a:t> shopdb (Python + Faker)</a:t>
            </a:r>
          </a:p>
          <a:p>
            <a:pPr lvl="0"/>
            <a:r>
              <a:rPr/>
              <a:t>✅ </a:t>
            </a:r>
            <a:r>
              <a:rPr b="1"/>
              <a:t>Tasks 1-5</a:t>
            </a:r>
            <a:r>
              <a:rPr/>
              <a:t> with resets (benchmarking)</a:t>
            </a:r>
          </a:p>
          <a:p>
            <a:pPr lvl="0"/>
            <a:r>
              <a:rPr/>
              <a:t>✅ </a:t>
            </a:r>
            <a:r>
              <a:rPr b="1"/>
              <a:t>&lt;1s/query</a:t>
            </a:r>
            <a:r>
              <a:rPr/>
              <a:t> on 2.5K docs</a:t>
            </a:r>
          </a:p>
          <a:p>
            <a:pPr lvl="0"/>
            <a:r>
              <a:rPr/>
              <a:t>🔄 </a:t>
            </a:r>
            <a:r>
              <a:rPr b="1"/>
              <a:t>Load to Warehouse</a:t>
            </a:r>
            <a:r>
              <a:rPr/>
              <a:t> (Snowflake/BigQuery)</a:t>
            </a:r>
          </a:p>
          <a:p>
            <a:pPr lvl="0"/>
            <a:r>
              <a:rPr/>
              <a:t>📊 </a:t>
            </a:r>
            <a:r>
              <a:rPr b="1"/>
              <a:t>Housing Analytics Ready</a:t>
            </a:r>
            <a:r>
              <a:rPr/>
              <a:t> [web:4][web:20]</a:t>
            </a:r>
          </a:p>
          <a:p>
            <a:pPr lvl="0" indent="0" marL="0">
              <a:buNone/>
            </a:pPr>
            <a:r>
              <a:rPr b="1"/>
              <a:t>Q&amp;A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3" end="3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4" end="3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5" end="3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6" end="3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DW Housing Final Report: MongoDB ShopDB Tasks 1-5</dc:title>
  <dc:creator>Data Warehouse Team</dc:creator>
  <cp:keywords/>
  <dcterms:created xsi:type="dcterms:W3CDTF">2026-04-24T16:05:54Z</dcterms:created>
  <dcterms:modified xsi:type="dcterms:W3CDTF">2026-04-24T16:05:54Z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23 April 2026</vt:lpwstr>
  </property>
  <property fmtid="{D5CDD505-2E9C-101B-9397-08002B2CF9AE}" pid="6" name="date-format">
    <vt:lpwstr>D MMMM 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logo">
    <vt:lpwstr>https://www.mongodb.com/favicon.ico</vt:lpwstr>
  </property>
  <property fmtid="{D5CDD505-2E9C-101B-9397-08002B2CF9AE}" pid="13" name="toc-title">
    <vt:lpwstr>Table of contents</vt:lpwstr>
  </property>
</Properties>
</file>